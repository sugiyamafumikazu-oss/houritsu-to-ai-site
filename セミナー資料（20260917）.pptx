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6" roundtripDataSignature="AMtx7mh0wjGmvaKrjuH5gs4cka06KalOh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slide" Target="slides/slide31.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14" Type="http://schemas.openxmlformats.org/officeDocument/2006/relationships/slide" Target="slides/slide10.xml"/><Relationship Id="rId36" Type="http://customschemas.google.com/relationships/presentationmetadata" Target="metadata"/><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 name="Shape 12"/>
        <p:cNvGrpSpPr/>
        <p:nvPr/>
      </p:nvGrpSpPr>
      <p:grpSpPr>
        <a:xfrm>
          <a:off x="0" y="0"/>
          <a:ext cx="0" cy="0"/>
          <a:chOff x="0" y="0"/>
          <a:chExt cx="0" cy="0"/>
        </a:xfrm>
      </p:grpSpPr>
      <p:sp>
        <p:nvSpPr>
          <p:cNvPr id="13" name="Google Shape;1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 name="Google Shape;14;p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【話す内容の要点・語りかけ】</a:t>
            </a:r>
            <a:br>
              <a:rPr lang="en-US"/>
            </a:br>
            <a:r>
              <a:rPr lang="en-US"/>
              <a:t>・皆さん、こんにちは！本日はお時間をいただきありがとうございます。</a:t>
            </a:r>
            <a:br>
              <a:rPr lang="en-US"/>
            </a:br>
            <a:r>
              <a:rPr lang="en-US"/>
              <a:t>・テーマは「法律とAI ― 契約を知って、AIのスキルで一般就労へ」です。</a:t>
            </a:r>
            <a:br>
              <a:rPr lang="en-US"/>
            </a:br>
            <a:r>
              <a:rPr lang="en-US"/>
              <a:t>・「法律」と聞くと難しそう、怒られそうと思うかもしれませんが、全く逆です。「自分を守るため」「自分の作品を守るため」の安心の知恵をお届けします。</a:t>
            </a:r>
            <a:br>
              <a:rPr lang="en-US"/>
            </a:br>
            <a:r>
              <a:rPr lang="en-US"/>
              <a:t>・皆さんが今磨いているAI画像・動画制作のスキルは、すでに一般就労の仕事に直結しています。</a:t>
            </a:r>
            <a:br>
              <a:rPr lang="en-US"/>
            </a:br>
            <a:r>
              <a:rPr lang="en-US"/>
              <a:t>・リラックスして、肩の力を抜いて聴いてくださいね！</a:t>
            </a:r>
            <a:endParaRPr/>
          </a:p>
        </p:txBody>
      </p:sp>
      <p:sp>
        <p:nvSpPr>
          <p:cNvPr id="15" name="Google Shape;15;p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 name="Shape 37"/>
        <p:cNvGrpSpPr/>
        <p:nvPr/>
      </p:nvGrpSpPr>
      <p:grpSpPr>
        <a:xfrm>
          <a:off x="0" y="0"/>
          <a:ext cx="0" cy="0"/>
          <a:chOff x="0" y="0"/>
          <a:chExt cx="0" cy="0"/>
        </a:xfrm>
      </p:grpSpPr>
      <p:sp>
        <p:nvSpPr>
          <p:cNvPr id="38" name="Google Shape;3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 name="Google Shape;39;p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【話す内容の要点・語りかけ】</a:t>
            </a:r>
            <a:br>
              <a:rPr lang="en-US"/>
            </a:br>
            <a:r>
              <a:rPr lang="en-US"/>
              <a:t>・社労士は「働くことのルール」の専門家です。就職したときの安心や権利を守ります。</a:t>
            </a:r>
            <a:br>
              <a:rPr lang="en-US"/>
            </a:br>
            <a:r>
              <a:rPr lang="en-US"/>
              <a:t>・行政書士は「仕事の約束を形にする契約書」の専門家です。</a:t>
            </a:r>
            <a:br>
              <a:rPr lang="en-US"/>
            </a:br>
            <a:r>
              <a:rPr lang="en-US"/>
              <a:t>・皆さんが今事業所で制作している作品、そして将来一般企業で働く道。その両方を法律の両輪から全力で後押しします！</a:t>
            </a:r>
            <a:endParaRPr/>
          </a:p>
        </p:txBody>
      </p:sp>
      <p:sp>
        <p:nvSpPr>
          <p:cNvPr id="40" name="Google Shape;40;p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 name="Google Shape;51;p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【話す内容の要点・語りかけ】</a:t>
            </a:r>
            <a:br>
              <a:rPr lang="en-US"/>
            </a:br>
            <a:r>
              <a:rPr lang="en-US"/>
              <a:t>・最初のクイズです！「今日家を出てから、契約をいくつ結びましたか？」</a:t>
            </a:r>
            <a:br>
              <a:rPr lang="en-US"/>
            </a:br>
            <a:r>
              <a:rPr lang="en-US"/>
              <a:t>・コンビニでお茶を買う、スマホで地図を見る、AIツールを開く…全部が立派な契約です！</a:t>
            </a:r>
            <a:br>
              <a:rPr lang="en-US"/>
            </a:br>
            <a:r>
              <a:rPr lang="en-US"/>
              <a:t>・知らなくても、皆さんは毎日契約を大成功させています。</a:t>
            </a:r>
            <a:br>
              <a:rPr lang="en-US"/>
            </a:br>
            <a:r>
              <a:rPr lang="en-US"/>
              <a:t>・今日は特別な勉強ではなく、「普段当たり前にできていること」に名前をつけて自信に変える時間です。</a:t>
            </a:r>
            <a:endParaRPr/>
          </a:p>
        </p:txBody>
      </p:sp>
      <p:sp>
        <p:nvSpPr>
          <p:cNvPr id="52" name="Google Shape;52;p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 name="Google Shape;67;p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【話す内容の要点・語りかけ】</a:t>
            </a:r>
            <a:br>
              <a:rPr lang="en-US"/>
            </a:br>
            <a:r>
              <a:rPr lang="en-US"/>
              <a:t>・契約とは、要するに「お互いの合意（約束）」です。</a:t>
            </a:r>
            <a:br>
              <a:rPr lang="en-US"/>
            </a:br>
            <a:r>
              <a:rPr lang="en-US"/>
              <a:t>・買主の「これください」と、売主の「はい、どうぞ」が通じ合った瞬間に成立します。</a:t>
            </a:r>
            <a:br>
              <a:rPr lang="en-US"/>
            </a:br>
            <a:r>
              <a:rPr lang="en-US"/>
              <a:t>・大事なのは、印鑑や契約書がなくても言葉だけで成立すること（諾成契約）。</a:t>
            </a:r>
            <a:br>
              <a:rPr lang="en-US"/>
            </a:br>
            <a:r>
              <a:rPr lang="en-US"/>
              <a:t>・コンビニのレシートは契約書ではなく、「確かにお金を払った」という証拠なんですね。</a:t>
            </a:r>
            <a:endParaRPr/>
          </a:p>
        </p:txBody>
      </p:sp>
      <p:sp>
        <p:nvSpPr>
          <p:cNvPr id="68" name="Google Shape;68;p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 name="Google Shape;85;p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【話す内容の要点・語りかけ】</a:t>
            </a:r>
            <a:br>
              <a:rPr lang="en-US"/>
            </a:br>
            <a:r>
              <a:rPr lang="en-US"/>
              <a:t>・売買契約には3つの性質があります。「双務・有償・諾成」。</a:t>
            </a:r>
            <a:br>
              <a:rPr lang="en-US"/>
            </a:br>
            <a:r>
              <a:rPr lang="en-US"/>
              <a:t>・双務はお互いに義務があること。有償は対価があること。諾成は合意だけで成立すること。</a:t>
            </a:r>
            <a:br>
              <a:rPr lang="en-US"/>
            </a:br>
            <a:r>
              <a:rPr lang="en-US"/>
              <a:t>・この3つのルールは、後で出てくる「働く契約」でも全く同じです！</a:t>
            </a:r>
            <a:endParaRPr/>
          </a:p>
        </p:txBody>
      </p:sp>
      <p:sp>
        <p:nvSpPr>
          <p:cNvPr id="86" name="Google Shape;86;p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 name="Google Shape;129;p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【話す内容の要点・語りかけ】</a:t>
            </a:r>
            <a:br>
              <a:rPr lang="en-US"/>
            </a:br>
            <a:r>
              <a:rPr lang="en-US"/>
              <a:t>・法律用語の「債務」と「債権」です。</a:t>
            </a:r>
            <a:br>
              <a:rPr lang="en-US"/>
            </a:br>
            <a:r>
              <a:rPr lang="en-US"/>
              <a:t>・債務＝しなければならないこと、債権＝求めてよいことです。</a:t>
            </a:r>
            <a:br>
              <a:rPr lang="en-US"/>
            </a:br>
            <a:r>
              <a:rPr lang="en-US"/>
              <a:t>・相手の義務は自分の権利。表裏一体のペアです。</a:t>
            </a:r>
            <a:br>
              <a:rPr lang="en-US"/>
            </a:br>
            <a:r>
              <a:rPr lang="en-US"/>
              <a:t>・そしてお互いが義務を果たし終えることを「完遂（かんすい）」と呼びます。</a:t>
            </a:r>
            <a:endParaRPr/>
          </a:p>
        </p:txBody>
      </p:sp>
      <p:sp>
        <p:nvSpPr>
          <p:cNvPr id="130" name="Google Shape;130;p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0" name="Google Shape;160;p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【話す内容の要点・語りかけ】</a:t>
            </a:r>
            <a:br>
              <a:rPr lang="en-US"/>
            </a:br>
            <a:r>
              <a:rPr lang="en-US"/>
              <a:t>・図1をご覧ください。左に売主（お店）、右に買主（お客さん）がいます。</a:t>
            </a:r>
            <a:br>
              <a:rPr lang="en-US"/>
            </a:br>
            <a:r>
              <a:rPr lang="en-US"/>
              <a:t>・上の矢印は商品の引渡し、下の矢印は代金の支払いです。</a:t>
            </a:r>
            <a:br>
              <a:rPr lang="en-US"/>
            </a:br>
            <a:r>
              <a:rPr lang="en-US"/>
              <a:t>・赤の義務と青の権利がイコールで結ばれていますね。</a:t>
            </a:r>
            <a:br>
              <a:rPr lang="en-US"/>
            </a:br>
            <a:r>
              <a:rPr lang="en-US"/>
              <a:t>・義務を果たし終えることが契約のゴール「完遂」です。</a:t>
            </a:r>
            <a:endParaRPr/>
          </a:p>
        </p:txBody>
      </p:sp>
      <p:sp>
        <p:nvSpPr>
          <p:cNvPr id="161" name="Google Shape;161;p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7" name="Google Shape;207;p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【話す内容の要点・語りかけ】</a:t>
            </a:r>
            <a:br>
              <a:rPr lang="en-US"/>
            </a:br>
            <a:r>
              <a:rPr lang="en-US"/>
              <a:t>・生成AIを使うときの「利用規約に同意する」も立派な契約（定型約款）です。</a:t>
            </a:r>
            <a:br>
              <a:rPr lang="en-US"/>
            </a:br>
            <a:r>
              <a:rPr lang="en-US"/>
              <a:t>・そして一番大事なこと：AIは人間ではないので、契約の当事者になれません。</a:t>
            </a:r>
            <a:br>
              <a:rPr lang="en-US"/>
            </a:br>
            <a:r>
              <a:rPr lang="en-US"/>
              <a:t>・約束をし、責任を負うのは必ず使う人間です。「AIのせい」にはできません。</a:t>
            </a:r>
            <a:endParaRPr/>
          </a:p>
        </p:txBody>
      </p:sp>
      <p:sp>
        <p:nvSpPr>
          <p:cNvPr id="208" name="Google Shape;208;p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5" name="Google Shape;235;p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【話す内容の要点・語りかけ】</a:t>
            </a:r>
            <a:br>
              <a:rPr lang="en-US"/>
            </a:br>
            <a:r>
              <a:rPr lang="en-US"/>
              <a:t>・第2部は労働契約です。クイズ：働くことで手に入る最大の権利は？</a:t>
            </a:r>
            <a:br>
              <a:rPr lang="en-US"/>
            </a:br>
            <a:r>
              <a:rPr lang="en-US"/>
              <a:t>・給料をもらう権利はもちろん、安全や健康に配慮してもらう権利も手に入ります。</a:t>
            </a:r>
            <a:br>
              <a:rPr lang="en-US"/>
            </a:br>
            <a:r>
              <a:rPr lang="en-US"/>
              <a:t>・働くことは義務で縛られるのではなく、法律で手厚く守られることなのです！</a:t>
            </a:r>
            <a:endParaRPr/>
          </a:p>
        </p:txBody>
      </p:sp>
      <p:sp>
        <p:nvSpPr>
          <p:cNvPr id="236" name="Google Shape;236;p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9" name="Google Shape;259;p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【話す内容の要点・語りかけ】</a:t>
            </a:r>
            <a:br>
              <a:rPr lang="en-US"/>
            </a:br>
            <a:r>
              <a:rPr lang="en-US"/>
              <a:t>・労働契約法第6条の基本です。「働くこと」と「給料」の交換です。</a:t>
            </a:r>
            <a:br>
              <a:rPr lang="en-US"/>
            </a:br>
            <a:r>
              <a:rPr lang="en-US"/>
              <a:t>・会社には指示する権限（指揮命令権）がありますが、同時に働く人の安全を守る義務（安全配慮義務）があります。</a:t>
            </a:r>
            <a:br>
              <a:rPr lang="en-US"/>
            </a:br>
            <a:r>
              <a:rPr lang="en-US"/>
              <a:t>・お互いに対等なパートナーシップです。</a:t>
            </a:r>
            <a:endParaRPr/>
          </a:p>
        </p:txBody>
      </p:sp>
      <p:sp>
        <p:nvSpPr>
          <p:cNvPr id="260" name="Google Shape;260;p1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5" name="Google Shape;295;p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【話す内容の要点・語りかけ】</a:t>
            </a:r>
            <a:br>
              <a:rPr lang="en-US"/>
            </a:br>
            <a:r>
              <a:rPr lang="en-US"/>
              <a:t>・図2をご覧ください。左が会社、右が労働者です。</a:t>
            </a:r>
            <a:br>
              <a:rPr lang="en-US"/>
            </a:br>
            <a:r>
              <a:rPr lang="en-US"/>
              <a:t>・上部に点線矢印で「指揮命令権」があります。</a:t>
            </a:r>
            <a:br>
              <a:rPr lang="en-US"/>
            </a:br>
            <a:r>
              <a:rPr lang="en-US"/>
              <a:t>・会社の下には「安全配慮義務」の別枠があります。</a:t>
            </a:r>
            <a:br>
              <a:rPr lang="en-US"/>
            </a:br>
            <a:r>
              <a:rPr lang="en-US"/>
              <a:t>・AIの指示も指揮命令権であり、秘密を守ることは秩序遵守義務の一部です。</a:t>
            </a:r>
            <a:endParaRPr/>
          </a:p>
        </p:txBody>
      </p:sp>
      <p:sp>
        <p:nvSpPr>
          <p:cNvPr id="296" name="Google Shape;296;p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4" name="Google Shape;304;p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【話す内容の要点・語りかけ】</a:t>
            </a:r>
            <a:br>
              <a:rPr lang="en-US"/>
            </a:br>
            <a:r>
              <a:rPr lang="en-US"/>
              <a:t>・会社でAIを使うときのルールです。会社の秘密をAIに入力してはいけません。</a:t>
            </a:r>
            <a:br>
              <a:rPr lang="en-US"/>
            </a:br>
            <a:r>
              <a:rPr lang="en-US"/>
              <a:t>・そしてとても大事なこと。画面疲れや心の負担を感じたら、遠慮なく申し出てください。</a:t>
            </a:r>
            <a:br>
              <a:rPr lang="en-US"/>
            </a:br>
            <a:r>
              <a:rPr lang="en-US"/>
              <a:t>・働く人の健康を守ることは、法律で定められた会社の義務（安全配慮義務）だからです。</a:t>
            </a:r>
            <a:endParaRPr/>
          </a:p>
        </p:txBody>
      </p:sp>
      <p:sp>
        <p:nvSpPr>
          <p:cNvPr id="305" name="Google Shape;305;p1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8" name="Google Shape;318;p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【話す内容の要点・語りかけ】</a:t>
            </a:r>
            <a:br>
              <a:rPr lang="en-US"/>
            </a:br>
            <a:r>
              <a:rPr lang="en-US"/>
              <a:t>・皆さんが今いらっしゃるB型事業所は「利用契約」です。</a:t>
            </a:r>
            <a:br>
              <a:rPr lang="en-US"/>
            </a:br>
            <a:r>
              <a:rPr lang="en-US"/>
              <a:t>・労働基準法の厳しい縛りがない代わりに、体調に合わせて無理なく通える配慮があります。</a:t>
            </a:r>
            <a:br>
              <a:rPr lang="en-US"/>
            </a:br>
            <a:r>
              <a:rPr lang="en-US"/>
              <a:t>・事業所がしっかり安全に配慮し支援してくれます。安心してスキルを磨いてください。</a:t>
            </a:r>
            <a:endParaRPr/>
          </a:p>
        </p:txBody>
      </p:sp>
      <p:sp>
        <p:nvSpPr>
          <p:cNvPr id="319" name="Google Shape;319;p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4" name="Google Shape;334;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【話す内容の要点・語りかけ】</a:t>
            </a:r>
            <a:br>
              <a:rPr lang="en-US"/>
            </a:br>
            <a:r>
              <a:rPr lang="en-US"/>
              <a:t>・図4をご覧ください。図2と全く同じ形をしています。</a:t>
            </a:r>
            <a:br>
              <a:rPr lang="en-US"/>
            </a:br>
            <a:r>
              <a:rPr lang="en-US"/>
              <a:t>・違うのは、点線矢印が命令ではなく「支援・助言（≠指揮命令）」であること。</a:t>
            </a:r>
            <a:br>
              <a:rPr lang="en-US"/>
            </a:br>
            <a:r>
              <a:rPr lang="en-US"/>
              <a:t>・タグは「要式（書面が必要）」です。温かい支援と保護が仕組み化されています。</a:t>
            </a:r>
            <a:endParaRPr/>
          </a:p>
        </p:txBody>
      </p:sp>
      <p:sp>
        <p:nvSpPr>
          <p:cNvPr id="335" name="Google Shape;335;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3" name="Google Shape;343;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【話す内容の要点・語りかけ】</a:t>
            </a:r>
            <a:br>
              <a:rPr lang="en-US"/>
            </a:br>
            <a:r>
              <a:rPr lang="en-US"/>
              <a:t>・図5の比較表です。労働契約と利用契約の違いを並べました。</a:t>
            </a:r>
            <a:br>
              <a:rPr lang="en-US"/>
            </a:br>
            <a:r>
              <a:rPr lang="en-US"/>
              <a:t>・共通しているのは「安全への配慮」です。</a:t>
            </a:r>
            <a:br>
              <a:rPr lang="en-US"/>
            </a:br>
            <a:r>
              <a:rPr lang="en-US"/>
              <a:t>・そして下のバナーをご覧ください。「将来一般就労に進んだときは、図2の権利がそのまま自分のものになる」。</a:t>
            </a:r>
            <a:br>
              <a:rPr lang="en-US"/>
            </a:br>
            <a:r>
              <a:rPr lang="en-US"/>
              <a:t>・今の学びは、未来の自分の権利を使うための準備です。</a:t>
            </a:r>
            <a:endParaRPr/>
          </a:p>
        </p:txBody>
      </p:sp>
      <p:sp>
        <p:nvSpPr>
          <p:cNvPr id="344" name="Google Shape;344;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2" name="Google Shape;352;p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【話す内容の要点・語りかけ】</a:t>
            </a:r>
            <a:br>
              <a:rPr lang="en-US"/>
            </a:br>
            <a:r>
              <a:rPr lang="en-US"/>
              <a:t>・第3部は委託契約（作品を納める契約）です。</a:t>
            </a:r>
            <a:br>
              <a:rPr lang="en-US"/>
            </a:br>
            <a:r>
              <a:rPr lang="en-US"/>
              <a:t>・クイズ：発注元の会社は作り方まで口出しできる？答えは「できない」です。</a:t>
            </a:r>
            <a:br>
              <a:rPr lang="en-US"/>
            </a:br>
            <a:r>
              <a:rPr lang="en-US"/>
              <a:t>・労働契約と違って指揮命令権はありません。結果で勝負するプロの仕事です。</a:t>
            </a:r>
            <a:endParaRPr/>
          </a:p>
        </p:txBody>
      </p:sp>
      <p:sp>
        <p:nvSpPr>
          <p:cNvPr id="353" name="Google Shape;353;p1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4" name="Google Shape;374;p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【話す内容の要点・語りかけ】</a:t>
            </a:r>
            <a:br>
              <a:rPr lang="en-US"/>
            </a:br>
            <a:r>
              <a:rPr lang="en-US"/>
              <a:t>・委託には「請負」と「準委任」があります。皆さんが携わっているのは「請負」です。</a:t>
            </a:r>
            <a:br>
              <a:rPr lang="en-US"/>
            </a:br>
            <a:r>
              <a:rPr lang="en-US"/>
              <a:t>・完成させて納品する仕事です。</a:t>
            </a:r>
            <a:br>
              <a:rPr lang="en-US"/>
            </a:br>
            <a:r>
              <a:rPr lang="en-US"/>
              <a:t>・皆さんは日々、企業の請負契約を立派に完遂させています。自信を持ってください。</a:t>
            </a:r>
            <a:endParaRPr/>
          </a:p>
        </p:txBody>
      </p:sp>
      <p:sp>
        <p:nvSpPr>
          <p:cNvPr id="375" name="Google Shape;375;p1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0" name="Google Shape;390;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【話す内容の要点・語りかけ】</a:t>
            </a:r>
            <a:br>
              <a:rPr lang="en-US"/>
            </a:br>
            <a:r>
              <a:rPr lang="en-US"/>
              <a:t>・図3をご覧ください。左が発注者、右が受注者（事業所）です。</a:t>
            </a:r>
            <a:br>
              <a:rPr lang="en-US"/>
            </a:br>
            <a:r>
              <a:rPr lang="en-US"/>
              <a:t>・「指揮命令権なし」と大きく×がついています。</a:t>
            </a:r>
            <a:br>
              <a:rPr lang="en-US"/>
            </a:br>
            <a:r>
              <a:rPr lang="en-US"/>
              <a:t>・契約書の6項目、債務不履行警告、履行フローが1枚にまとまっています。</a:t>
            </a:r>
            <a:endParaRPr/>
          </a:p>
        </p:txBody>
      </p:sp>
      <p:sp>
        <p:nvSpPr>
          <p:cNvPr id="391" name="Google Shape;391;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9" name="Google Shape;399;p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【話す内容の要点・語りかけ】</a:t>
            </a:r>
            <a:br>
              <a:rPr lang="en-US"/>
            </a:br>
            <a:r>
              <a:rPr lang="en-US"/>
              <a:t>・契約書に書かれている6大チェック項目です。</a:t>
            </a:r>
            <a:br>
              <a:rPr lang="en-US"/>
            </a:br>
            <a:r>
              <a:rPr lang="en-US"/>
              <a:t>・特に「修正回数」を決めておくことは重要です。無限の修正要求から自分を守る盾になります。</a:t>
            </a:r>
            <a:br>
              <a:rPr lang="en-US"/>
            </a:br>
            <a:r>
              <a:rPr lang="en-US"/>
              <a:t>・約束どおりに納めて初めて「履行」になります。</a:t>
            </a:r>
            <a:endParaRPr/>
          </a:p>
        </p:txBody>
      </p:sp>
      <p:sp>
        <p:nvSpPr>
          <p:cNvPr id="400" name="Google Shape;400;p1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4" name="Google Shape;434;p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【話す内容の要点・語りかけ】</a:t>
            </a:r>
            <a:br>
              <a:rPr lang="en-US"/>
            </a:br>
            <a:r>
              <a:rPr lang="en-US"/>
              <a:t>・納期に遅れると「債務不履行」になりますが、怖がる必要はありません。</a:t>
            </a:r>
            <a:br>
              <a:rPr lang="en-US"/>
            </a:br>
            <a:r>
              <a:rPr lang="en-US"/>
              <a:t>・皆さんが直接揉めないように、事業所の支援員が契約を調整し、盾となって守っています。</a:t>
            </a:r>
            <a:br>
              <a:rPr lang="en-US"/>
            </a:br>
            <a:r>
              <a:rPr lang="en-US"/>
              <a:t>・皆さんは安心して制作に専念してください。</a:t>
            </a:r>
            <a:endParaRPr/>
          </a:p>
        </p:txBody>
      </p:sp>
      <p:sp>
        <p:nvSpPr>
          <p:cNvPr id="435" name="Google Shape;435;p2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8" name="Google Shape;448;p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【話す内容の要点・語りかけ】</a:t>
            </a:r>
            <a:br>
              <a:rPr lang="en-US"/>
            </a:br>
            <a:r>
              <a:rPr lang="en-US"/>
              <a:t>・仕事の流れは、確認から制作、納品、検収、支払い、完遂へと進みます。</a:t>
            </a:r>
            <a:br>
              <a:rPr lang="en-US"/>
            </a:br>
            <a:r>
              <a:rPr lang="en-US"/>
              <a:t>・将来のために覚えておいてほしいのが「偽装請負」です。委託と言いながら指示命令するのは違法です。</a:t>
            </a:r>
            <a:br>
              <a:rPr lang="en-US"/>
            </a:br>
            <a:r>
              <a:rPr lang="en-US"/>
              <a:t>・法律は名前ではなく実態で判断します。自分を守る知識にしてください。</a:t>
            </a:r>
            <a:endParaRPr/>
          </a:p>
        </p:txBody>
      </p:sp>
      <p:sp>
        <p:nvSpPr>
          <p:cNvPr id="449" name="Google Shape;449;p2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4" name="Google Shape;494;p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【話す内容の要点・語りかけ】</a:t>
            </a:r>
            <a:br>
              <a:rPr lang="en-US"/>
            </a:br>
            <a:r>
              <a:rPr lang="en-US"/>
              <a:t>・第4部はAI生成物の法律問題です。クイズ：AIが出した絵は誰のもの？</a:t>
            </a:r>
            <a:br>
              <a:rPr lang="en-US"/>
            </a:br>
            <a:r>
              <a:rPr lang="en-US"/>
              <a:t>・原則として誰のものでもありません（著作権なし）。</a:t>
            </a:r>
            <a:br>
              <a:rPr lang="en-US"/>
            </a:br>
            <a:r>
              <a:rPr lang="en-US"/>
              <a:t>・皆さんの工夫や加筆が入って初めて著作権が生まれるのです。</a:t>
            </a:r>
            <a:endParaRPr/>
          </a:p>
        </p:txBody>
      </p:sp>
      <p:sp>
        <p:nvSpPr>
          <p:cNvPr id="495" name="Google Shape;495;p2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0" name="Google Shape;510;p2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【話す内容の要点・語りかけ】</a:t>
            </a:r>
            <a:br>
              <a:rPr lang="en-US"/>
            </a:br>
            <a:r>
              <a:rPr lang="en-US"/>
              <a:t>・皆さんがプロンプトを練り、加筆修正した部分には皆さんの創作性が宿ります。</a:t>
            </a:r>
            <a:br>
              <a:rPr lang="en-US"/>
            </a:br>
            <a:r>
              <a:rPr lang="en-US"/>
              <a:t>・だからこそ、契約書で「権利をどう扱うか」を決めておくことがトラブル防止になります。</a:t>
            </a:r>
            <a:endParaRPr/>
          </a:p>
        </p:txBody>
      </p:sp>
      <p:sp>
        <p:nvSpPr>
          <p:cNvPr id="511" name="Google Shape;511;p2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4" name="Google Shape;524;p2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【話す内容の要点・語りかけ】</a:t>
            </a:r>
            <a:br>
              <a:rPr lang="en-US"/>
            </a:br>
            <a:r>
              <a:rPr lang="en-US"/>
              <a:t>・AIを使う上で、絶対にやってはいけない4つの注意点です。</a:t>
            </a:r>
            <a:br>
              <a:rPr lang="en-US"/>
            </a:br>
            <a:r>
              <a:rPr lang="en-US"/>
              <a:t>・アニメキャラ、有名人の顔、特定作家の作風、身近な仲間の写真。</a:t>
            </a:r>
            <a:br>
              <a:rPr lang="en-US"/>
            </a:br>
            <a:r>
              <a:rPr lang="en-US"/>
              <a:t>・他人の権利を大切にすることが、自分の作品を守ることにつながります。</a:t>
            </a:r>
            <a:endParaRPr/>
          </a:p>
        </p:txBody>
      </p:sp>
      <p:sp>
        <p:nvSpPr>
          <p:cNvPr id="525" name="Google Shape;525;p2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6" name="Google Shape;546;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【話す内容の要点・語りかけ】</a:t>
            </a:r>
            <a:br>
              <a:rPr lang="en-US"/>
            </a:br>
            <a:r>
              <a:rPr lang="en-US"/>
              <a:t>・責任は人間が負いますが、一人で抱え込む必要はありません。</a:t>
            </a:r>
            <a:br>
              <a:rPr lang="en-US"/>
            </a:br>
            <a:r>
              <a:rPr lang="en-US"/>
              <a:t>・事業所チームで納品前にダブルチェックしましょう。</a:t>
            </a:r>
            <a:br>
              <a:rPr lang="en-US"/>
            </a:br>
            <a:r>
              <a:rPr lang="en-US"/>
              <a:t>・迷ったら相談する。相談できる人は、プロとして一番信頼されます。</a:t>
            </a:r>
            <a:endParaRPr/>
          </a:p>
        </p:txBody>
      </p:sp>
      <p:sp>
        <p:nvSpPr>
          <p:cNvPr id="547" name="Google Shape;547;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g409dbde18fd_0_1007:notes"/>
          <p:cNvSpPr txBox="1"/>
          <p:nvPr>
            <p:ph idx="2" type="hdr"/>
          </p:nvPr>
        </p:nvSpPr>
        <p:spPr>
          <a:xfrm>
            <a:off x="0" y="0"/>
            <a:ext cx="2971800" cy="4587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0" name="Google Shape;560;g409dbde18fd_0_1007:notes"/>
          <p:cNvSpPr txBox="1"/>
          <p:nvPr>
            <p:ph idx="10" type="dt"/>
          </p:nvPr>
        </p:nvSpPr>
        <p:spPr>
          <a:xfrm>
            <a:off x="3884613" y="0"/>
            <a:ext cx="2971800" cy="4587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t/>
            </a:r>
            <a:endParaRPr/>
          </a:p>
        </p:txBody>
      </p:sp>
      <p:sp>
        <p:nvSpPr>
          <p:cNvPr id="561" name="Google Shape;561;g409dbde18fd_0_1007:notes"/>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2" name="Google Shape;562;g409dbde18fd_0_100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3" name="Google Shape;563;g409dbde18fd_0_1007:notes"/>
          <p:cNvSpPr txBox="1"/>
          <p:nvPr>
            <p:ph idx="11" type="ftr"/>
          </p:nvPr>
        </p:nvSpPr>
        <p:spPr>
          <a:xfrm>
            <a:off x="0" y="8685213"/>
            <a:ext cx="2971800" cy="4587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a:p>
        </p:txBody>
      </p:sp>
      <p:sp>
        <p:nvSpPr>
          <p:cNvPr id="564" name="Google Shape;564;g409dbde18fd_0_100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9" name="Google Shape;609;p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【話す内容の要点・語りかけ】</a:t>
            </a:r>
            <a:br>
              <a:rPr lang="en-US"/>
            </a:br>
            <a:r>
              <a:rPr lang="en-US"/>
              <a:t>・まとめの1つ目：「知っておくと安心の話」です。</a:t>
            </a:r>
            <a:br>
              <a:rPr lang="en-US"/>
            </a:br>
            <a:r>
              <a:rPr lang="en-US"/>
              <a:t>・「ルールを守れ」と怒る話ではありません。自分を守る盾です。</a:t>
            </a:r>
            <a:br>
              <a:rPr lang="en-US"/>
            </a:br>
            <a:r>
              <a:rPr lang="en-US"/>
              <a:t>・何か1つでも心に残れば、今日のセミナーは大成功です。</a:t>
            </a:r>
            <a:endParaRPr/>
          </a:p>
        </p:txBody>
      </p:sp>
      <p:sp>
        <p:nvSpPr>
          <p:cNvPr id="610" name="Google Shape;610;p2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0" name="Shape 640"/>
        <p:cNvGrpSpPr/>
        <p:nvPr/>
      </p:nvGrpSpPr>
      <p:grpSpPr>
        <a:xfrm>
          <a:off x="0" y="0"/>
          <a:ext cx="0" cy="0"/>
          <a:chOff x="0" y="0"/>
          <a:chExt cx="0" cy="0"/>
        </a:xfrm>
      </p:grpSpPr>
      <p:sp>
        <p:nvSpPr>
          <p:cNvPr id="641" name="Google Shape;641;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2" name="Google Shape;642;p2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【話す内容の要点・語りかけ】</a:t>
            </a:r>
            <a:br>
              <a:rPr lang="en-US"/>
            </a:br>
            <a:r>
              <a:rPr lang="en-US"/>
              <a:t>・まとめの2つ目：「すでに契約の世界で仕事をしている」。</a:t>
            </a:r>
            <a:br>
              <a:rPr lang="en-US"/>
            </a:br>
            <a:r>
              <a:rPr lang="en-US"/>
              <a:t>・皆さんの作業は請負の履行そのものです。一般就労と同じサイクルを回しています。</a:t>
            </a:r>
            <a:br>
              <a:rPr lang="en-US"/>
            </a:br>
            <a:r>
              <a:rPr lang="en-US"/>
              <a:t>・自信と誇りを持ってください。</a:t>
            </a:r>
            <a:endParaRPr/>
          </a:p>
        </p:txBody>
      </p:sp>
      <p:sp>
        <p:nvSpPr>
          <p:cNvPr id="643" name="Google Shape;643;p2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3" name="Shape 673"/>
        <p:cNvGrpSpPr/>
        <p:nvPr/>
      </p:nvGrpSpPr>
      <p:grpSpPr>
        <a:xfrm>
          <a:off x="0" y="0"/>
          <a:ext cx="0" cy="0"/>
          <a:chOff x="0" y="0"/>
          <a:chExt cx="0" cy="0"/>
        </a:xfrm>
      </p:grpSpPr>
      <p:sp>
        <p:nvSpPr>
          <p:cNvPr id="674" name="Google Shape;674;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5" name="Google Shape;675;p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【話す内容の要点・語りかけ】</a:t>
            </a:r>
            <a:br>
              <a:rPr lang="en-US"/>
            </a:br>
            <a:r>
              <a:rPr lang="en-US"/>
              <a:t>・まとめの3つ目：「一般就労で自分の権利になる」。</a:t>
            </a:r>
            <a:br>
              <a:rPr lang="en-US"/>
            </a:br>
            <a:r>
              <a:rPr lang="en-US"/>
              <a:t>・就職した瞬間、賃金請求権や健康配慮を受ける権利が手に入ります。</a:t>
            </a:r>
            <a:br>
              <a:rPr lang="en-US"/>
            </a:br>
            <a:r>
              <a:rPr lang="en-US"/>
              <a:t>・今日の話はその予習です。堂々と進みましょう！</a:t>
            </a:r>
            <a:endParaRPr/>
          </a:p>
        </p:txBody>
      </p:sp>
      <p:sp>
        <p:nvSpPr>
          <p:cNvPr id="676" name="Google Shape;676;p2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8" name="Google Shape;708;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【話す内容の要点・語りかけ】</a:t>
            </a:r>
            <a:br>
              <a:rPr lang="en-US"/>
            </a:br>
            <a:r>
              <a:rPr lang="en-US"/>
              <a:t>・まとめの4つ目：「迷ったときは、一人で抱えず、聞く」。</a:t>
            </a:r>
            <a:br>
              <a:rPr lang="en-US"/>
            </a:br>
            <a:r>
              <a:rPr lang="en-US"/>
              <a:t>・不安なときはすぐ支援員に相談してください。</a:t>
            </a:r>
            <a:br>
              <a:rPr lang="en-US"/>
            </a:br>
            <a:r>
              <a:rPr lang="en-US"/>
              <a:t>・相談すること自体が契約を守る最善の行動です。チームで助け合いましょう。</a:t>
            </a:r>
            <a:endParaRPr/>
          </a:p>
        </p:txBody>
      </p:sp>
      <p:sp>
        <p:nvSpPr>
          <p:cNvPr id="709" name="Google Shape;709;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0" name="Google Shape;720;p3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【話す内容の要点・語りかけ】</a:t>
            </a:r>
            <a:br>
              <a:rPr lang="en-US"/>
            </a:br>
            <a:r>
              <a:rPr lang="en-US"/>
              <a:t>・最後の結びです。今日のセミナーはゴールではなく未来へのきっかけです。</a:t>
            </a:r>
            <a:br>
              <a:rPr lang="en-US"/>
            </a:br>
            <a:r>
              <a:rPr lang="en-US"/>
              <a:t>・皆さんの作品は誰かの役に立っています。誇りを持って進みましょう！</a:t>
            </a:r>
            <a:br>
              <a:rPr lang="en-US"/>
            </a:br>
            <a:r>
              <a:rPr lang="en-US"/>
              <a:t>・ご清聴、本当にありがとうございました！ご質問をどうぞ！</a:t>
            </a:r>
            <a:endParaRPr/>
          </a:p>
        </p:txBody>
      </p:sp>
      <p:sp>
        <p:nvSpPr>
          <p:cNvPr id="721" name="Google Shape;721;p3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g3fb5976ed79_132_0)">
  <p:cSld name="Generated (g3fb5976ed79_132_0)">
    <p:spTree>
      <p:nvGrpSpPr>
        <p:cNvPr id="11" name="Shape 1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8.png"/><Relationship Id="rId4" Type="http://schemas.openxmlformats.org/officeDocument/2006/relationships/image" Target="../media/image11.png"/><Relationship Id="rId5" Type="http://schemas.openxmlformats.org/officeDocument/2006/relationships/image" Target="../media/image1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 name="Shape 16"/>
        <p:cNvGrpSpPr/>
        <p:nvPr/>
      </p:nvGrpSpPr>
      <p:grpSpPr>
        <a:xfrm>
          <a:off x="0" y="0"/>
          <a:ext cx="0" cy="0"/>
          <a:chOff x="0" y="0"/>
          <a:chExt cx="0" cy="0"/>
        </a:xfrm>
      </p:grpSpPr>
      <p:grpSp>
        <p:nvGrpSpPr>
          <p:cNvPr id="17" name="Google Shape;17;p1"/>
          <p:cNvGrpSpPr/>
          <p:nvPr/>
        </p:nvGrpSpPr>
        <p:grpSpPr>
          <a:xfrm>
            <a:off x="495300" y="457200"/>
            <a:ext cx="7924950" cy="4353075"/>
            <a:chOff x="495300" y="457200"/>
            <a:chExt cx="7924950" cy="4353075"/>
          </a:xfrm>
        </p:grpSpPr>
        <p:sp>
          <p:nvSpPr>
            <p:cNvPr id="18" name="Google Shape;18;p1"/>
            <p:cNvSpPr/>
            <p:nvPr/>
          </p:nvSpPr>
          <p:spPr>
            <a:xfrm>
              <a:off x="495300" y="523875"/>
              <a:ext cx="57300" cy="1714500"/>
            </a:xfrm>
            <a:prstGeom prst="roundRect">
              <a:avLst>
                <a:gd fmla="val 50000" name="adj"/>
              </a:avLst>
            </a:prstGeom>
            <a:solidFill>
              <a:srgbClr val="1A73E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9" name="Google Shape;19;p1"/>
            <p:cNvGrpSpPr/>
            <p:nvPr/>
          </p:nvGrpSpPr>
          <p:grpSpPr>
            <a:xfrm>
              <a:off x="723900" y="457200"/>
              <a:ext cx="2667000" cy="266700"/>
              <a:chOff x="0" y="0"/>
              <a:chExt cx="2667000" cy="266700"/>
            </a:xfrm>
          </p:grpSpPr>
          <p:sp>
            <p:nvSpPr>
              <p:cNvPr id="20" name="Google Shape;20;p1"/>
              <p:cNvSpPr/>
              <p:nvPr/>
            </p:nvSpPr>
            <p:spPr>
              <a:xfrm>
                <a:off x="0" y="0"/>
                <a:ext cx="2667000" cy="266700"/>
              </a:xfrm>
              <a:prstGeom prst="roundRect">
                <a:avLst>
                  <a:gd fmla="val 50000" name="adj"/>
                </a:avLst>
              </a:prstGeom>
              <a:solidFill>
                <a:srgbClr val="E0F2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 name="Google Shape;21;p1"/>
              <p:cNvSpPr txBox="1"/>
              <p:nvPr/>
            </p:nvSpPr>
            <p:spPr>
              <a:xfrm>
                <a:off x="0" y="0"/>
                <a:ext cx="2667000" cy="266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000">
                    <a:solidFill>
                      <a:srgbClr val="0284C7"/>
                    </a:solidFill>
                    <a:latin typeface="Arial"/>
                    <a:ea typeface="Arial"/>
                    <a:cs typeface="Arial"/>
                    <a:sym typeface="Arial"/>
                  </a:rPr>
                  <a:t>就労継続支援B型事業所向けセミナー（60分）</a:t>
                </a:r>
                <a:endParaRPr b="1" sz="1000">
                  <a:solidFill>
                    <a:srgbClr val="0284C7"/>
                  </a:solidFill>
                  <a:latin typeface="Arial"/>
                  <a:ea typeface="Arial"/>
                  <a:cs typeface="Arial"/>
                  <a:sym typeface="Arial"/>
                </a:endParaRPr>
              </a:p>
            </p:txBody>
          </p:sp>
        </p:grpSp>
        <p:sp>
          <p:nvSpPr>
            <p:cNvPr id="22" name="Google Shape;22;p1"/>
            <p:cNvSpPr txBox="1"/>
            <p:nvPr/>
          </p:nvSpPr>
          <p:spPr>
            <a:xfrm>
              <a:off x="723900" y="838200"/>
              <a:ext cx="7620000" cy="571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US" sz="3515">
                  <a:solidFill>
                    <a:srgbClr val="0F172A"/>
                  </a:solidFill>
                  <a:latin typeface="Arial"/>
                  <a:ea typeface="Arial"/>
                  <a:cs typeface="Arial"/>
                  <a:sym typeface="Arial"/>
                </a:rPr>
                <a:t>法律とAI</a:t>
              </a:r>
              <a:endParaRPr b="0" sz="3515">
                <a:solidFill>
                  <a:srgbClr val="0F172A"/>
                </a:solidFill>
                <a:latin typeface="Arial"/>
                <a:ea typeface="Arial"/>
                <a:cs typeface="Arial"/>
                <a:sym typeface="Arial"/>
              </a:endParaRPr>
            </a:p>
          </p:txBody>
        </p:sp>
        <p:sp>
          <p:nvSpPr>
            <p:cNvPr id="23" name="Google Shape;23;p1"/>
            <p:cNvSpPr txBox="1"/>
            <p:nvPr/>
          </p:nvSpPr>
          <p:spPr>
            <a:xfrm>
              <a:off x="723900" y="1466850"/>
              <a:ext cx="7620000" cy="3810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US" sz="2100">
                  <a:solidFill>
                    <a:srgbClr val="1A73E8"/>
                  </a:solidFill>
                  <a:latin typeface="Arial"/>
                  <a:ea typeface="Arial"/>
                  <a:cs typeface="Arial"/>
                  <a:sym typeface="Arial"/>
                </a:rPr>
                <a:t>契約を知って、AIのスキルで一般就労へ</a:t>
              </a:r>
              <a:endParaRPr b="1" sz="2100">
                <a:solidFill>
                  <a:srgbClr val="1A73E8"/>
                </a:solidFill>
                <a:latin typeface="Arial"/>
                <a:ea typeface="Arial"/>
                <a:cs typeface="Arial"/>
                <a:sym typeface="Arial"/>
              </a:endParaRPr>
            </a:p>
          </p:txBody>
        </p:sp>
        <p:sp>
          <p:nvSpPr>
            <p:cNvPr id="24" name="Google Shape;24;p1"/>
            <p:cNvSpPr txBox="1"/>
            <p:nvPr/>
          </p:nvSpPr>
          <p:spPr>
            <a:xfrm>
              <a:off x="723900" y="1885950"/>
              <a:ext cx="7620000" cy="285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US" sz="1300">
                  <a:solidFill>
                    <a:srgbClr val="64748B"/>
                  </a:solidFill>
                  <a:latin typeface="Arial"/>
                  <a:ea typeface="Arial"/>
                  <a:cs typeface="Arial"/>
                  <a:sym typeface="Arial"/>
                </a:rPr>
                <a:t>〜 知っていると自分と作品を守れる、未来へのステップ 〜</a:t>
              </a:r>
              <a:endParaRPr b="0" sz="1300">
                <a:solidFill>
                  <a:srgbClr val="64748B"/>
                </a:solidFill>
                <a:latin typeface="Arial"/>
                <a:ea typeface="Arial"/>
                <a:cs typeface="Arial"/>
                <a:sym typeface="Arial"/>
              </a:endParaRPr>
            </a:p>
          </p:txBody>
        </p:sp>
        <p:grpSp>
          <p:nvGrpSpPr>
            <p:cNvPr id="25" name="Google Shape;25;p1"/>
            <p:cNvGrpSpPr/>
            <p:nvPr/>
          </p:nvGrpSpPr>
          <p:grpSpPr>
            <a:xfrm>
              <a:off x="723900" y="2667000"/>
              <a:ext cx="2095500" cy="1238400"/>
              <a:chOff x="0" y="0"/>
              <a:chExt cx="2095500" cy="1238400"/>
            </a:xfrm>
          </p:grpSpPr>
          <p:sp>
            <p:nvSpPr>
              <p:cNvPr id="26" name="Google Shape;26;p1"/>
              <p:cNvSpPr/>
              <p:nvPr/>
            </p:nvSpPr>
            <p:spPr>
              <a:xfrm>
                <a:off x="0" y="0"/>
                <a:ext cx="2095500" cy="1238400"/>
              </a:xfrm>
              <a:prstGeom prst="roundRect">
                <a:avLst>
                  <a:gd fmla="val 12307" name="adj"/>
                </a:avLst>
              </a:prstGeom>
              <a:solidFill>
                <a:srgbClr val="FFFFFF"/>
              </a:solidFill>
              <a:ln cap="flat" cmpd="sng" w="1905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 name="Google Shape;27;p1"/>
              <p:cNvSpPr txBox="1"/>
              <p:nvPr/>
            </p:nvSpPr>
            <p:spPr>
              <a:xfrm>
                <a:off x="0" y="0"/>
                <a:ext cx="2095500" cy="1238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3000">
                    <a:latin typeface="Arial"/>
                    <a:ea typeface="Arial"/>
                    <a:cs typeface="Arial"/>
                    <a:sym typeface="Arial"/>
                  </a:rPr>
                  <a:t>🤖</a:t>
                </a:r>
                <a:endParaRPr sz="3000">
                  <a:latin typeface="Arial"/>
                  <a:ea typeface="Arial"/>
                  <a:cs typeface="Arial"/>
                  <a:sym typeface="Arial"/>
                </a:endParaRPr>
              </a:p>
              <a:p>
                <a:pPr indent="0" lvl="0" marL="0" rtl="0" algn="ctr">
                  <a:spcBef>
                    <a:spcPts val="600"/>
                  </a:spcBef>
                  <a:spcAft>
                    <a:spcPts val="0"/>
                  </a:spcAft>
                  <a:buNone/>
                </a:pPr>
                <a:r>
                  <a:rPr b="1" lang="en-US" sz="1500">
                    <a:solidFill>
                      <a:srgbClr val="1E293B"/>
                    </a:solidFill>
                    <a:latin typeface="Arial"/>
                    <a:ea typeface="Arial"/>
                    <a:cs typeface="Arial"/>
                    <a:sym typeface="Arial"/>
                  </a:rPr>
                  <a:t>AI制作スキル</a:t>
                </a:r>
                <a:endParaRPr b="1" sz="1500">
                  <a:solidFill>
                    <a:srgbClr val="1E293B"/>
                  </a:solidFill>
                  <a:latin typeface="Arial"/>
                  <a:ea typeface="Arial"/>
                  <a:cs typeface="Arial"/>
                  <a:sym typeface="Arial"/>
                </a:endParaRPr>
              </a:p>
            </p:txBody>
          </p:sp>
        </p:grpSp>
        <p:sp>
          <p:nvSpPr>
            <p:cNvPr id="28" name="Google Shape;28;p1"/>
            <p:cNvSpPr txBox="1"/>
            <p:nvPr/>
          </p:nvSpPr>
          <p:spPr>
            <a:xfrm>
              <a:off x="2914650" y="3095625"/>
              <a:ext cx="3333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2200">
                  <a:solidFill>
                    <a:srgbClr val="94A3B8"/>
                  </a:solidFill>
                  <a:latin typeface="Arial"/>
                  <a:ea typeface="Arial"/>
                  <a:cs typeface="Arial"/>
                  <a:sym typeface="Arial"/>
                </a:rPr>
                <a:t>＋</a:t>
              </a:r>
              <a:endParaRPr b="1" sz="2200">
                <a:solidFill>
                  <a:srgbClr val="94A3B8"/>
                </a:solidFill>
                <a:latin typeface="Arial"/>
                <a:ea typeface="Arial"/>
                <a:cs typeface="Arial"/>
                <a:sym typeface="Arial"/>
              </a:endParaRPr>
            </a:p>
          </p:txBody>
        </p:sp>
        <p:grpSp>
          <p:nvGrpSpPr>
            <p:cNvPr id="29" name="Google Shape;29;p1"/>
            <p:cNvGrpSpPr/>
            <p:nvPr/>
          </p:nvGrpSpPr>
          <p:grpSpPr>
            <a:xfrm>
              <a:off x="3343275" y="2667000"/>
              <a:ext cx="2095500" cy="1238400"/>
              <a:chOff x="0" y="0"/>
              <a:chExt cx="2095500" cy="1238400"/>
            </a:xfrm>
          </p:grpSpPr>
          <p:sp>
            <p:nvSpPr>
              <p:cNvPr id="30" name="Google Shape;30;p1"/>
              <p:cNvSpPr/>
              <p:nvPr/>
            </p:nvSpPr>
            <p:spPr>
              <a:xfrm>
                <a:off x="0" y="0"/>
                <a:ext cx="2095500" cy="1238400"/>
              </a:xfrm>
              <a:prstGeom prst="roundRect">
                <a:avLst>
                  <a:gd fmla="val 12307" name="adj"/>
                </a:avLst>
              </a:prstGeom>
              <a:solidFill>
                <a:srgbClr val="FFFFFF"/>
              </a:solidFill>
              <a:ln cap="flat" cmpd="sng" w="1905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 name="Google Shape;31;p1"/>
              <p:cNvSpPr txBox="1"/>
              <p:nvPr/>
            </p:nvSpPr>
            <p:spPr>
              <a:xfrm>
                <a:off x="0" y="0"/>
                <a:ext cx="2095500" cy="1238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3000">
                    <a:latin typeface="Arial"/>
                    <a:ea typeface="Arial"/>
                    <a:cs typeface="Arial"/>
                    <a:sym typeface="Arial"/>
                  </a:rPr>
                  <a:t>📜</a:t>
                </a:r>
                <a:endParaRPr sz="3000">
                  <a:latin typeface="Arial"/>
                  <a:ea typeface="Arial"/>
                  <a:cs typeface="Arial"/>
                  <a:sym typeface="Arial"/>
                </a:endParaRPr>
              </a:p>
              <a:p>
                <a:pPr indent="0" lvl="0" marL="0" rtl="0" algn="ctr">
                  <a:spcBef>
                    <a:spcPts val="600"/>
                  </a:spcBef>
                  <a:spcAft>
                    <a:spcPts val="0"/>
                  </a:spcAft>
                  <a:buNone/>
                </a:pPr>
                <a:r>
                  <a:rPr b="1" lang="en-US" sz="1500">
                    <a:solidFill>
                      <a:srgbClr val="1E293B"/>
                    </a:solidFill>
                    <a:latin typeface="Arial"/>
                    <a:ea typeface="Arial"/>
                    <a:cs typeface="Arial"/>
                    <a:sym typeface="Arial"/>
                  </a:rPr>
                  <a:t>契約のルール</a:t>
                </a:r>
                <a:endParaRPr b="1" sz="1500">
                  <a:solidFill>
                    <a:srgbClr val="1E293B"/>
                  </a:solidFill>
                  <a:latin typeface="Arial"/>
                  <a:ea typeface="Arial"/>
                  <a:cs typeface="Arial"/>
                  <a:sym typeface="Arial"/>
                </a:endParaRPr>
              </a:p>
            </p:txBody>
          </p:sp>
        </p:grpSp>
        <p:sp>
          <p:nvSpPr>
            <p:cNvPr id="32" name="Google Shape;32;p1"/>
            <p:cNvSpPr txBox="1"/>
            <p:nvPr/>
          </p:nvSpPr>
          <p:spPr>
            <a:xfrm>
              <a:off x="5534025" y="3095625"/>
              <a:ext cx="3333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2200">
                  <a:solidFill>
                    <a:srgbClr val="94A3B8"/>
                  </a:solidFill>
                  <a:latin typeface="Arial"/>
                  <a:ea typeface="Arial"/>
                  <a:cs typeface="Arial"/>
                  <a:sym typeface="Arial"/>
                </a:rPr>
                <a:t>＝</a:t>
              </a:r>
              <a:endParaRPr b="1" sz="2200">
                <a:solidFill>
                  <a:srgbClr val="94A3B8"/>
                </a:solidFill>
                <a:latin typeface="Arial"/>
                <a:ea typeface="Arial"/>
                <a:cs typeface="Arial"/>
                <a:sym typeface="Arial"/>
              </a:endParaRPr>
            </a:p>
          </p:txBody>
        </p:sp>
        <p:grpSp>
          <p:nvGrpSpPr>
            <p:cNvPr id="33" name="Google Shape;33;p1"/>
            <p:cNvGrpSpPr/>
            <p:nvPr/>
          </p:nvGrpSpPr>
          <p:grpSpPr>
            <a:xfrm>
              <a:off x="5962650" y="2667000"/>
              <a:ext cx="2457600" cy="1238400"/>
              <a:chOff x="0" y="0"/>
              <a:chExt cx="2457600" cy="1238400"/>
            </a:xfrm>
          </p:grpSpPr>
          <p:sp>
            <p:nvSpPr>
              <p:cNvPr id="34" name="Google Shape;34;p1"/>
              <p:cNvSpPr/>
              <p:nvPr/>
            </p:nvSpPr>
            <p:spPr>
              <a:xfrm>
                <a:off x="0" y="0"/>
                <a:ext cx="2457600" cy="1238400"/>
              </a:xfrm>
              <a:prstGeom prst="roundRect">
                <a:avLst>
                  <a:gd fmla="val 12307" name="adj"/>
                </a:avLst>
              </a:prstGeom>
              <a:solidFill>
                <a:srgbClr val="1A73E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 name="Google Shape;35;p1"/>
              <p:cNvSpPr txBox="1"/>
              <p:nvPr/>
            </p:nvSpPr>
            <p:spPr>
              <a:xfrm>
                <a:off x="0" y="0"/>
                <a:ext cx="2457600" cy="1238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3000">
                    <a:latin typeface="Arial"/>
                    <a:ea typeface="Arial"/>
                    <a:cs typeface="Arial"/>
                    <a:sym typeface="Arial"/>
                  </a:rPr>
                  <a:t>🚀</a:t>
                </a:r>
                <a:endParaRPr sz="3000">
                  <a:latin typeface="Arial"/>
                  <a:ea typeface="Arial"/>
                  <a:cs typeface="Arial"/>
                  <a:sym typeface="Arial"/>
                </a:endParaRPr>
              </a:p>
              <a:p>
                <a:pPr indent="0" lvl="0" marL="0" rtl="0" algn="ctr">
                  <a:spcBef>
                    <a:spcPts val="600"/>
                  </a:spcBef>
                  <a:spcAft>
                    <a:spcPts val="0"/>
                  </a:spcAft>
                  <a:buNone/>
                </a:pPr>
                <a:r>
                  <a:rPr b="1" lang="en-US" sz="1500">
                    <a:solidFill>
                      <a:srgbClr val="FFFFFF"/>
                    </a:solidFill>
                    <a:latin typeface="Arial"/>
                    <a:ea typeface="Arial"/>
                    <a:cs typeface="Arial"/>
                    <a:sym typeface="Arial"/>
                  </a:rPr>
                  <a:t>一般就労への確かな道！</a:t>
                </a:r>
                <a:endParaRPr b="1" sz="1500">
                  <a:solidFill>
                    <a:srgbClr val="FFFFFF"/>
                  </a:solidFill>
                  <a:latin typeface="Arial"/>
                  <a:ea typeface="Arial"/>
                  <a:cs typeface="Arial"/>
                  <a:sym typeface="Arial"/>
                </a:endParaRPr>
              </a:p>
            </p:txBody>
          </p:sp>
        </p:grpSp>
        <p:sp>
          <p:nvSpPr>
            <p:cNvPr id="36" name="Google Shape;36;p1"/>
            <p:cNvSpPr txBox="1"/>
            <p:nvPr/>
          </p:nvSpPr>
          <p:spPr>
            <a:xfrm>
              <a:off x="723900" y="4524375"/>
              <a:ext cx="7696200" cy="285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US" sz="1100">
                  <a:solidFill>
                    <a:srgbClr val="64748B"/>
                  </a:solidFill>
                  <a:latin typeface="Arial"/>
                  <a:ea typeface="Arial"/>
                  <a:cs typeface="Arial"/>
                  <a:sym typeface="Arial"/>
                </a:rPr>
                <a:t>講師：社会保険労務士・行政書士</a:t>
              </a:r>
              <a:r>
                <a:rPr lang="en-US" sz="1100">
                  <a:solidFill>
                    <a:srgbClr val="64748B"/>
                  </a:solidFill>
                  <a:latin typeface="Arial"/>
                  <a:ea typeface="Arial"/>
                  <a:cs typeface="Arial"/>
                  <a:sym typeface="Arial"/>
                </a:rPr>
                <a:t>　杉山史和</a:t>
              </a:r>
              <a:endParaRPr b="0" sz="1100">
                <a:solidFill>
                  <a:srgbClr val="64748B"/>
                </a:solidFill>
                <a:latin typeface="Arial"/>
                <a:ea typeface="Arial"/>
                <a:cs typeface="Arial"/>
                <a:sym typeface="Arial"/>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1" name="Shape 41"/>
        <p:cNvGrpSpPr/>
        <p:nvPr/>
      </p:nvGrpSpPr>
      <p:grpSpPr>
        <a:xfrm>
          <a:off x="0" y="0"/>
          <a:ext cx="0" cy="0"/>
          <a:chOff x="0" y="0"/>
          <a:chExt cx="0" cy="0"/>
        </a:xfrm>
      </p:grpSpPr>
      <p:sp>
        <p:nvSpPr>
          <p:cNvPr id="42" name="Google Shape;42;p2"/>
          <p:cNvSpPr/>
          <p:nvPr/>
        </p:nvSpPr>
        <p:spPr>
          <a:xfrm>
            <a:off x="571500" y="381000"/>
            <a:ext cx="8001000" cy="4764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ctr">
              <a:spcBef>
                <a:spcPts val="0"/>
              </a:spcBef>
              <a:spcAft>
                <a:spcPts val="0"/>
              </a:spcAft>
              <a:buNone/>
            </a:pPr>
            <a:r>
              <a:rPr b="0" lang="en-US" sz="2200">
                <a:solidFill>
                  <a:srgbClr val="0F172A"/>
                </a:solidFill>
                <a:latin typeface="Arial"/>
                <a:ea typeface="Arial"/>
                <a:cs typeface="Arial"/>
                <a:sym typeface="Arial"/>
              </a:rPr>
              <a:t>講師の立場 ― 2つの専門知識で皆さんを応援します！</a:t>
            </a:r>
            <a:endParaRPr b="0" sz="2200">
              <a:solidFill>
                <a:srgbClr val="0F172A"/>
              </a:solidFill>
              <a:latin typeface="Arial"/>
              <a:ea typeface="Arial"/>
              <a:cs typeface="Arial"/>
              <a:sym typeface="Arial"/>
            </a:endParaRPr>
          </a:p>
        </p:txBody>
      </p:sp>
      <p:sp>
        <p:nvSpPr>
          <p:cNvPr id="43" name="Google Shape;43;p2"/>
          <p:cNvSpPr/>
          <p:nvPr/>
        </p:nvSpPr>
        <p:spPr>
          <a:xfrm>
            <a:off x="571500" y="1028700"/>
            <a:ext cx="3771900" cy="3429000"/>
          </a:xfrm>
          <a:prstGeom prst="roundRect">
            <a:avLst>
              <a:gd fmla="val 4444" name="adj"/>
            </a:avLst>
          </a:prstGeom>
          <a:solidFill>
            <a:srgbClr val="FFFFFF"/>
          </a:solidFill>
          <a:ln cap="flat" cmpd="sng" w="14300">
            <a:solidFill>
              <a:srgbClr val="BFDB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 name="Google Shape;44;p2"/>
          <p:cNvSpPr/>
          <p:nvPr/>
        </p:nvSpPr>
        <p:spPr>
          <a:xfrm>
            <a:off x="800100" y="1257300"/>
            <a:ext cx="3314700" cy="29718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lang="en-US" sz="2200">
                <a:latin typeface="Arial"/>
                <a:ea typeface="Arial"/>
                <a:cs typeface="Arial"/>
                <a:sym typeface="Arial"/>
              </a:rPr>
              <a:t>👔</a:t>
            </a:r>
            <a:r>
              <a:rPr b="1" lang="en-US" sz="2000">
                <a:solidFill>
                  <a:srgbClr val="1D4ED8"/>
                </a:solidFill>
                <a:latin typeface="Arial"/>
                <a:ea typeface="Arial"/>
                <a:cs typeface="Arial"/>
                <a:sym typeface="Arial"/>
              </a:rPr>
              <a:t>社会保険労務士</a:t>
            </a:r>
            <a:endParaRPr>
              <a:latin typeface="Arial"/>
              <a:ea typeface="Arial"/>
              <a:cs typeface="Arial"/>
              <a:sym typeface="Arial"/>
            </a:endParaRPr>
          </a:p>
          <a:p>
            <a:pPr indent="0" lvl="0" marL="0" rtl="0" algn="l">
              <a:spcBef>
                <a:spcPts val="900"/>
              </a:spcBef>
              <a:spcAft>
                <a:spcPts val="0"/>
              </a:spcAft>
              <a:buNone/>
            </a:pPr>
            <a:r>
              <a:rPr b="1" lang="en-US" sz="1400">
                <a:solidFill>
                  <a:srgbClr val="1E40AF"/>
                </a:solidFill>
                <a:highlight>
                  <a:srgbClr val="EFF6FF"/>
                </a:highlight>
                <a:latin typeface="Arial"/>
                <a:ea typeface="Arial"/>
                <a:cs typeface="Arial"/>
                <a:sym typeface="Arial"/>
              </a:rPr>
              <a:t>＝「働く契約」の専門家</a:t>
            </a:r>
            <a:endParaRPr b="1" sz="1400">
              <a:solidFill>
                <a:srgbClr val="1E40AF"/>
              </a:solidFill>
              <a:highlight>
                <a:srgbClr val="EFF6FF"/>
              </a:highlight>
              <a:latin typeface="Arial"/>
              <a:ea typeface="Arial"/>
              <a:cs typeface="Arial"/>
              <a:sym typeface="Arial"/>
            </a:endParaRPr>
          </a:p>
          <a:p>
            <a:pPr indent="0" lvl="0" marL="0" rtl="0" algn="l">
              <a:spcBef>
                <a:spcPts val="1500"/>
              </a:spcBef>
              <a:spcAft>
                <a:spcPts val="0"/>
              </a:spcAft>
              <a:buNone/>
            </a:pPr>
            <a:r>
              <a:rPr lang="en-US" sz="1500">
                <a:latin typeface="Arial"/>
                <a:ea typeface="Arial"/>
                <a:cs typeface="Arial"/>
                <a:sym typeface="Arial"/>
              </a:rPr>
              <a:t>🏢</a:t>
            </a:r>
            <a:r>
              <a:rPr b="0" lang="en-US" sz="1300">
                <a:solidFill>
                  <a:srgbClr val="334155"/>
                </a:solidFill>
                <a:latin typeface="Arial"/>
                <a:ea typeface="Arial"/>
                <a:cs typeface="Arial"/>
                <a:sym typeface="Arial"/>
              </a:rPr>
              <a:t>会社と働く人のルール（労働法）</a:t>
            </a:r>
            <a:endParaRPr>
              <a:latin typeface="Arial"/>
              <a:ea typeface="Arial"/>
              <a:cs typeface="Arial"/>
              <a:sym typeface="Arial"/>
            </a:endParaRPr>
          </a:p>
          <a:p>
            <a:pPr indent="0" lvl="0" marL="0" rtl="0" algn="l">
              <a:spcBef>
                <a:spcPts val="0"/>
              </a:spcBef>
              <a:spcAft>
                <a:spcPts val="0"/>
              </a:spcAft>
              <a:buNone/>
            </a:pPr>
            <a:r>
              <a:rPr lang="en-US" sz="1500">
                <a:latin typeface="Arial"/>
                <a:ea typeface="Arial"/>
                <a:cs typeface="Arial"/>
                <a:sym typeface="Arial"/>
              </a:rPr>
              <a:t>🛡️</a:t>
            </a:r>
            <a:r>
              <a:rPr b="0" lang="en-US" sz="1300">
                <a:solidFill>
                  <a:srgbClr val="334155"/>
                </a:solidFill>
                <a:latin typeface="Arial"/>
                <a:ea typeface="Arial"/>
                <a:cs typeface="Arial"/>
                <a:sym typeface="Arial"/>
              </a:rPr>
              <a:t>安心して働ける環境を守る</a:t>
            </a:r>
            <a:endParaRPr>
              <a:latin typeface="Arial"/>
              <a:ea typeface="Arial"/>
              <a:cs typeface="Arial"/>
              <a:sym typeface="Arial"/>
            </a:endParaRPr>
          </a:p>
          <a:p>
            <a:pPr indent="0" lvl="0" marL="0" rtl="0" algn="l">
              <a:spcBef>
                <a:spcPts val="0"/>
              </a:spcBef>
              <a:spcAft>
                <a:spcPts val="0"/>
              </a:spcAft>
              <a:buNone/>
            </a:pPr>
            <a:r>
              <a:rPr lang="en-US" sz="1500">
                <a:latin typeface="Arial"/>
                <a:ea typeface="Arial"/>
                <a:cs typeface="Arial"/>
                <a:sym typeface="Arial"/>
              </a:rPr>
              <a:t>🚀</a:t>
            </a:r>
            <a:r>
              <a:rPr b="0" lang="en-US" sz="1300">
                <a:solidFill>
                  <a:srgbClr val="334155"/>
                </a:solidFill>
                <a:latin typeface="Arial"/>
                <a:ea typeface="Arial"/>
                <a:cs typeface="Arial"/>
                <a:sym typeface="Arial"/>
              </a:rPr>
              <a:t>一般就労したときの権利を支える</a:t>
            </a:r>
            <a:endParaRPr>
              <a:latin typeface="Arial"/>
              <a:ea typeface="Arial"/>
              <a:cs typeface="Arial"/>
              <a:sym typeface="Arial"/>
            </a:endParaRPr>
          </a:p>
        </p:txBody>
      </p:sp>
      <p:sp>
        <p:nvSpPr>
          <p:cNvPr id="45" name="Google Shape;45;p2"/>
          <p:cNvSpPr/>
          <p:nvPr/>
        </p:nvSpPr>
        <p:spPr>
          <a:xfrm>
            <a:off x="4800600" y="1028700"/>
            <a:ext cx="3771900" cy="3429000"/>
          </a:xfrm>
          <a:prstGeom prst="roundRect">
            <a:avLst>
              <a:gd fmla="val 4444" name="adj"/>
            </a:avLst>
          </a:prstGeom>
          <a:solidFill>
            <a:srgbClr val="FFFFFF"/>
          </a:solidFill>
          <a:ln cap="flat" cmpd="sng" w="14300">
            <a:solidFill>
              <a:srgbClr val="FECAC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 name="Google Shape;46;p2"/>
          <p:cNvSpPr/>
          <p:nvPr/>
        </p:nvSpPr>
        <p:spPr>
          <a:xfrm>
            <a:off x="5029200" y="1257300"/>
            <a:ext cx="3314700" cy="29718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lang="en-US" sz="2200">
                <a:latin typeface="Arial"/>
                <a:ea typeface="Arial"/>
                <a:cs typeface="Arial"/>
                <a:sym typeface="Arial"/>
              </a:rPr>
              <a:t>📜</a:t>
            </a:r>
            <a:r>
              <a:rPr b="1" lang="en-US" sz="2000">
                <a:solidFill>
                  <a:srgbClr val="DC2626"/>
                </a:solidFill>
                <a:latin typeface="Arial"/>
                <a:ea typeface="Arial"/>
                <a:cs typeface="Arial"/>
                <a:sym typeface="Arial"/>
              </a:rPr>
              <a:t>行政書士</a:t>
            </a:r>
            <a:endParaRPr>
              <a:latin typeface="Arial"/>
              <a:ea typeface="Arial"/>
              <a:cs typeface="Arial"/>
              <a:sym typeface="Arial"/>
            </a:endParaRPr>
          </a:p>
          <a:p>
            <a:pPr indent="0" lvl="0" marL="0" rtl="0" algn="l">
              <a:spcBef>
                <a:spcPts val="900"/>
              </a:spcBef>
              <a:spcAft>
                <a:spcPts val="0"/>
              </a:spcAft>
              <a:buNone/>
            </a:pPr>
            <a:r>
              <a:rPr b="1" lang="en-US" sz="1400">
                <a:solidFill>
                  <a:srgbClr val="991B1B"/>
                </a:solidFill>
                <a:highlight>
                  <a:srgbClr val="FEF2F2"/>
                </a:highlight>
                <a:latin typeface="Arial"/>
                <a:ea typeface="Arial"/>
                <a:cs typeface="Arial"/>
                <a:sym typeface="Arial"/>
              </a:rPr>
              <a:t>＝「契約書・書類」の専門家</a:t>
            </a:r>
            <a:endParaRPr b="1" sz="1400">
              <a:solidFill>
                <a:srgbClr val="991B1B"/>
              </a:solidFill>
              <a:highlight>
                <a:srgbClr val="FEF2F2"/>
              </a:highlight>
              <a:latin typeface="Arial"/>
              <a:ea typeface="Arial"/>
              <a:cs typeface="Arial"/>
              <a:sym typeface="Arial"/>
            </a:endParaRPr>
          </a:p>
          <a:p>
            <a:pPr indent="0" lvl="0" marL="0" rtl="0" algn="l">
              <a:spcBef>
                <a:spcPts val="1500"/>
              </a:spcBef>
              <a:spcAft>
                <a:spcPts val="0"/>
              </a:spcAft>
              <a:buNone/>
            </a:pPr>
            <a:r>
              <a:rPr lang="en-US" sz="1500">
                <a:latin typeface="Arial"/>
                <a:ea typeface="Arial"/>
                <a:cs typeface="Arial"/>
                <a:sym typeface="Arial"/>
              </a:rPr>
              <a:t>🤝</a:t>
            </a:r>
            <a:r>
              <a:rPr b="0" lang="en-US" sz="1300">
                <a:solidFill>
                  <a:srgbClr val="334155"/>
                </a:solidFill>
                <a:latin typeface="Arial"/>
                <a:ea typeface="Arial"/>
                <a:cs typeface="Arial"/>
                <a:sym typeface="Arial"/>
              </a:rPr>
              <a:t>ビジネスの約束を形にするプロ</a:t>
            </a:r>
            <a:endParaRPr>
              <a:latin typeface="Arial"/>
              <a:ea typeface="Arial"/>
              <a:cs typeface="Arial"/>
              <a:sym typeface="Arial"/>
            </a:endParaRPr>
          </a:p>
          <a:p>
            <a:pPr indent="0" lvl="0" marL="0" rtl="0" algn="l">
              <a:spcBef>
                <a:spcPts val="0"/>
              </a:spcBef>
              <a:spcAft>
                <a:spcPts val="0"/>
              </a:spcAft>
              <a:buNone/>
            </a:pPr>
            <a:r>
              <a:rPr lang="en-US" sz="1500">
                <a:latin typeface="Arial"/>
                <a:ea typeface="Arial"/>
                <a:cs typeface="Arial"/>
                <a:sym typeface="Arial"/>
              </a:rPr>
              <a:t>⚠️</a:t>
            </a:r>
            <a:r>
              <a:rPr b="0" lang="en-US" sz="1300">
                <a:solidFill>
                  <a:srgbClr val="334155"/>
                </a:solidFill>
                <a:latin typeface="Arial"/>
                <a:ea typeface="Arial"/>
                <a:cs typeface="Arial"/>
                <a:sym typeface="Arial"/>
              </a:rPr>
              <a:t>トラブルを未然に防ぐ</a:t>
            </a:r>
            <a:endParaRPr>
              <a:latin typeface="Arial"/>
              <a:ea typeface="Arial"/>
              <a:cs typeface="Arial"/>
              <a:sym typeface="Arial"/>
            </a:endParaRPr>
          </a:p>
          <a:p>
            <a:pPr indent="0" lvl="0" marL="0" rtl="0" algn="l">
              <a:spcBef>
                <a:spcPts val="0"/>
              </a:spcBef>
              <a:spcAft>
                <a:spcPts val="0"/>
              </a:spcAft>
              <a:buNone/>
            </a:pPr>
            <a:r>
              <a:rPr lang="en-US" sz="1500">
                <a:latin typeface="Arial"/>
                <a:ea typeface="Arial"/>
                <a:cs typeface="Arial"/>
                <a:sym typeface="Arial"/>
              </a:rPr>
              <a:t>🎨</a:t>
            </a:r>
            <a:r>
              <a:rPr b="0" lang="en-US" sz="1300">
                <a:solidFill>
                  <a:srgbClr val="334155"/>
                </a:solidFill>
                <a:latin typeface="Arial"/>
                <a:ea typeface="Arial"/>
                <a:cs typeface="Arial"/>
                <a:sym typeface="Arial"/>
              </a:rPr>
              <a:t>皆さんの作品を社会に届ける</a:t>
            </a:r>
            <a:endParaRPr>
              <a:latin typeface="Arial"/>
              <a:ea typeface="Arial"/>
              <a:cs typeface="Arial"/>
              <a:sym typeface="Arial"/>
            </a:endParaRPr>
          </a:p>
        </p:txBody>
      </p:sp>
      <p:sp>
        <p:nvSpPr>
          <p:cNvPr id="47" name="Google Shape;47;p2"/>
          <p:cNvSpPr/>
          <p:nvPr/>
        </p:nvSpPr>
        <p:spPr>
          <a:xfrm>
            <a:off x="571500" y="4648200"/>
            <a:ext cx="1905000" cy="2667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ctr">
              <a:spcBef>
                <a:spcPts val="0"/>
              </a:spcBef>
              <a:spcAft>
                <a:spcPts val="0"/>
              </a:spcAft>
              <a:buNone/>
            </a:pPr>
            <a:r>
              <a:rPr b="0" lang="en-US" sz="1100">
                <a:solidFill>
                  <a:srgbClr val="94A3B8"/>
                </a:solidFill>
                <a:latin typeface="Arial"/>
                <a:ea typeface="Arial"/>
                <a:cs typeface="Arial"/>
                <a:sym typeface="Arial"/>
              </a:rPr>
              <a:t>導入</a:t>
            </a:r>
            <a:endParaRPr b="0" sz="1100">
              <a:solidFill>
                <a:srgbClr val="94A3B8"/>
              </a:solidFill>
              <a:latin typeface="Arial"/>
              <a:ea typeface="Arial"/>
              <a:cs typeface="Arial"/>
              <a:sym typeface="Arial"/>
            </a:endParaRPr>
          </a:p>
        </p:txBody>
      </p:sp>
      <p:sp>
        <p:nvSpPr>
          <p:cNvPr id="48" name="Google Shape;48;p2"/>
          <p:cNvSpPr/>
          <p:nvPr/>
        </p:nvSpPr>
        <p:spPr>
          <a:xfrm>
            <a:off x="6667500" y="4648200"/>
            <a:ext cx="1905000" cy="266700"/>
          </a:xfrm>
          <a:prstGeom prst="rect">
            <a:avLst/>
          </a:prstGeom>
          <a:solidFill>
            <a:srgbClr val="000000">
              <a:alpha val="0"/>
            </a:srgbClr>
          </a:solidFill>
          <a:ln>
            <a:noFill/>
          </a:ln>
        </p:spPr>
        <p:txBody>
          <a:bodyPr anchorCtr="0" anchor="b" bIns="0" lIns="0" spcFirstLastPara="1" rIns="0" wrap="square" tIns="0">
            <a:noAutofit/>
          </a:bodyPr>
          <a:lstStyle/>
          <a:p>
            <a:pPr indent="0" lvl="0" marL="0" rtl="0" algn="r">
              <a:spcBef>
                <a:spcPts val="0"/>
              </a:spcBef>
              <a:spcAft>
                <a:spcPts val="0"/>
              </a:spcAft>
              <a:buNone/>
            </a:pPr>
            <a:r>
              <a:rPr b="0" lang="en-US" sz="1100">
                <a:solidFill>
                  <a:srgbClr val="94A3B8"/>
                </a:solidFill>
                <a:latin typeface="Arial"/>
                <a:ea typeface="Arial"/>
                <a:cs typeface="Arial"/>
                <a:sym typeface="Arial"/>
              </a:rPr>
              <a:t>2 / 30</a:t>
            </a:r>
            <a:endParaRPr b="0" sz="1100">
              <a:solidFill>
                <a:srgbClr val="94A3B8"/>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 name="Shape 53"/>
        <p:cNvGrpSpPr/>
        <p:nvPr/>
      </p:nvGrpSpPr>
      <p:grpSpPr>
        <a:xfrm>
          <a:off x="0" y="0"/>
          <a:ext cx="0" cy="0"/>
          <a:chOff x="0" y="0"/>
          <a:chExt cx="0" cy="0"/>
        </a:xfrm>
      </p:grpSpPr>
      <p:sp>
        <p:nvSpPr>
          <p:cNvPr id="54" name="Google Shape;54;p3"/>
          <p:cNvSpPr/>
          <p:nvPr/>
        </p:nvSpPr>
        <p:spPr>
          <a:xfrm>
            <a:off x="571500" y="4572000"/>
            <a:ext cx="1905000" cy="2667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US" sz="1100">
                <a:solidFill>
                  <a:srgbClr val="64748B"/>
                </a:solidFill>
                <a:latin typeface="Arial"/>
                <a:ea typeface="Arial"/>
                <a:cs typeface="Arial"/>
                <a:sym typeface="Arial"/>
              </a:rPr>
              <a:t>導入</a:t>
            </a:r>
            <a:endParaRPr b="0" sz="1100">
              <a:solidFill>
                <a:srgbClr val="64748B"/>
              </a:solidFill>
              <a:latin typeface="Arial"/>
              <a:ea typeface="Arial"/>
              <a:cs typeface="Arial"/>
              <a:sym typeface="Arial"/>
            </a:endParaRPr>
          </a:p>
        </p:txBody>
      </p:sp>
      <p:sp>
        <p:nvSpPr>
          <p:cNvPr id="55" name="Google Shape;55;p3"/>
          <p:cNvSpPr/>
          <p:nvPr/>
        </p:nvSpPr>
        <p:spPr>
          <a:xfrm>
            <a:off x="6667500" y="4572000"/>
            <a:ext cx="1905000" cy="2667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r">
              <a:spcBef>
                <a:spcPts val="0"/>
              </a:spcBef>
              <a:spcAft>
                <a:spcPts val="0"/>
              </a:spcAft>
              <a:buNone/>
            </a:pPr>
            <a:r>
              <a:rPr b="0" lang="en-US" sz="1100">
                <a:solidFill>
                  <a:srgbClr val="64748B"/>
                </a:solidFill>
                <a:latin typeface="Arial"/>
                <a:ea typeface="Arial"/>
                <a:cs typeface="Arial"/>
                <a:sym typeface="Arial"/>
              </a:rPr>
              <a:t>3 / 30</a:t>
            </a:r>
            <a:endParaRPr b="0" sz="1100">
              <a:solidFill>
                <a:srgbClr val="64748B"/>
              </a:solidFill>
              <a:latin typeface="Arial"/>
              <a:ea typeface="Arial"/>
              <a:cs typeface="Arial"/>
              <a:sym typeface="Arial"/>
            </a:endParaRPr>
          </a:p>
        </p:txBody>
      </p:sp>
      <p:sp>
        <p:nvSpPr>
          <p:cNvPr id="56" name="Google Shape;56;p3"/>
          <p:cNvSpPr/>
          <p:nvPr/>
        </p:nvSpPr>
        <p:spPr>
          <a:xfrm>
            <a:off x="571500" y="381000"/>
            <a:ext cx="8001000" cy="476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US" sz="2200">
                <a:solidFill>
                  <a:srgbClr val="0F172A"/>
                </a:solidFill>
                <a:latin typeface="Arial"/>
                <a:ea typeface="Arial"/>
                <a:cs typeface="Arial"/>
                <a:sym typeface="Arial"/>
              </a:rPr>
              <a:t>【クイズ】皆さんは今日、いくつ契約を結びましたか？</a:t>
            </a:r>
            <a:endParaRPr b="0" sz="2200">
              <a:solidFill>
                <a:srgbClr val="0F172A"/>
              </a:solidFill>
              <a:latin typeface="Arial"/>
              <a:ea typeface="Arial"/>
              <a:cs typeface="Arial"/>
              <a:sym typeface="Arial"/>
            </a:endParaRPr>
          </a:p>
        </p:txBody>
      </p:sp>
      <p:sp>
        <p:nvSpPr>
          <p:cNvPr id="57" name="Google Shape;57;p3"/>
          <p:cNvSpPr/>
          <p:nvPr/>
        </p:nvSpPr>
        <p:spPr>
          <a:xfrm>
            <a:off x="571500" y="1095375"/>
            <a:ext cx="2476500" cy="1619100"/>
          </a:xfrm>
          <a:prstGeom prst="roundRect">
            <a:avLst>
              <a:gd fmla="val 9411" name="adj"/>
            </a:avLst>
          </a:prstGeom>
          <a:solidFill>
            <a:srgbClr val="FFFFFF"/>
          </a:solidFill>
          <a:ln cap="flat" cmpd="sng" w="1905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8" name="Google Shape;58;p3"/>
          <p:cNvSpPr/>
          <p:nvPr/>
        </p:nvSpPr>
        <p:spPr>
          <a:xfrm>
            <a:off x="571500" y="1190625"/>
            <a:ext cx="2476500" cy="1428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3200">
                <a:solidFill>
                  <a:srgbClr val="1E293B"/>
                </a:solidFill>
                <a:latin typeface="Arial"/>
                <a:ea typeface="Arial"/>
                <a:cs typeface="Arial"/>
                <a:sym typeface="Arial"/>
              </a:rPr>
              <a:t>🏪</a:t>
            </a:r>
            <a:endParaRPr b="1" sz="3200">
              <a:solidFill>
                <a:srgbClr val="1E293B"/>
              </a:solidFill>
              <a:latin typeface="Arial"/>
              <a:ea typeface="Arial"/>
              <a:cs typeface="Arial"/>
              <a:sym typeface="Arial"/>
            </a:endParaRPr>
          </a:p>
          <a:p>
            <a:pPr indent="0" lvl="0" marL="0" rtl="0" algn="ctr">
              <a:spcBef>
                <a:spcPts val="600"/>
              </a:spcBef>
              <a:spcAft>
                <a:spcPts val="0"/>
              </a:spcAft>
              <a:buNone/>
            </a:pPr>
            <a:r>
              <a:rPr b="1" lang="en-US" sz="1600">
                <a:solidFill>
                  <a:srgbClr val="1E293B"/>
                </a:solidFill>
                <a:latin typeface="Arial"/>
                <a:ea typeface="Arial"/>
                <a:cs typeface="Arial"/>
                <a:sym typeface="Arial"/>
              </a:rPr>
              <a:t>コンビニの買い物</a:t>
            </a:r>
            <a:endParaRPr b="1" sz="1600">
              <a:solidFill>
                <a:srgbClr val="1E293B"/>
              </a:solidFill>
              <a:latin typeface="Arial"/>
              <a:ea typeface="Arial"/>
              <a:cs typeface="Arial"/>
              <a:sym typeface="Arial"/>
            </a:endParaRPr>
          </a:p>
          <a:p>
            <a:pPr indent="0" lvl="0" marL="0" rtl="0" algn="ctr">
              <a:spcBef>
                <a:spcPts val="750"/>
              </a:spcBef>
              <a:spcAft>
                <a:spcPts val="0"/>
              </a:spcAft>
              <a:buNone/>
            </a:pPr>
            <a:r>
              <a:rPr b="1" lang="en-US" sz="1100">
                <a:solidFill>
                  <a:srgbClr val="0284C7"/>
                </a:solidFill>
                <a:latin typeface="Arial"/>
                <a:ea typeface="Arial"/>
                <a:cs typeface="Arial"/>
                <a:sym typeface="Arial"/>
              </a:rPr>
              <a:t>売買契約</a:t>
            </a:r>
            <a:endParaRPr b="1" sz="1600">
              <a:solidFill>
                <a:srgbClr val="1E293B"/>
              </a:solidFill>
              <a:latin typeface="Arial"/>
              <a:ea typeface="Arial"/>
              <a:cs typeface="Arial"/>
              <a:sym typeface="Arial"/>
            </a:endParaRPr>
          </a:p>
        </p:txBody>
      </p:sp>
      <p:sp>
        <p:nvSpPr>
          <p:cNvPr id="59" name="Google Shape;59;p3"/>
          <p:cNvSpPr/>
          <p:nvPr/>
        </p:nvSpPr>
        <p:spPr>
          <a:xfrm>
            <a:off x="3333750" y="1095375"/>
            <a:ext cx="2476500" cy="1619100"/>
          </a:xfrm>
          <a:prstGeom prst="roundRect">
            <a:avLst>
              <a:gd fmla="val 9411" name="adj"/>
            </a:avLst>
          </a:prstGeom>
          <a:solidFill>
            <a:srgbClr val="FFFFFF"/>
          </a:solidFill>
          <a:ln cap="flat" cmpd="sng" w="1905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0" name="Google Shape;60;p3"/>
          <p:cNvSpPr/>
          <p:nvPr/>
        </p:nvSpPr>
        <p:spPr>
          <a:xfrm>
            <a:off x="3333750" y="1190625"/>
            <a:ext cx="2476500" cy="1428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3200">
                <a:solidFill>
                  <a:srgbClr val="1E293B"/>
                </a:solidFill>
                <a:latin typeface="Arial"/>
                <a:ea typeface="Arial"/>
                <a:cs typeface="Arial"/>
                <a:sym typeface="Arial"/>
              </a:rPr>
              <a:t>📱</a:t>
            </a:r>
            <a:endParaRPr b="1" sz="3200">
              <a:solidFill>
                <a:srgbClr val="1E293B"/>
              </a:solidFill>
              <a:latin typeface="Arial"/>
              <a:ea typeface="Arial"/>
              <a:cs typeface="Arial"/>
              <a:sym typeface="Arial"/>
            </a:endParaRPr>
          </a:p>
          <a:p>
            <a:pPr indent="0" lvl="0" marL="0" rtl="0" algn="ctr">
              <a:spcBef>
                <a:spcPts val="600"/>
              </a:spcBef>
              <a:spcAft>
                <a:spcPts val="0"/>
              </a:spcAft>
              <a:buNone/>
            </a:pPr>
            <a:r>
              <a:rPr b="1" lang="en-US" sz="1600">
                <a:solidFill>
                  <a:srgbClr val="1E293B"/>
                </a:solidFill>
                <a:latin typeface="Arial"/>
                <a:ea typeface="Arial"/>
                <a:cs typeface="Arial"/>
                <a:sym typeface="Arial"/>
              </a:rPr>
              <a:t>スマホのアプリ利用</a:t>
            </a:r>
            <a:endParaRPr b="1" sz="1600">
              <a:solidFill>
                <a:srgbClr val="1E293B"/>
              </a:solidFill>
              <a:latin typeface="Arial"/>
              <a:ea typeface="Arial"/>
              <a:cs typeface="Arial"/>
              <a:sym typeface="Arial"/>
            </a:endParaRPr>
          </a:p>
          <a:p>
            <a:pPr indent="0" lvl="0" marL="0" rtl="0" algn="ctr">
              <a:spcBef>
                <a:spcPts val="750"/>
              </a:spcBef>
              <a:spcAft>
                <a:spcPts val="0"/>
              </a:spcAft>
              <a:buNone/>
            </a:pPr>
            <a:r>
              <a:rPr b="1" lang="en-US" sz="1100">
                <a:solidFill>
                  <a:srgbClr val="0284C7"/>
                </a:solidFill>
                <a:latin typeface="Arial"/>
                <a:ea typeface="Arial"/>
                <a:cs typeface="Arial"/>
                <a:sym typeface="Arial"/>
              </a:rPr>
              <a:t>利用契約</a:t>
            </a:r>
            <a:endParaRPr b="1" sz="1600">
              <a:solidFill>
                <a:srgbClr val="1E293B"/>
              </a:solidFill>
              <a:latin typeface="Arial"/>
              <a:ea typeface="Arial"/>
              <a:cs typeface="Arial"/>
              <a:sym typeface="Arial"/>
            </a:endParaRPr>
          </a:p>
        </p:txBody>
      </p:sp>
      <p:sp>
        <p:nvSpPr>
          <p:cNvPr id="61" name="Google Shape;61;p3"/>
          <p:cNvSpPr/>
          <p:nvPr/>
        </p:nvSpPr>
        <p:spPr>
          <a:xfrm>
            <a:off x="6096000" y="1095375"/>
            <a:ext cx="2476500" cy="1619100"/>
          </a:xfrm>
          <a:prstGeom prst="roundRect">
            <a:avLst>
              <a:gd fmla="val 9411" name="adj"/>
            </a:avLst>
          </a:prstGeom>
          <a:solidFill>
            <a:srgbClr val="FFFFFF"/>
          </a:solidFill>
          <a:ln cap="flat" cmpd="sng" w="1905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2" name="Google Shape;62;p3"/>
          <p:cNvSpPr/>
          <p:nvPr/>
        </p:nvSpPr>
        <p:spPr>
          <a:xfrm>
            <a:off x="6096000" y="1190625"/>
            <a:ext cx="2476500" cy="1428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3200">
                <a:solidFill>
                  <a:srgbClr val="1E293B"/>
                </a:solidFill>
                <a:latin typeface="Arial"/>
                <a:ea typeface="Arial"/>
                <a:cs typeface="Arial"/>
                <a:sym typeface="Arial"/>
              </a:rPr>
              <a:t>🤖</a:t>
            </a:r>
            <a:endParaRPr b="1" sz="3200">
              <a:solidFill>
                <a:srgbClr val="1E293B"/>
              </a:solidFill>
              <a:latin typeface="Arial"/>
              <a:ea typeface="Arial"/>
              <a:cs typeface="Arial"/>
              <a:sym typeface="Arial"/>
            </a:endParaRPr>
          </a:p>
          <a:p>
            <a:pPr indent="0" lvl="0" marL="0" rtl="0" algn="ctr">
              <a:spcBef>
                <a:spcPts val="600"/>
              </a:spcBef>
              <a:spcAft>
                <a:spcPts val="0"/>
              </a:spcAft>
              <a:buNone/>
            </a:pPr>
            <a:r>
              <a:rPr b="1" lang="en-US" sz="1600">
                <a:solidFill>
                  <a:srgbClr val="1E293B"/>
                </a:solidFill>
                <a:latin typeface="Arial"/>
                <a:ea typeface="Arial"/>
                <a:cs typeface="Arial"/>
                <a:sym typeface="Arial"/>
              </a:rPr>
              <a:t>画像生成AIの起動</a:t>
            </a:r>
            <a:endParaRPr b="1" sz="1600">
              <a:solidFill>
                <a:srgbClr val="1E293B"/>
              </a:solidFill>
              <a:latin typeface="Arial"/>
              <a:ea typeface="Arial"/>
              <a:cs typeface="Arial"/>
              <a:sym typeface="Arial"/>
            </a:endParaRPr>
          </a:p>
          <a:p>
            <a:pPr indent="0" lvl="0" marL="0" rtl="0" algn="ctr">
              <a:spcBef>
                <a:spcPts val="750"/>
              </a:spcBef>
              <a:spcAft>
                <a:spcPts val="0"/>
              </a:spcAft>
              <a:buNone/>
            </a:pPr>
            <a:r>
              <a:rPr b="1" lang="en-US" sz="1100">
                <a:solidFill>
                  <a:srgbClr val="0284C7"/>
                </a:solidFill>
                <a:latin typeface="Arial"/>
                <a:ea typeface="Arial"/>
                <a:cs typeface="Arial"/>
                <a:sym typeface="Arial"/>
              </a:rPr>
              <a:t>AI利用規約同意</a:t>
            </a:r>
            <a:endParaRPr b="1" sz="1600">
              <a:solidFill>
                <a:srgbClr val="1E293B"/>
              </a:solidFill>
              <a:latin typeface="Arial"/>
              <a:ea typeface="Arial"/>
              <a:cs typeface="Arial"/>
              <a:sym typeface="Arial"/>
            </a:endParaRPr>
          </a:p>
        </p:txBody>
      </p:sp>
      <p:sp>
        <p:nvSpPr>
          <p:cNvPr id="63" name="Google Shape;63;p3"/>
          <p:cNvSpPr/>
          <p:nvPr/>
        </p:nvSpPr>
        <p:spPr>
          <a:xfrm>
            <a:off x="571500" y="2952750"/>
            <a:ext cx="8001000" cy="1381200"/>
          </a:xfrm>
          <a:prstGeom prst="roundRect">
            <a:avLst>
              <a:gd fmla="val 11034" name="adj"/>
            </a:avLst>
          </a:prstGeom>
          <a:solidFill>
            <a:srgbClr val="EFF6FF"/>
          </a:solidFill>
          <a:ln cap="flat" cmpd="sng" w="19050">
            <a:solidFill>
              <a:srgbClr val="1A73E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4" name="Google Shape;64;p3"/>
          <p:cNvSpPr/>
          <p:nvPr/>
        </p:nvSpPr>
        <p:spPr>
          <a:xfrm>
            <a:off x="762000" y="3048000"/>
            <a:ext cx="7620000" cy="1190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800">
                <a:solidFill>
                  <a:srgbClr val="1D4ED8"/>
                </a:solidFill>
                <a:latin typeface="Arial"/>
                <a:ea typeface="Arial"/>
                <a:cs typeface="Arial"/>
                <a:sym typeface="Arial"/>
              </a:rPr>
              <a:t>👉 答え：全部が「契約」！皆さんは毎日すでに契約できています！</a:t>
            </a:r>
            <a:endParaRPr b="1" sz="1800">
              <a:solidFill>
                <a:srgbClr val="1D4ED8"/>
              </a:solidFill>
              <a:latin typeface="Arial"/>
              <a:ea typeface="Arial"/>
              <a:cs typeface="Arial"/>
              <a:sym typeface="Arial"/>
            </a:endParaRPr>
          </a:p>
          <a:p>
            <a:pPr indent="0" lvl="0" marL="0" rtl="0" algn="ctr">
              <a:spcBef>
                <a:spcPts val="900"/>
              </a:spcBef>
              <a:spcAft>
                <a:spcPts val="0"/>
              </a:spcAft>
              <a:buNone/>
            </a:pPr>
            <a:r>
              <a:rPr b="0" lang="en-US" sz="1300">
                <a:solidFill>
                  <a:srgbClr val="334155"/>
                </a:solidFill>
                <a:latin typeface="Arial"/>
                <a:ea typeface="Arial"/>
                <a:cs typeface="Arial"/>
                <a:sym typeface="Arial"/>
              </a:rPr>
              <a:t>★「知らなくても皆さんはちゃんと契約できている。今日はそれに名前をつけるだけ」</a:t>
            </a:r>
            <a:endParaRPr b="0" sz="1300">
              <a:solidFill>
                <a:srgbClr val="334155"/>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9" name="Shape 69"/>
        <p:cNvGrpSpPr/>
        <p:nvPr/>
      </p:nvGrpSpPr>
      <p:grpSpPr>
        <a:xfrm>
          <a:off x="0" y="0"/>
          <a:ext cx="0" cy="0"/>
          <a:chOff x="0" y="0"/>
          <a:chExt cx="0" cy="0"/>
        </a:xfrm>
      </p:grpSpPr>
      <p:sp>
        <p:nvSpPr>
          <p:cNvPr id="70" name="Google Shape;70;p4"/>
          <p:cNvSpPr/>
          <p:nvPr/>
        </p:nvSpPr>
        <p:spPr>
          <a:xfrm>
            <a:off x="571500" y="4648200"/>
            <a:ext cx="2857500" cy="266700"/>
          </a:xfrm>
          <a:prstGeom prst="rect">
            <a:avLst/>
          </a:prstGeom>
          <a:solidFill>
            <a:srgbClr val="000000">
              <a:alpha val="0"/>
            </a:srgbClr>
          </a:solidFill>
          <a:ln>
            <a:noFill/>
          </a:ln>
        </p:spPr>
        <p:txBody>
          <a:bodyPr anchorCtr="0" anchor="b" bIns="0" lIns="0" spcFirstLastPara="1" rIns="0" wrap="square" tIns="0">
            <a:noAutofit/>
          </a:bodyPr>
          <a:lstStyle/>
          <a:p>
            <a:pPr indent="0" lvl="0" marL="0" rtl="0" algn="l">
              <a:spcBef>
                <a:spcPts val="0"/>
              </a:spcBef>
              <a:spcAft>
                <a:spcPts val="0"/>
              </a:spcAft>
              <a:buNone/>
            </a:pPr>
            <a:r>
              <a:rPr b="0" lang="en-US" sz="1100">
                <a:solidFill>
                  <a:srgbClr val="94A3B8"/>
                </a:solidFill>
                <a:latin typeface="Arial"/>
                <a:ea typeface="Arial"/>
                <a:cs typeface="Arial"/>
                <a:sym typeface="Arial"/>
              </a:rPr>
              <a:t>第1部 契約の基本 ― 売買契約</a:t>
            </a:r>
            <a:endParaRPr b="0" sz="1100">
              <a:solidFill>
                <a:srgbClr val="94A3B8"/>
              </a:solidFill>
              <a:latin typeface="Arial"/>
              <a:ea typeface="Arial"/>
              <a:cs typeface="Arial"/>
              <a:sym typeface="Arial"/>
            </a:endParaRPr>
          </a:p>
        </p:txBody>
      </p:sp>
      <p:sp>
        <p:nvSpPr>
          <p:cNvPr id="71" name="Google Shape;71;p4"/>
          <p:cNvSpPr/>
          <p:nvPr/>
        </p:nvSpPr>
        <p:spPr>
          <a:xfrm>
            <a:off x="6667500" y="4648200"/>
            <a:ext cx="1905000" cy="266700"/>
          </a:xfrm>
          <a:prstGeom prst="rect">
            <a:avLst/>
          </a:prstGeom>
          <a:solidFill>
            <a:srgbClr val="000000">
              <a:alpha val="0"/>
            </a:srgbClr>
          </a:solidFill>
          <a:ln>
            <a:noFill/>
          </a:ln>
        </p:spPr>
        <p:txBody>
          <a:bodyPr anchorCtr="0" anchor="b" bIns="0" lIns="0" spcFirstLastPara="1" rIns="0" wrap="square" tIns="0">
            <a:noAutofit/>
          </a:bodyPr>
          <a:lstStyle/>
          <a:p>
            <a:pPr indent="0" lvl="0" marL="0" rtl="0" algn="r">
              <a:spcBef>
                <a:spcPts val="0"/>
              </a:spcBef>
              <a:spcAft>
                <a:spcPts val="0"/>
              </a:spcAft>
              <a:buNone/>
            </a:pPr>
            <a:r>
              <a:rPr b="0" lang="en-US" sz="1100">
                <a:solidFill>
                  <a:srgbClr val="94A3B8"/>
                </a:solidFill>
                <a:latin typeface="Arial"/>
                <a:ea typeface="Arial"/>
                <a:cs typeface="Arial"/>
                <a:sym typeface="Arial"/>
              </a:rPr>
              <a:t>4 / 30</a:t>
            </a:r>
            <a:endParaRPr b="0" sz="1100">
              <a:solidFill>
                <a:srgbClr val="94A3B8"/>
              </a:solidFill>
              <a:latin typeface="Arial"/>
              <a:ea typeface="Arial"/>
              <a:cs typeface="Arial"/>
              <a:sym typeface="Arial"/>
            </a:endParaRPr>
          </a:p>
        </p:txBody>
      </p:sp>
      <p:sp>
        <p:nvSpPr>
          <p:cNvPr id="72" name="Google Shape;72;p4"/>
          <p:cNvSpPr/>
          <p:nvPr/>
        </p:nvSpPr>
        <p:spPr>
          <a:xfrm>
            <a:off x="571500" y="381000"/>
            <a:ext cx="8001000" cy="476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US" sz="2200">
                <a:solidFill>
                  <a:srgbClr val="0F172A"/>
                </a:solidFill>
                <a:latin typeface="Arial"/>
                <a:ea typeface="Arial"/>
                <a:cs typeface="Arial"/>
                <a:sym typeface="Arial"/>
              </a:rPr>
              <a:t>契約ってなんだろう？ ―「約束」の基本ルール</a:t>
            </a:r>
            <a:endParaRPr b="0" sz="2200">
              <a:solidFill>
                <a:srgbClr val="0F172A"/>
              </a:solidFill>
              <a:latin typeface="Arial"/>
              <a:ea typeface="Arial"/>
              <a:cs typeface="Arial"/>
              <a:sym typeface="Arial"/>
            </a:endParaRPr>
          </a:p>
        </p:txBody>
      </p:sp>
      <p:sp>
        <p:nvSpPr>
          <p:cNvPr id="73" name="Google Shape;73;p4"/>
          <p:cNvSpPr/>
          <p:nvPr/>
        </p:nvSpPr>
        <p:spPr>
          <a:xfrm>
            <a:off x="571500" y="1047750"/>
            <a:ext cx="3429000" cy="1619100"/>
          </a:xfrm>
          <a:prstGeom prst="roundRect">
            <a:avLst>
              <a:gd fmla="val 9411" name="adj"/>
            </a:avLst>
          </a:prstGeom>
          <a:solidFill>
            <a:srgbClr val="FFFFFF"/>
          </a:solidFill>
          <a:ln cap="flat" cmpd="sng" w="19050">
            <a:solidFill>
              <a:srgbClr val="3B82F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4" name="Google Shape;74;p4"/>
          <p:cNvSpPr/>
          <p:nvPr/>
        </p:nvSpPr>
        <p:spPr>
          <a:xfrm>
            <a:off x="714375" y="1190625"/>
            <a:ext cx="3143400" cy="304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700">
                <a:solidFill>
                  <a:srgbClr val="0F172A"/>
                </a:solidFill>
                <a:latin typeface="Arial"/>
                <a:ea typeface="Arial"/>
                <a:cs typeface="Arial"/>
                <a:sym typeface="Arial"/>
              </a:rPr>
              <a:t>🛒 買主（お客さん）</a:t>
            </a:r>
            <a:endParaRPr b="1" sz="1700">
              <a:solidFill>
                <a:srgbClr val="0F172A"/>
              </a:solidFill>
              <a:latin typeface="Arial"/>
              <a:ea typeface="Arial"/>
              <a:cs typeface="Arial"/>
              <a:sym typeface="Arial"/>
            </a:endParaRPr>
          </a:p>
        </p:txBody>
      </p:sp>
      <p:sp>
        <p:nvSpPr>
          <p:cNvPr id="75" name="Google Shape;75;p4"/>
          <p:cNvSpPr/>
          <p:nvPr/>
        </p:nvSpPr>
        <p:spPr>
          <a:xfrm>
            <a:off x="714375" y="1524000"/>
            <a:ext cx="3143400" cy="10002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2000">
                <a:solidFill>
                  <a:srgbClr val="2563EB"/>
                </a:solidFill>
                <a:latin typeface="Arial"/>
                <a:ea typeface="Arial"/>
                <a:cs typeface="Arial"/>
                <a:sym typeface="Arial"/>
              </a:rPr>
              <a:t>「これください！」</a:t>
            </a:r>
            <a:endParaRPr b="1" sz="2000">
              <a:solidFill>
                <a:srgbClr val="2563EB"/>
              </a:solidFill>
              <a:latin typeface="Arial"/>
              <a:ea typeface="Arial"/>
              <a:cs typeface="Arial"/>
              <a:sym typeface="Arial"/>
            </a:endParaRPr>
          </a:p>
          <a:p>
            <a:pPr indent="0" lvl="0" marL="0" rtl="0" algn="ctr">
              <a:spcBef>
                <a:spcPts val="450"/>
              </a:spcBef>
              <a:spcAft>
                <a:spcPts val="0"/>
              </a:spcAft>
              <a:buNone/>
            </a:pPr>
            <a:r>
              <a:rPr b="0" lang="en-US" sz="1300">
                <a:solidFill>
                  <a:srgbClr val="64748B"/>
                </a:solidFill>
                <a:latin typeface="Arial"/>
                <a:ea typeface="Arial"/>
                <a:cs typeface="Arial"/>
                <a:sym typeface="Arial"/>
              </a:rPr>
              <a:t>（申込み：もうしこみ）</a:t>
            </a:r>
            <a:endParaRPr b="0" sz="1300">
              <a:solidFill>
                <a:srgbClr val="64748B"/>
              </a:solidFill>
              <a:latin typeface="Arial"/>
              <a:ea typeface="Arial"/>
              <a:cs typeface="Arial"/>
              <a:sym typeface="Arial"/>
            </a:endParaRPr>
          </a:p>
        </p:txBody>
      </p:sp>
      <p:sp>
        <p:nvSpPr>
          <p:cNvPr id="76" name="Google Shape;76;p4"/>
          <p:cNvSpPr/>
          <p:nvPr/>
        </p:nvSpPr>
        <p:spPr>
          <a:xfrm>
            <a:off x="4095750" y="1381125"/>
            <a:ext cx="952500" cy="952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2600">
                <a:solidFill>
                  <a:srgbClr val="2563EB"/>
                </a:solidFill>
                <a:latin typeface="Arial"/>
                <a:ea typeface="Arial"/>
                <a:cs typeface="Arial"/>
                <a:sym typeface="Arial"/>
              </a:rPr>
              <a:t>🤝</a:t>
            </a:r>
            <a:endParaRPr b="1" sz="2600">
              <a:solidFill>
                <a:srgbClr val="2563EB"/>
              </a:solidFill>
              <a:latin typeface="Arial"/>
              <a:ea typeface="Arial"/>
              <a:cs typeface="Arial"/>
              <a:sym typeface="Arial"/>
            </a:endParaRPr>
          </a:p>
          <a:p>
            <a:pPr indent="0" lvl="0" marL="0" rtl="0" algn="ctr">
              <a:spcBef>
                <a:spcPts val="150"/>
              </a:spcBef>
              <a:spcAft>
                <a:spcPts val="0"/>
              </a:spcAft>
              <a:buNone/>
            </a:pPr>
            <a:r>
              <a:rPr b="0" lang="en-US" sz="1500">
                <a:solidFill>
                  <a:srgbClr val="1D4ED8"/>
                </a:solidFill>
                <a:latin typeface="Arial"/>
                <a:ea typeface="Arial"/>
                <a:cs typeface="Arial"/>
                <a:sym typeface="Arial"/>
              </a:rPr>
              <a:t>合意！</a:t>
            </a:r>
            <a:endParaRPr b="0" sz="1500">
              <a:solidFill>
                <a:srgbClr val="1D4ED8"/>
              </a:solidFill>
              <a:latin typeface="Arial"/>
              <a:ea typeface="Arial"/>
              <a:cs typeface="Arial"/>
              <a:sym typeface="Arial"/>
            </a:endParaRPr>
          </a:p>
        </p:txBody>
      </p:sp>
      <p:sp>
        <p:nvSpPr>
          <p:cNvPr id="77" name="Google Shape;77;p4"/>
          <p:cNvSpPr/>
          <p:nvPr/>
        </p:nvSpPr>
        <p:spPr>
          <a:xfrm>
            <a:off x="5143500" y="1047750"/>
            <a:ext cx="3429000" cy="1619100"/>
          </a:xfrm>
          <a:prstGeom prst="roundRect">
            <a:avLst>
              <a:gd fmla="val 9411" name="adj"/>
            </a:avLst>
          </a:prstGeom>
          <a:solidFill>
            <a:srgbClr val="FFFFFF"/>
          </a:solidFill>
          <a:ln cap="flat" cmpd="sng" w="19050">
            <a:solidFill>
              <a:srgbClr val="3B82F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8" name="Google Shape;78;p4"/>
          <p:cNvSpPr/>
          <p:nvPr/>
        </p:nvSpPr>
        <p:spPr>
          <a:xfrm>
            <a:off x="5286375" y="1190625"/>
            <a:ext cx="3143400" cy="304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700">
                <a:solidFill>
                  <a:srgbClr val="0F172A"/>
                </a:solidFill>
                <a:latin typeface="Arial"/>
                <a:ea typeface="Arial"/>
                <a:cs typeface="Arial"/>
                <a:sym typeface="Arial"/>
              </a:rPr>
              <a:t>🏪 売主（お店）</a:t>
            </a:r>
            <a:endParaRPr b="1" sz="1700">
              <a:solidFill>
                <a:srgbClr val="0F172A"/>
              </a:solidFill>
              <a:latin typeface="Arial"/>
              <a:ea typeface="Arial"/>
              <a:cs typeface="Arial"/>
              <a:sym typeface="Arial"/>
            </a:endParaRPr>
          </a:p>
        </p:txBody>
      </p:sp>
      <p:sp>
        <p:nvSpPr>
          <p:cNvPr id="79" name="Google Shape;79;p4"/>
          <p:cNvSpPr/>
          <p:nvPr/>
        </p:nvSpPr>
        <p:spPr>
          <a:xfrm>
            <a:off x="5286375" y="1524000"/>
            <a:ext cx="3143400" cy="10002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2000">
                <a:solidFill>
                  <a:srgbClr val="2563EB"/>
                </a:solidFill>
                <a:latin typeface="Arial"/>
                <a:ea typeface="Arial"/>
                <a:cs typeface="Arial"/>
                <a:sym typeface="Arial"/>
              </a:rPr>
              <a:t>「はい、どうぞ！」</a:t>
            </a:r>
            <a:endParaRPr b="1" sz="2000">
              <a:solidFill>
                <a:srgbClr val="2563EB"/>
              </a:solidFill>
              <a:latin typeface="Arial"/>
              <a:ea typeface="Arial"/>
              <a:cs typeface="Arial"/>
              <a:sym typeface="Arial"/>
            </a:endParaRPr>
          </a:p>
          <a:p>
            <a:pPr indent="0" lvl="0" marL="0" rtl="0" algn="ctr">
              <a:spcBef>
                <a:spcPts val="450"/>
              </a:spcBef>
              <a:spcAft>
                <a:spcPts val="0"/>
              </a:spcAft>
              <a:buNone/>
            </a:pPr>
            <a:r>
              <a:rPr b="0" lang="en-US" sz="1300">
                <a:solidFill>
                  <a:srgbClr val="64748B"/>
                </a:solidFill>
                <a:latin typeface="Arial"/>
                <a:ea typeface="Arial"/>
                <a:cs typeface="Arial"/>
                <a:sym typeface="Arial"/>
              </a:rPr>
              <a:t>（承諾：しょうだく）</a:t>
            </a:r>
            <a:endParaRPr b="0" sz="1300">
              <a:solidFill>
                <a:srgbClr val="64748B"/>
              </a:solidFill>
              <a:latin typeface="Arial"/>
              <a:ea typeface="Arial"/>
              <a:cs typeface="Arial"/>
              <a:sym typeface="Arial"/>
            </a:endParaRPr>
          </a:p>
        </p:txBody>
      </p:sp>
      <p:sp>
        <p:nvSpPr>
          <p:cNvPr id="80" name="Google Shape;80;p4"/>
          <p:cNvSpPr/>
          <p:nvPr/>
        </p:nvSpPr>
        <p:spPr>
          <a:xfrm>
            <a:off x="571500" y="2905125"/>
            <a:ext cx="8001000" cy="1476300"/>
          </a:xfrm>
          <a:prstGeom prst="roundRect">
            <a:avLst>
              <a:gd fmla="val 10322" name="adj"/>
            </a:avLst>
          </a:prstGeom>
          <a:solidFill>
            <a:srgbClr val="EFF6FF"/>
          </a:solidFill>
          <a:ln cap="flat" cmpd="sng" w="19050">
            <a:solidFill>
              <a:srgbClr val="1A73E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1" name="Google Shape;81;p4"/>
          <p:cNvSpPr/>
          <p:nvPr/>
        </p:nvSpPr>
        <p:spPr>
          <a:xfrm>
            <a:off x="762000" y="3048000"/>
            <a:ext cx="7620000" cy="342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700">
                <a:solidFill>
                  <a:srgbClr val="1D4ED8"/>
                </a:solidFill>
                <a:latin typeface="Arial"/>
                <a:ea typeface="Arial"/>
                <a:cs typeface="Arial"/>
                <a:sym typeface="Arial"/>
              </a:rPr>
              <a:t>💡 書面（契約書）がなくても口頭で成立する！ ＝「諾成契約（だくせい）」</a:t>
            </a:r>
            <a:endParaRPr b="1" sz="1700">
              <a:solidFill>
                <a:srgbClr val="1D4ED8"/>
              </a:solidFill>
              <a:latin typeface="Arial"/>
              <a:ea typeface="Arial"/>
              <a:cs typeface="Arial"/>
              <a:sym typeface="Arial"/>
            </a:endParaRPr>
          </a:p>
        </p:txBody>
      </p:sp>
      <p:sp>
        <p:nvSpPr>
          <p:cNvPr id="82" name="Google Shape;82;p4"/>
          <p:cNvSpPr/>
          <p:nvPr/>
        </p:nvSpPr>
        <p:spPr>
          <a:xfrm>
            <a:off x="762000" y="3448050"/>
            <a:ext cx="7620000" cy="809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300">
                <a:solidFill>
                  <a:srgbClr val="334155"/>
                </a:solidFill>
                <a:latin typeface="Arial"/>
                <a:ea typeface="Arial"/>
                <a:cs typeface="Arial"/>
                <a:sym typeface="Arial"/>
              </a:rPr>
              <a:t>・ハンコや契約書がなくても、お互いの気持ちが合致した瞬間に約束成立！</a:t>
            </a:r>
            <a:endParaRPr b="0" sz="1300">
              <a:solidFill>
                <a:srgbClr val="334155"/>
              </a:solidFill>
              <a:latin typeface="Arial"/>
              <a:ea typeface="Arial"/>
              <a:cs typeface="Arial"/>
              <a:sym typeface="Arial"/>
            </a:endParaRPr>
          </a:p>
          <a:p>
            <a:pPr indent="0" lvl="0" marL="0" rtl="0" algn="ctr">
              <a:spcBef>
                <a:spcPts val="450"/>
              </a:spcBef>
              <a:spcAft>
                <a:spcPts val="0"/>
              </a:spcAft>
              <a:buNone/>
            </a:pPr>
            <a:r>
              <a:rPr b="0" lang="en-US" sz="1300">
                <a:solidFill>
                  <a:srgbClr val="334155"/>
                </a:solidFill>
                <a:latin typeface="Arial"/>
                <a:ea typeface="Arial"/>
                <a:cs typeface="Arial"/>
                <a:sym typeface="Arial"/>
              </a:rPr>
              <a:t>・レシートは契約書ではなく、「確かにお金を支払いました」という後からの証拠です。</a:t>
            </a:r>
            <a:endParaRPr b="0" sz="1300">
              <a:solidFill>
                <a:srgbClr val="334155"/>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7" name="Shape 87"/>
        <p:cNvGrpSpPr/>
        <p:nvPr/>
      </p:nvGrpSpPr>
      <p:grpSpPr>
        <a:xfrm>
          <a:off x="0" y="0"/>
          <a:ext cx="0" cy="0"/>
          <a:chOff x="0" y="0"/>
          <a:chExt cx="0" cy="0"/>
        </a:xfrm>
      </p:grpSpPr>
      <p:sp>
        <p:nvSpPr>
          <p:cNvPr id="88" name="Google Shape;88;p5"/>
          <p:cNvSpPr/>
          <p:nvPr/>
        </p:nvSpPr>
        <p:spPr>
          <a:xfrm>
            <a:off x="571500" y="4667250"/>
            <a:ext cx="47625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US" sz="1100">
                <a:solidFill>
                  <a:srgbClr val="64748B"/>
                </a:solidFill>
                <a:latin typeface="Arial"/>
                <a:ea typeface="Arial"/>
                <a:cs typeface="Arial"/>
                <a:sym typeface="Arial"/>
              </a:rPr>
              <a:t>第1部 契約の基本 ― 売買契約</a:t>
            </a:r>
            <a:endParaRPr b="0" sz="1100">
              <a:solidFill>
                <a:srgbClr val="64748B"/>
              </a:solidFill>
              <a:latin typeface="Arial"/>
              <a:ea typeface="Arial"/>
              <a:cs typeface="Arial"/>
              <a:sym typeface="Arial"/>
            </a:endParaRPr>
          </a:p>
        </p:txBody>
      </p:sp>
      <p:sp>
        <p:nvSpPr>
          <p:cNvPr id="89" name="Google Shape;89;p5"/>
          <p:cNvSpPr/>
          <p:nvPr/>
        </p:nvSpPr>
        <p:spPr>
          <a:xfrm>
            <a:off x="6667500" y="4667250"/>
            <a:ext cx="19050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r">
              <a:spcBef>
                <a:spcPts val="0"/>
              </a:spcBef>
              <a:spcAft>
                <a:spcPts val="0"/>
              </a:spcAft>
              <a:buNone/>
            </a:pPr>
            <a:r>
              <a:rPr b="0" lang="en-US" sz="1100">
                <a:solidFill>
                  <a:srgbClr val="64748B"/>
                </a:solidFill>
                <a:latin typeface="Arial"/>
                <a:ea typeface="Arial"/>
                <a:cs typeface="Arial"/>
                <a:sym typeface="Arial"/>
              </a:rPr>
              <a:t>5 / 30</a:t>
            </a:r>
            <a:endParaRPr b="0" sz="1100">
              <a:solidFill>
                <a:srgbClr val="64748B"/>
              </a:solidFill>
              <a:latin typeface="Arial"/>
              <a:ea typeface="Arial"/>
              <a:cs typeface="Arial"/>
              <a:sym typeface="Arial"/>
            </a:endParaRPr>
          </a:p>
        </p:txBody>
      </p:sp>
      <p:sp>
        <p:nvSpPr>
          <p:cNvPr id="90" name="Google Shape;90;p5"/>
          <p:cNvSpPr/>
          <p:nvPr/>
        </p:nvSpPr>
        <p:spPr>
          <a:xfrm>
            <a:off x="571500" y="361950"/>
            <a:ext cx="8001000" cy="533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US" sz="2400">
                <a:solidFill>
                  <a:srgbClr val="0F172A"/>
                </a:solidFill>
                <a:latin typeface="Arial"/>
                <a:ea typeface="Arial"/>
                <a:cs typeface="Arial"/>
                <a:sym typeface="Arial"/>
              </a:rPr>
              <a:t>売買契約の3つの性質（3大タグ）</a:t>
            </a:r>
            <a:endParaRPr b="0" sz="2400">
              <a:solidFill>
                <a:srgbClr val="0F172A"/>
              </a:solidFill>
              <a:latin typeface="Arial"/>
              <a:ea typeface="Arial"/>
              <a:cs typeface="Arial"/>
              <a:sym typeface="Arial"/>
            </a:endParaRPr>
          </a:p>
        </p:txBody>
      </p:sp>
      <p:grpSp>
        <p:nvGrpSpPr>
          <p:cNvPr id="91" name="Google Shape;91;p5"/>
          <p:cNvGrpSpPr/>
          <p:nvPr/>
        </p:nvGrpSpPr>
        <p:grpSpPr>
          <a:xfrm>
            <a:off x="571500" y="1047750"/>
            <a:ext cx="2476500" cy="3381300"/>
            <a:chOff x="0" y="0"/>
            <a:chExt cx="2476500" cy="3381300"/>
          </a:xfrm>
        </p:grpSpPr>
        <p:sp>
          <p:nvSpPr>
            <p:cNvPr id="92" name="Google Shape;92;p5"/>
            <p:cNvSpPr/>
            <p:nvPr/>
          </p:nvSpPr>
          <p:spPr>
            <a:xfrm>
              <a:off x="0" y="0"/>
              <a:ext cx="2476500" cy="3381300"/>
            </a:xfrm>
            <a:prstGeom prst="roundRect">
              <a:avLst>
                <a:gd fmla="val 6153" name="adj"/>
              </a:avLst>
            </a:prstGeom>
            <a:solidFill>
              <a:srgbClr val="FFFFFF"/>
            </a:solidFill>
            <a:ln cap="flat" cmpd="sng" w="14300">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3" name="Google Shape;93;p5"/>
            <p:cNvSpPr/>
            <p:nvPr/>
          </p:nvSpPr>
          <p:spPr>
            <a:xfrm>
              <a:off x="0" y="0"/>
              <a:ext cx="2476500" cy="76200"/>
            </a:xfrm>
            <a:prstGeom prst="roundRect">
              <a:avLst>
                <a:gd fmla="val 5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4" name="Google Shape;94;p5"/>
            <p:cNvSpPr/>
            <p:nvPr/>
          </p:nvSpPr>
          <p:spPr>
            <a:xfrm>
              <a:off x="0" y="38100"/>
              <a:ext cx="2476500" cy="38100"/>
            </a:xfrm>
            <a:prstGeom prst="rect">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5" name="Google Shape;95;p5"/>
            <p:cNvSpPr/>
            <p:nvPr/>
          </p:nvSpPr>
          <p:spPr>
            <a:xfrm>
              <a:off x="171450" y="209550"/>
              <a:ext cx="457200" cy="228600"/>
            </a:xfrm>
            <a:prstGeom prst="roundRect">
              <a:avLst>
                <a:gd fmla="val 50000" name="adj"/>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6" name="Google Shape;96;p5"/>
            <p:cNvSpPr txBox="1"/>
            <p:nvPr/>
          </p:nvSpPr>
          <p:spPr>
            <a:xfrm>
              <a:off x="171450" y="209550"/>
              <a:ext cx="4572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000">
                  <a:solidFill>
                    <a:srgbClr val="2563EB"/>
                  </a:solidFill>
                  <a:latin typeface="Arial"/>
                  <a:ea typeface="Arial"/>
                  <a:cs typeface="Arial"/>
                  <a:sym typeface="Arial"/>
                </a:rPr>
                <a:t>01</a:t>
              </a:r>
              <a:endParaRPr b="0" sz="1000">
                <a:solidFill>
                  <a:srgbClr val="2563EB"/>
                </a:solidFill>
                <a:latin typeface="Arial"/>
                <a:ea typeface="Arial"/>
                <a:cs typeface="Arial"/>
                <a:sym typeface="Arial"/>
              </a:endParaRPr>
            </a:p>
          </p:txBody>
        </p:sp>
        <p:sp>
          <p:nvSpPr>
            <p:cNvPr id="97" name="Google Shape;97;p5"/>
            <p:cNvSpPr/>
            <p:nvPr/>
          </p:nvSpPr>
          <p:spPr>
            <a:xfrm>
              <a:off x="971550" y="323850"/>
              <a:ext cx="533400" cy="533400"/>
            </a:xfrm>
            <a:prstGeom prst="ellipse">
              <a:avLst/>
            </a:prstGeom>
            <a:solidFill>
              <a:srgbClr val="F0F6FF"/>
            </a:solidFill>
            <a:ln cap="flat" cmpd="sng" w="9525">
              <a:solidFill>
                <a:srgbClr val="DBEF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8" name="Google Shape;98;p5"/>
            <p:cNvSpPr txBox="1"/>
            <p:nvPr/>
          </p:nvSpPr>
          <p:spPr>
            <a:xfrm>
              <a:off x="971550" y="361823"/>
              <a:ext cx="533400" cy="533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600">
                  <a:solidFill>
                    <a:srgbClr val="2563EB"/>
                  </a:solidFill>
                  <a:latin typeface="Material Icons"/>
                  <a:ea typeface="Material Icons"/>
                  <a:cs typeface="Material Icons"/>
                  <a:sym typeface="Material Icons"/>
                </a:rPr>
                <a:t>balance</a:t>
              </a:r>
              <a:endParaRPr sz="2600">
                <a:solidFill>
                  <a:srgbClr val="2563EB"/>
                </a:solidFill>
                <a:latin typeface="Material Icons"/>
                <a:ea typeface="Material Icons"/>
                <a:cs typeface="Material Icons"/>
                <a:sym typeface="Material Icons"/>
              </a:endParaRPr>
            </a:p>
          </p:txBody>
        </p:sp>
        <p:sp>
          <p:nvSpPr>
            <p:cNvPr id="99" name="Google Shape;99;p5"/>
            <p:cNvSpPr txBox="1"/>
            <p:nvPr/>
          </p:nvSpPr>
          <p:spPr>
            <a:xfrm>
              <a:off x="142875" y="952500"/>
              <a:ext cx="2190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800">
                  <a:solidFill>
                    <a:srgbClr val="1E293B"/>
                  </a:solidFill>
                  <a:latin typeface="Arial"/>
                  <a:ea typeface="Arial"/>
                  <a:cs typeface="Arial"/>
                  <a:sym typeface="Arial"/>
                </a:rPr>
                <a:t>双務</a:t>
              </a:r>
              <a:r>
                <a:rPr b="0" lang="en-US" sz="1200">
                  <a:solidFill>
                    <a:srgbClr val="64748B"/>
                  </a:solidFill>
                  <a:latin typeface="Arial"/>
                  <a:ea typeface="Arial"/>
                  <a:cs typeface="Arial"/>
                  <a:sym typeface="Arial"/>
                </a:rPr>
                <a:t>（そうむ）</a:t>
              </a:r>
              <a:endParaRPr b="0" sz="1800">
                <a:solidFill>
                  <a:srgbClr val="1E293B"/>
                </a:solidFill>
                <a:latin typeface="Arial"/>
                <a:ea typeface="Arial"/>
                <a:cs typeface="Arial"/>
                <a:sym typeface="Arial"/>
              </a:endParaRPr>
            </a:p>
          </p:txBody>
        </p:sp>
        <p:sp>
          <p:nvSpPr>
            <p:cNvPr id="100" name="Google Shape;100;p5"/>
            <p:cNvSpPr/>
            <p:nvPr/>
          </p:nvSpPr>
          <p:spPr>
            <a:xfrm>
              <a:off x="190500" y="1352550"/>
              <a:ext cx="2095500" cy="342900"/>
            </a:xfrm>
            <a:prstGeom prst="roundRect">
              <a:avLst>
                <a:gd fmla="val 22222" name="adj"/>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1" name="Google Shape;101;p5"/>
            <p:cNvSpPr txBox="1"/>
            <p:nvPr/>
          </p:nvSpPr>
          <p:spPr>
            <a:xfrm>
              <a:off x="190500" y="1352550"/>
              <a:ext cx="20955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300">
                  <a:solidFill>
                    <a:srgbClr val="1D4ED8"/>
                  </a:solidFill>
                  <a:latin typeface="Arial"/>
                  <a:ea typeface="Arial"/>
                  <a:cs typeface="Arial"/>
                  <a:sym typeface="Arial"/>
                </a:rPr>
                <a:t>お互いに義務がある</a:t>
              </a:r>
              <a:endParaRPr b="1" sz="1300">
                <a:solidFill>
                  <a:srgbClr val="1D4ED8"/>
                </a:solidFill>
                <a:latin typeface="Arial"/>
                <a:ea typeface="Arial"/>
                <a:cs typeface="Arial"/>
                <a:sym typeface="Arial"/>
              </a:endParaRPr>
            </a:p>
          </p:txBody>
        </p:sp>
        <p:sp>
          <p:nvSpPr>
            <p:cNvPr id="102" name="Google Shape;102;p5"/>
            <p:cNvSpPr txBox="1"/>
            <p:nvPr/>
          </p:nvSpPr>
          <p:spPr>
            <a:xfrm>
              <a:off x="190500" y="1809750"/>
              <a:ext cx="2095500" cy="1381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0F172A"/>
                  </a:solidFill>
                  <a:highlight>
                    <a:srgbClr val="F8FAFC"/>
                  </a:highlight>
                  <a:latin typeface="Arial"/>
                  <a:ea typeface="Arial"/>
                  <a:cs typeface="Arial"/>
                  <a:sym typeface="Arial"/>
                </a:rPr>
                <a:t>売主：</a:t>
              </a:r>
              <a:r>
                <a:rPr b="0" lang="en-US" sz="1100">
                  <a:solidFill>
                    <a:srgbClr val="0F172A"/>
                  </a:solidFill>
                  <a:highlight>
                    <a:srgbClr val="F8FAFC"/>
                  </a:highlight>
                  <a:latin typeface="Arial"/>
                  <a:ea typeface="Arial"/>
                  <a:cs typeface="Arial"/>
                  <a:sym typeface="Arial"/>
                </a:rPr>
                <a:t>商品を渡す義務 📦</a:t>
              </a:r>
              <a:endParaRPr b="1" sz="1100">
                <a:solidFill>
                  <a:srgbClr val="0F172A"/>
                </a:solidFill>
                <a:highlight>
                  <a:srgbClr val="F8FAFC"/>
                </a:highlight>
                <a:latin typeface="Arial"/>
                <a:ea typeface="Arial"/>
                <a:cs typeface="Arial"/>
                <a:sym typeface="Arial"/>
              </a:endParaRPr>
            </a:p>
            <a:p>
              <a:pPr indent="0" lvl="0" marL="0" rtl="0" algn="l">
                <a:spcBef>
                  <a:spcPts val="600"/>
                </a:spcBef>
                <a:spcAft>
                  <a:spcPts val="0"/>
                </a:spcAft>
                <a:buNone/>
              </a:pPr>
              <a:r>
                <a:rPr b="1" lang="en-US" sz="1100">
                  <a:solidFill>
                    <a:srgbClr val="0F172A"/>
                  </a:solidFill>
                  <a:highlight>
                    <a:srgbClr val="F8FAFC"/>
                  </a:highlight>
                  <a:latin typeface="Arial"/>
                  <a:ea typeface="Arial"/>
                  <a:cs typeface="Arial"/>
                  <a:sym typeface="Arial"/>
                </a:rPr>
                <a:t>買主：</a:t>
              </a:r>
              <a:r>
                <a:rPr b="0" lang="en-US" sz="1100">
                  <a:solidFill>
                    <a:srgbClr val="0F172A"/>
                  </a:solidFill>
                  <a:highlight>
                    <a:srgbClr val="F8FAFC"/>
                  </a:highlight>
                  <a:latin typeface="Arial"/>
                  <a:ea typeface="Arial"/>
                  <a:cs typeface="Arial"/>
                  <a:sym typeface="Arial"/>
                </a:rPr>
                <a:t>代金を払う義務 💴</a:t>
              </a:r>
              <a:endParaRPr b="1" sz="1100">
                <a:solidFill>
                  <a:srgbClr val="0F172A"/>
                </a:solidFill>
                <a:highlight>
                  <a:srgbClr val="F8FAFC"/>
                </a:highlight>
                <a:latin typeface="Arial"/>
                <a:ea typeface="Arial"/>
                <a:cs typeface="Arial"/>
                <a:sym typeface="Arial"/>
              </a:endParaRPr>
            </a:p>
            <a:p>
              <a:pPr indent="0" lvl="0" marL="0" rtl="0" algn="ctr">
                <a:spcBef>
                  <a:spcPts val="600"/>
                </a:spcBef>
                <a:spcAft>
                  <a:spcPts val="0"/>
                </a:spcAft>
                <a:buNone/>
              </a:pPr>
              <a:r>
                <a:rPr b="0" lang="en-US" sz="1000">
                  <a:solidFill>
                    <a:srgbClr val="64748B"/>
                  </a:solidFill>
                  <a:latin typeface="Arial"/>
                  <a:ea typeface="Arial"/>
                  <a:cs typeface="Arial"/>
                  <a:sym typeface="Arial"/>
                </a:rPr>
                <a:t>（片方だけじゃない！）</a:t>
              </a:r>
              <a:endParaRPr b="0" sz="1000">
                <a:solidFill>
                  <a:srgbClr val="64748B"/>
                </a:solidFill>
                <a:latin typeface="Arial"/>
                <a:ea typeface="Arial"/>
                <a:cs typeface="Arial"/>
                <a:sym typeface="Arial"/>
              </a:endParaRPr>
            </a:p>
          </p:txBody>
        </p:sp>
      </p:grpSp>
      <p:grpSp>
        <p:nvGrpSpPr>
          <p:cNvPr id="103" name="Google Shape;103;p5"/>
          <p:cNvGrpSpPr/>
          <p:nvPr/>
        </p:nvGrpSpPr>
        <p:grpSpPr>
          <a:xfrm>
            <a:off x="3333750" y="1047750"/>
            <a:ext cx="2476500" cy="3381300"/>
            <a:chOff x="0" y="0"/>
            <a:chExt cx="2476500" cy="3381300"/>
          </a:xfrm>
        </p:grpSpPr>
        <p:sp>
          <p:nvSpPr>
            <p:cNvPr id="104" name="Google Shape;104;p5"/>
            <p:cNvSpPr/>
            <p:nvPr/>
          </p:nvSpPr>
          <p:spPr>
            <a:xfrm>
              <a:off x="0" y="0"/>
              <a:ext cx="2476500" cy="3381300"/>
            </a:xfrm>
            <a:prstGeom prst="roundRect">
              <a:avLst>
                <a:gd fmla="val 6153" name="adj"/>
              </a:avLst>
            </a:prstGeom>
            <a:solidFill>
              <a:srgbClr val="FFFFFF"/>
            </a:solidFill>
            <a:ln cap="flat" cmpd="sng" w="14300">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5" name="Google Shape;105;p5"/>
            <p:cNvSpPr/>
            <p:nvPr/>
          </p:nvSpPr>
          <p:spPr>
            <a:xfrm>
              <a:off x="0" y="0"/>
              <a:ext cx="2476500" cy="76200"/>
            </a:xfrm>
            <a:prstGeom prst="roundRect">
              <a:avLst>
                <a:gd fmla="val 50000" name="adj"/>
              </a:avLst>
            </a:pr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6" name="Google Shape;106;p5"/>
            <p:cNvSpPr/>
            <p:nvPr/>
          </p:nvSpPr>
          <p:spPr>
            <a:xfrm>
              <a:off x="0" y="38100"/>
              <a:ext cx="2476500" cy="38100"/>
            </a:xfrm>
            <a:prstGeom prst="rect">
              <a:avLst/>
            </a:pr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7" name="Google Shape;107;p5"/>
            <p:cNvSpPr/>
            <p:nvPr/>
          </p:nvSpPr>
          <p:spPr>
            <a:xfrm>
              <a:off x="171450" y="209550"/>
              <a:ext cx="457200" cy="228600"/>
            </a:xfrm>
            <a:prstGeom prst="roundRect">
              <a:avLst>
                <a:gd fmla="val 50000" name="adj"/>
              </a:avLst>
            </a:prstGeom>
            <a:solidFill>
              <a:srgbClr val="E0F2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8" name="Google Shape;108;p5"/>
            <p:cNvSpPr txBox="1"/>
            <p:nvPr/>
          </p:nvSpPr>
          <p:spPr>
            <a:xfrm>
              <a:off x="171450" y="209550"/>
              <a:ext cx="4572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000">
                  <a:solidFill>
                    <a:srgbClr val="0284C7"/>
                  </a:solidFill>
                  <a:latin typeface="Arial"/>
                  <a:ea typeface="Arial"/>
                  <a:cs typeface="Arial"/>
                  <a:sym typeface="Arial"/>
                </a:rPr>
                <a:t>02</a:t>
              </a:r>
              <a:endParaRPr b="0" sz="1000">
                <a:solidFill>
                  <a:srgbClr val="0284C7"/>
                </a:solidFill>
                <a:latin typeface="Arial"/>
                <a:ea typeface="Arial"/>
                <a:cs typeface="Arial"/>
                <a:sym typeface="Arial"/>
              </a:endParaRPr>
            </a:p>
          </p:txBody>
        </p:sp>
        <p:sp>
          <p:nvSpPr>
            <p:cNvPr id="109" name="Google Shape;109;p5"/>
            <p:cNvSpPr/>
            <p:nvPr/>
          </p:nvSpPr>
          <p:spPr>
            <a:xfrm>
              <a:off x="971550" y="323850"/>
              <a:ext cx="533400" cy="533400"/>
            </a:xfrm>
            <a:prstGeom prst="ellipse">
              <a:avLst/>
            </a:prstGeom>
            <a:solidFill>
              <a:srgbClr val="F0F9FF"/>
            </a:solidFill>
            <a:ln cap="flat" cmpd="sng" w="9525">
              <a:solidFill>
                <a:srgbClr val="E0F2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0" name="Google Shape;110;p5"/>
            <p:cNvSpPr txBox="1"/>
            <p:nvPr/>
          </p:nvSpPr>
          <p:spPr>
            <a:xfrm>
              <a:off x="971550" y="361823"/>
              <a:ext cx="533400" cy="533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600">
                  <a:solidFill>
                    <a:srgbClr val="0284C7"/>
                  </a:solidFill>
                  <a:latin typeface="Material Icons"/>
                  <a:ea typeface="Material Icons"/>
                  <a:cs typeface="Material Icons"/>
                  <a:sym typeface="Material Icons"/>
                </a:rPr>
                <a:t>payments</a:t>
              </a:r>
              <a:endParaRPr sz="2600">
                <a:solidFill>
                  <a:srgbClr val="0284C7"/>
                </a:solidFill>
                <a:latin typeface="Material Icons"/>
                <a:ea typeface="Material Icons"/>
                <a:cs typeface="Material Icons"/>
                <a:sym typeface="Material Icons"/>
              </a:endParaRPr>
            </a:p>
          </p:txBody>
        </p:sp>
        <p:sp>
          <p:nvSpPr>
            <p:cNvPr id="111" name="Google Shape;111;p5"/>
            <p:cNvSpPr txBox="1"/>
            <p:nvPr/>
          </p:nvSpPr>
          <p:spPr>
            <a:xfrm>
              <a:off x="142875" y="952500"/>
              <a:ext cx="2190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800">
                  <a:solidFill>
                    <a:srgbClr val="1E293B"/>
                  </a:solidFill>
                  <a:latin typeface="Arial"/>
                  <a:ea typeface="Arial"/>
                  <a:cs typeface="Arial"/>
                  <a:sym typeface="Arial"/>
                </a:rPr>
                <a:t>有償</a:t>
              </a:r>
              <a:r>
                <a:rPr b="0" lang="en-US" sz="1200">
                  <a:solidFill>
                    <a:srgbClr val="64748B"/>
                  </a:solidFill>
                  <a:latin typeface="Arial"/>
                  <a:ea typeface="Arial"/>
                  <a:cs typeface="Arial"/>
                  <a:sym typeface="Arial"/>
                </a:rPr>
                <a:t>（ゆうしょう）</a:t>
              </a:r>
              <a:endParaRPr b="0" sz="1800">
                <a:solidFill>
                  <a:srgbClr val="1E293B"/>
                </a:solidFill>
                <a:latin typeface="Arial"/>
                <a:ea typeface="Arial"/>
                <a:cs typeface="Arial"/>
                <a:sym typeface="Arial"/>
              </a:endParaRPr>
            </a:p>
          </p:txBody>
        </p:sp>
        <p:sp>
          <p:nvSpPr>
            <p:cNvPr id="112" name="Google Shape;112;p5"/>
            <p:cNvSpPr/>
            <p:nvPr/>
          </p:nvSpPr>
          <p:spPr>
            <a:xfrm>
              <a:off x="190500" y="1352550"/>
              <a:ext cx="2095500" cy="342900"/>
            </a:xfrm>
            <a:prstGeom prst="roundRect">
              <a:avLst>
                <a:gd fmla="val 22222" name="adj"/>
              </a:avLst>
            </a:prstGeom>
            <a:solidFill>
              <a:srgbClr val="E0F2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3" name="Google Shape;113;p5"/>
            <p:cNvSpPr txBox="1"/>
            <p:nvPr/>
          </p:nvSpPr>
          <p:spPr>
            <a:xfrm>
              <a:off x="190500" y="1352550"/>
              <a:ext cx="20955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300">
                  <a:solidFill>
                    <a:srgbClr val="0369A1"/>
                  </a:solidFill>
                  <a:latin typeface="Arial"/>
                  <a:ea typeface="Arial"/>
                  <a:cs typeface="Arial"/>
                  <a:sym typeface="Arial"/>
                </a:rPr>
                <a:t>対価がある</a:t>
              </a:r>
              <a:endParaRPr b="1" sz="1300">
                <a:solidFill>
                  <a:srgbClr val="0369A1"/>
                </a:solidFill>
                <a:latin typeface="Arial"/>
                <a:ea typeface="Arial"/>
                <a:cs typeface="Arial"/>
                <a:sym typeface="Arial"/>
              </a:endParaRPr>
            </a:p>
          </p:txBody>
        </p:sp>
        <p:sp>
          <p:nvSpPr>
            <p:cNvPr id="114" name="Google Shape;114;p5"/>
            <p:cNvSpPr txBox="1"/>
            <p:nvPr/>
          </p:nvSpPr>
          <p:spPr>
            <a:xfrm>
              <a:off x="190500" y="1809750"/>
              <a:ext cx="2095500" cy="1381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050">
                  <a:solidFill>
                    <a:srgbClr val="334155"/>
                  </a:solidFill>
                  <a:highlight>
                    <a:srgbClr val="F8FAFC"/>
                  </a:highlight>
                  <a:latin typeface="Arial"/>
                  <a:ea typeface="Arial"/>
                  <a:cs typeface="Arial"/>
                  <a:sym typeface="Arial"/>
                </a:rPr>
                <a:t>タダであげるのではなく</a:t>
              </a:r>
              <a:endParaRPr b="0" sz="1050">
                <a:solidFill>
                  <a:srgbClr val="334155"/>
                </a:solidFill>
                <a:highlight>
                  <a:srgbClr val="F8FAFC"/>
                </a:highlight>
                <a:latin typeface="Arial"/>
                <a:ea typeface="Arial"/>
                <a:cs typeface="Arial"/>
                <a:sym typeface="Arial"/>
              </a:endParaRPr>
            </a:p>
            <a:p>
              <a:pPr indent="0" lvl="0" marL="0" rtl="0" algn="l">
                <a:spcBef>
                  <a:spcPts val="300"/>
                </a:spcBef>
                <a:spcAft>
                  <a:spcPts val="0"/>
                </a:spcAft>
                <a:buNone/>
              </a:pPr>
              <a:r>
                <a:rPr b="1" lang="en-US" sz="1100">
                  <a:solidFill>
                    <a:srgbClr val="0369A1"/>
                  </a:solidFill>
                  <a:highlight>
                    <a:srgbClr val="F8FAFC"/>
                  </a:highlight>
                  <a:latin typeface="Arial"/>
                  <a:ea typeface="Arial"/>
                  <a:cs typeface="Arial"/>
                  <a:sym typeface="Arial"/>
                </a:rPr>
                <a:t>お金や物という「見返り」</a:t>
              </a:r>
              <a:endParaRPr b="1" sz="1100">
                <a:solidFill>
                  <a:srgbClr val="0369A1"/>
                </a:solidFill>
                <a:highlight>
                  <a:srgbClr val="F8FAFC"/>
                </a:highlight>
                <a:latin typeface="Arial"/>
                <a:ea typeface="Arial"/>
                <a:cs typeface="Arial"/>
                <a:sym typeface="Arial"/>
              </a:endParaRPr>
            </a:p>
            <a:p>
              <a:pPr indent="0" lvl="0" marL="0" rtl="0" algn="l">
                <a:spcBef>
                  <a:spcPts val="300"/>
                </a:spcBef>
                <a:spcAft>
                  <a:spcPts val="600"/>
                </a:spcAft>
                <a:buNone/>
              </a:pPr>
              <a:r>
                <a:rPr b="0" lang="en-US" sz="1050">
                  <a:solidFill>
                    <a:srgbClr val="334155"/>
                  </a:solidFill>
                  <a:highlight>
                    <a:srgbClr val="F8FAFC"/>
                  </a:highlight>
                  <a:latin typeface="Arial"/>
                  <a:ea typeface="Arial"/>
                  <a:cs typeface="Arial"/>
                  <a:sym typeface="Arial"/>
                </a:rPr>
                <a:t>をお互いに交換する</a:t>
              </a:r>
              <a:endParaRPr b="0" sz="1050">
                <a:solidFill>
                  <a:srgbClr val="334155"/>
                </a:solidFill>
                <a:highlight>
                  <a:srgbClr val="F8FAFC"/>
                </a:highlight>
                <a:latin typeface="Arial"/>
                <a:ea typeface="Arial"/>
                <a:cs typeface="Arial"/>
                <a:sym typeface="Arial"/>
              </a:endParaRPr>
            </a:p>
          </p:txBody>
        </p:sp>
      </p:grpSp>
      <p:grpSp>
        <p:nvGrpSpPr>
          <p:cNvPr id="115" name="Google Shape;115;p5"/>
          <p:cNvGrpSpPr/>
          <p:nvPr/>
        </p:nvGrpSpPr>
        <p:grpSpPr>
          <a:xfrm>
            <a:off x="6096000" y="1047750"/>
            <a:ext cx="2476500" cy="3381300"/>
            <a:chOff x="0" y="0"/>
            <a:chExt cx="2476500" cy="3381300"/>
          </a:xfrm>
        </p:grpSpPr>
        <p:sp>
          <p:nvSpPr>
            <p:cNvPr id="116" name="Google Shape;116;p5"/>
            <p:cNvSpPr/>
            <p:nvPr/>
          </p:nvSpPr>
          <p:spPr>
            <a:xfrm>
              <a:off x="0" y="0"/>
              <a:ext cx="2476500" cy="3381300"/>
            </a:xfrm>
            <a:prstGeom prst="roundRect">
              <a:avLst>
                <a:gd fmla="val 6153" name="adj"/>
              </a:avLst>
            </a:prstGeom>
            <a:solidFill>
              <a:srgbClr val="FFFFFF"/>
            </a:solidFill>
            <a:ln cap="flat" cmpd="sng" w="14300">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7" name="Google Shape;117;p5"/>
            <p:cNvSpPr/>
            <p:nvPr/>
          </p:nvSpPr>
          <p:spPr>
            <a:xfrm>
              <a:off x="0" y="0"/>
              <a:ext cx="2476500" cy="76200"/>
            </a:xfrm>
            <a:prstGeom prst="roundRect">
              <a:avLst>
                <a:gd fmla="val 50000" name="adj"/>
              </a:avLst>
            </a:prstGeom>
            <a:solidFill>
              <a:srgbClr val="0D94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8" name="Google Shape;118;p5"/>
            <p:cNvSpPr/>
            <p:nvPr/>
          </p:nvSpPr>
          <p:spPr>
            <a:xfrm>
              <a:off x="0" y="38100"/>
              <a:ext cx="2476500" cy="38100"/>
            </a:xfrm>
            <a:prstGeom prst="rect">
              <a:avLst/>
            </a:prstGeom>
            <a:solidFill>
              <a:srgbClr val="0D94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9" name="Google Shape;119;p5"/>
            <p:cNvSpPr/>
            <p:nvPr/>
          </p:nvSpPr>
          <p:spPr>
            <a:xfrm>
              <a:off x="171450" y="209550"/>
              <a:ext cx="457200" cy="228600"/>
            </a:xfrm>
            <a:prstGeom prst="roundRect">
              <a:avLst>
                <a:gd fmla="val 50000" name="adj"/>
              </a:avLst>
            </a:prstGeom>
            <a:solidFill>
              <a:srgbClr val="CCFBF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0" name="Google Shape;120;p5"/>
            <p:cNvSpPr txBox="1"/>
            <p:nvPr/>
          </p:nvSpPr>
          <p:spPr>
            <a:xfrm>
              <a:off x="171450" y="209550"/>
              <a:ext cx="4572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000">
                  <a:solidFill>
                    <a:srgbClr val="0D9488"/>
                  </a:solidFill>
                  <a:latin typeface="Arial"/>
                  <a:ea typeface="Arial"/>
                  <a:cs typeface="Arial"/>
                  <a:sym typeface="Arial"/>
                </a:rPr>
                <a:t>03</a:t>
              </a:r>
              <a:endParaRPr b="0" sz="1000">
                <a:solidFill>
                  <a:srgbClr val="0D9488"/>
                </a:solidFill>
                <a:latin typeface="Arial"/>
                <a:ea typeface="Arial"/>
                <a:cs typeface="Arial"/>
                <a:sym typeface="Arial"/>
              </a:endParaRPr>
            </a:p>
          </p:txBody>
        </p:sp>
        <p:sp>
          <p:nvSpPr>
            <p:cNvPr id="121" name="Google Shape;121;p5"/>
            <p:cNvSpPr/>
            <p:nvPr/>
          </p:nvSpPr>
          <p:spPr>
            <a:xfrm>
              <a:off x="971550" y="323850"/>
              <a:ext cx="533400" cy="533400"/>
            </a:xfrm>
            <a:prstGeom prst="ellipse">
              <a:avLst/>
            </a:prstGeom>
            <a:solidFill>
              <a:srgbClr val="F0FDFA"/>
            </a:solidFill>
            <a:ln cap="flat" cmpd="sng" w="9525">
              <a:solidFill>
                <a:srgbClr val="CCFBF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2" name="Google Shape;122;p5"/>
            <p:cNvSpPr txBox="1"/>
            <p:nvPr/>
          </p:nvSpPr>
          <p:spPr>
            <a:xfrm>
              <a:off x="971550" y="361823"/>
              <a:ext cx="533400" cy="533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600">
                  <a:solidFill>
                    <a:srgbClr val="0D9488"/>
                  </a:solidFill>
                  <a:latin typeface="Material Icons"/>
                  <a:ea typeface="Material Icons"/>
                  <a:cs typeface="Material Icons"/>
                  <a:sym typeface="Material Icons"/>
                </a:rPr>
                <a:t>handshake</a:t>
              </a:r>
              <a:endParaRPr sz="2600">
                <a:solidFill>
                  <a:srgbClr val="0D9488"/>
                </a:solidFill>
                <a:latin typeface="Material Icons"/>
                <a:ea typeface="Material Icons"/>
                <a:cs typeface="Material Icons"/>
                <a:sym typeface="Material Icons"/>
              </a:endParaRPr>
            </a:p>
          </p:txBody>
        </p:sp>
        <p:sp>
          <p:nvSpPr>
            <p:cNvPr id="123" name="Google Shape;123;p5"/>
            <p:cNvSpPr txBox="1"/>
            <p:nvPr/>
          </p:nvSpPr>
          <p:spPr>
            <a:xfrm>
              <a:off x="142875" y="952500"/>
              <a:ext cx="2190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800">
                  <a:solidFill>
                    <a:srgbClr val="1E293B"/>
                  </a:solidFill>
                  <a:latin typeface="Arial"/>
                  <a:ea typeface="Arial"/>
                  <a:cs typeface="Arial"/>
                  <a:sym typeface="Arial"/>
                </a:rPr>
                <a:t>諾成</a:t>
              </a:r>
              <a:r>
                <a:rPr b="0" lang="en-US" sz="1200">
                  <a:solidFill>
                    <a:srgbClr val="64748B"/>
                  </a:solidFill>
                  <a:latin typeface="Arial"/>
                  <a:ea typeface="Arial"/>
                  <a:cs typeface="Arial"/>
                  <a:sym typeface="Arial"/>
                </a:rPr>
                <a:t>（だくせい）</a:t>
              </a:r>
              <a:endParaRPr b="0" sz="1800">
                <a:solidFill>
                  <a:srgbClr val="1E293B"/>
                </a:solidFill>
                <a:latin typeface="Arial"/>
                <a:ea typeface="Arial"/>
                <a:cs typeface="Arial"/>
                <a:sym typeface="Arial"/>
              </a:endParaRPr>
            </a:p>
          </p:txBody>
        </p:sp>
        <p:sp>
          <p:nvSpPr>
            <p:cNvPr id="124" name="Google Shape;124;p5"/>
            <p:cNvSpPr/>
            <p:nvPr/>
          </p:nvSpPr>
          <p:spPr>
            <a:xfrm>
              <a:off x="190500" y="1352550"/>
              <a:ext cx="2095500" cy="342900"/>
            </a:xfrm>
            <a:prstGeom prst="roundRect">
              <a:avLst>
                <a:gd fmla="val 22222" name="adj"/>
              </a:avLst>
            </a:prstGeom>
            <a:solidFill>
              <a:srgbClr val="CCFBF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5" name="Google Shape;125;p5"/>
            <p:cNvSpPr txBox="1"/>
            <p:nvPr/>
          </p:nvSpPr>
          <p:spPr>
            <a:xfrm>
              <a:off x="190500" y="1352550"/>
              <a:ext cx="20955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300">
                  <a:solidFill>
                    <a:srgbClr val="0F766E"/>
                  </a:solidFill>
                  <a:latin typeface="Arial"/>
                  <a:ea typeface="Arial"/>
                  <a:cs typeface="Arial"/>
                  <a:sym typeface="Arial"/>
                </a:rPr>
                <a:t>合意だけで成立</a:t>
              </a:r>
              <a:endParaRPr b="1" sz="1300">
                <a:solidFill>
                  <a:srgbClr val="0F766E"/>
                </a:solidFill>
                <a:latin typeface="Arial"/>
                <a:ea typeface="Arial"/>
                <a:cs typeface="Arial"/>
                <a:sym typeface="Arial"/>
              </a:endParaRPr>
            </a:p>
          </p:txBody>
        </p:sp>
        <p:sp>
          <p:nvSpPr>
            <p:cNvPr id="126" name="Google Shape;126;p5"/>
            <p:cNvSpPr txBox="1"/>
            <p:nvPr/>
          </p:nvSpPr>
          <p:spPr>
            <a:xfrm>
              <a:off x="190500" y="1809750"/>
              <a:ext cx="2095500" cy="1381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US" sz="1100">
                  <a:solidFill>
                    <a:srgbClr val="0F766E"/>
                  </a:solidFill>
                  <a:highlight>
                    <a:srgbClr val="F8FAFC"/>
                  </a:highlight>
                  <a:latin typeface="Arial"/>
                  <a:ea typeface="Arial"/>
                  <a:cs typeface="Arial"/>
                  <a:sym typeface="Arial"/>
                </a:rPr>
                <a:t>「これください」「はい」</a:t>
              </a:r>
              <a:endParaRPr b="1" sz="1100">
                <a:solidFill>
                  <a:srgbClr val="0F766E"/>
                </a:solidFill>
                <a:highlight>
                  <a:srgbClr val="F8FAFC"/>
                </a:highlight>
                <a:latin typeface="Arial"/>
                <a:ea typeface="Arial"/>
                <a:cs typeface="Arial"/>
                <a:sym typeface="Arial"/>
              </a:endParaRPr>
            </a:p>
            <a:p>
              <a:pPr indent="0" lvl="0" marL="0" rtl="0" algn="ctr">
                <a:spcBef>
                  <a:spcPts val="300"/>
                </a:spcBef>
                <a:spcAft>
                  <a:spcPts val="0"/>
                </a:spcAft>
                <a:buNone/>
              </a:pPr>
              <a:r>
                <a:rPr b="0" lang="en-US" sz="1000">
                  <a:solidFill>
                    <a:srgbClr val="334155"/>
                  </a:solidFill>
                  <a:highlight>
                    <a:srgbClr val="F8FAFC"/>
                  </a:highlight>
                  <a:latin typeface="Arial"/>
                  <a:ea typeface="Arial"/>
                  <a:cs typeface="Arial"/>
                  <a:sym typeface="Arial"/>
                </a:rPr>
                <a:t>言葉の合意だけで成立！</a:t>
              </a:r>
              <a:endParaRPr b="0" sz="1000">
                <a:solidFill>
                  <a:srgbClr val="334155"/>
                </a:solidFill>
                <a:highlight>
                  <a:srgbClr val="F8FAFC"/>
                </a:highlight>
                <a:latin typeface="Arial"/>
                <a:ea typeface="Arial"/>
                <a:cs typeface="Arial"/>
                <a:sym typeface="Arial"/>
              </a:endParaRPr>
            </a:p>
            <a:p>
              <a:pPr indent="0" lvl="0" marL="0" rtl="0" algn="ctr">
                <a:spcBef>
                  <a:spcPts val="600"/>
                </a:spcBef>
                <a:spcAft>
                  <a:spcPts val="0"/>
                </a:spcAft>
                <a:buNone/>
              </a:pPr>
              <a:r>
                <a:rPr b="0" lang="en-US" sz="1000">
                  <a:solidFill>
                    <a:srgbClr val="64748B"/>
                  </a:solidFill>
                  <a:highlight>
                    <a:srgbClr val="F8FAFC"/>
                  </a:highlight>
                  <a:latin typeface="Arial"/>
                  <a:ea typeface="Arial"/>
                  <a:cs typeface="Arial"/>
                  <a:sym typeface="Arial"/>
                </a:rPr>
                <a:t>📄 書類やハンコは必須でない</a:t>
              </a:r>
              <a:endParaRPr b="0" sz="1000">
                <a:solidFill>
                  <a:srgbClr val="64748B"/>
                </a:solidFill>
                <a:highlight>
                  <a:srgbClr val="F8FAFC"/>
                </a:highlight>
                <a:latin typeface="Arial"/>
                <a:ea typeface="Arial"/>
                <a:cs typeface="Arial"/>
                <a:sym typeface="Arial"/>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1" name="Shape 131"/>
        <p:cNvGrpSpPr/>
        <p:nvPr/>
      </p:nvGrpSpPr>
      <p:grpSpPr>
        <a:xfrm>
          <a:off x="0" y="0"/>
          <a:ext cx="0" cy="0"/>
          <a:chOff x="0" y="0"/>
          <a:chExt cx="0" cy="0"/>
        </a:xfrm>
      </p:grpSpPr>
      <p:sp>
        <p:nvSpPr>
          <p:cNvPr id="132" name="Google Shape;132;p6"/>
          <p:cNvSpPr/>
          <p:nvPr/>
        </p:nvSpPr>
        <p:spPr>
          <a:xfrm>
            <a:off x="571500" y="4648200"/>
            <a:ext cx="2857500" cy="266700"/>
          </a:xfrm>
          <a:prstGeom prst="rect">
            <a:avLst/>
          </a:prstGeom>
          <a:solidFill>
            <a:srgbClr val="000000">
              <a:alpha val="0"/>
            </a:srgbClr>
          </a:solidFill>
          <a:ln>
            <a:noFill/>
          </a:ln>
        </p:spPr>
        <p:txBody>
          <a:bodyPr anchorCtr="0" anchor="b" bIns="0" lIns="0" spcFirstLastPara="1" rIns="0" wrap="square" tIns="0">
            <a:noAutofit/>
          </a:bodyPr>
          <a:lstStyle/>
          <a:p>
            <a:pPr indent="0" lvl="0" marL="0" rtl="0" algn="l">
              <a:spcBef>
                <a:spcPts val="0"/>
              </a:spcBef>
              <a:spcAft>
                <a:spcPts val="0"/>
              </a:spcAft>
              <a:buNone/>
            </a:pPr>
            <a:r>
              <a:rPr b="0" lang="en-US" sz="1100">
                <a:solidFill>
                  <a:srgbClr val="94A3B8"/>
                </a:solidFill>
                <a:latin typeface="Arial"/>
                <a:ea typeface="Arial"/>
                <a:cs typeface="Arial"/>
                <a:sym typeface="Arial"/>
              </a:rPr>
              <a:t>第1部 契約の基本 ― 売買契約</a:t>
            </a:r>
            <a:endParaRPr b="0" sz="1100">
              <a:solidFill>
                <a:srgbClr val="94A3B8"/>
              </a:solidFill>
              <a:latin typeface="Arial"/>
              <a:ea typeface="Arial"/>
              <a:cs typeface="Arial"/>
              <a:sym typeface="Arial"/>
            </a:endParaRPr>
          </a:p>
        </p:txBody>
      </p:sp>
      <p:sp>
        <p:nvSpPr>
          <p:cNvPr id="133" name="Google Shape;133;p6"/>
          <p:cNvSpPr/>
          <p:nvPr/>
        </p:nvSpPr>
        <p:spPr>
          <a:xfrm>
            <a:off x="6667500" y="4648200"/>
            <a:ext cx="1905000" cy="266700"/>
          </a:xfrm>
          <a:prstGeom prst="rect">
            <a:avLst/>
          </a:prstGeom>
          <a:solidFill>
            <a:srgbClr val="000000">
              <a:alpha val="0"/>
            </a:srgbClr>
          </a:solidFill>
          <a:ln>
            <a:noFill/>
          </a:ln>
        </p:spPr>
        <p:txBody>
          <a:bodyPr anchorCtr="0" anchor="b" bIns="0" lIns="0" spcFirstLastPara="1" rIns="0" wrap="square" tIns="0">
            <a:noAutofit/>
          </a:bodyPr>
          <a:lstStyle/>
          <a:p>
            <a:pPr indent="0" lvl="0" marL="0" rtl="0" algn="r">
              <a:spcBef>
                <a:spcPts val="0"/>
              </a:spcBef>
              <a:spcAft>
                <a:spcPts val="0"/>
              </a:spcAft>
              <a:buNone/>
            </a:pPr>
            <a:r>
              <a:rPr b="0" lang="en-US" sz="1100">
                <a:solidFill>
                  <a:srgbClr val="94A3B8"/>
                </a:solidFill>
                <a:latin typeface="Arial"/>
                <a:ea typeface="Arial"/>
                <a:cs typeface="Arial"/>
                <a:sym typeface="Arial"/>
              </a:rPr>
              <a:t>6 / 30</a:t>
            </a:r>
            <a:endParaRPr b="0" sz="1100">
              <a:solidFill>
                <a:srgbClr val="94A3B8"/>
              </a:solidFill>
              <a:latin typeface="Arial"/>
              <a:ea typeface="Arial"/>
              <a:cs typeface="Arial"/>
              <a:sym typeface="Arial"/>
            </a:endParaRPr>
          </a:p>
        </p:txBody>
      </p:sp>
      <p:sp>
        <p:nvSpPr>
          <p:cNvPr id="134" name="Google Shape;134;p6"/>
          <p:cNvSpPr/>
          <p:nvPr/>
        </p:nvSpPr>
        <p:spPr>
          <a:xfrm>
            <a:off x="571500" y="361950"/>
            <a:ext cx="8001000" cy="476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US" sz="2200">
                <a:solidFill>
                  <a:srgbClr val="0F172A"/>
                </a:solidFill>
                <a:latin typeface="Arial"/>
                <a:ea typeface="Arial"/>
                <a:cs typeface="Arial"/>
                <a:sym typeface="Arial"/>
              </a:rPr>
              <a:t>債権と債務はコインの表と裏 ＆ 契約のゴール「完遂」</a:t>
            </a:r>
            <a:endParaRPr b="0" sz="2200">
              <a:solidFill>
                <a:srgbClr val="0F172A"/>
              </a:solidFill>
              <a:latin typeface="Arial"/>
              <a:ea typeface="Arial"/>
              <a:cs typeface="Arial"/>
              <a:sym typeface="Arial"/>
            </a:endParaRPr>
          </a:p>
        </p:txBody>
      </p:sp>
      <p:grpSp>
        <p:nvGrpSpPr>
          <p:cNvPr id="135" name="Google Shape;135;p6"/>
          <p:cNvGrpSpPr/>
          <p:nvPr/>
        </p:nvGrpSpPr>
        <p:grpSpPr>
          <a:xfrm>
            <a:off x="571500" y="971550"/>
            <a:ext cx="3857700" cy="2190900"/>
            <a:chOff x="0" y="0"/>
            <a:chExt cx="3857700" cy="2190900"/>
          </a:xfrm>
        </p:grpSpPr>
        <p:sp>
          <p:nvSpPr>
            <p:cNvPr id="136" name="Google Shape;136;p6"/>
            <p:cNvSpPr/>
            <p:nvPr/>
          </p:nvSpPr>
          <p:spPr>
            <a:xfrm>
              <a:off x="0" y="0"/>
              <a:ext cx="3857700" cy="2190900"/>
            </a:xfrm>
            <a:prstGeom prst="roundRect">
              <a:avLst>
                <a:gd fmla="val 6956" name="adj"/>
              </a:avLst>
            </a:prstGeom>
            <a:solidFill>
              <a:srgbClr val="FFFFFF"/>
            </a:solidFill>
            <a:ln cap="flat" cmpd="sng" w="14300">
              <a:solidFill>
                <a:srgbClr val="FCA5A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7" name="Google Shape;137;p6"/>
            <p:cNvSpPr/>
            <p:nvPr/>
          </p:nvSpPr>
          <p:spPr>
            <a:xfrm>
              <a:off x="0" y="0"/>
              <a:ext cx="3857700" cy="57300"/>
            </a:xfrm>
            <a:prstGeom prst="roundRect">
              <a:avLst>
                <a:gd fmla="val 50000" name="adj"/>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8" name="Google Shape;138;p6"/>
            <p:cNvSpPr/>
            <p:nvPr/>
          </p:nvSpPr>
          <p:spPr>
            <a:xfrm>
              <a:off x="190500" y="219075"/>
              <a:ext cx="419100" cy="419100"/>
            </a:xfrm>
            <a:prstGeom prst="ellipse">
              <a:avLst/>
            </a:prstGeom>
            <a:solidFill>
              <a:srgbClr val="FEF2F2"/>
            </a:solidFill>
            <a:ln cap="flat" cmpd="sng" w="9525">
              <a:solidFill>
                <a:srgbClr val="FCA5A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9" name="Google Shape;139;p6"/>
            <p:cNvSpPr txBox="1"/>
            <p:nvPr/>
          </p:nvSpPr>
          <p:spPr>
            <a:xfrm>
              <a:off x="209550" y="267335"/>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000">
                  <a:solidFill>
                    <a:srgbClr val="DC2626"/>
                  </a:solidFill>
                  <a:latin typeface="Material Icons"/>
                  <a:ea typeface="Material Icons"/>
                  <a:cs typeface="Material Icons"/>
                  <a:sym typeface="Material Icons"/>
                </a:rPr>
                <a:t>inventory_2</a:t>
              </a:r>
              <a:endParaRPr sz="2000">
                <a:solidFill>
                  <a:srgbClr val="DC2626"/>
                </a:solidFill>
                <a:latin typeface="Material Icons"/>
                <a:ea typeface="Material Icons"/>
                <a:cs typeface="Material Icons"/>
                <a:sym typeface="Material Icons"/>
              </a:endParaRPr>
            </a:p>
          </p:txBody>
        </p:sp>
        <p:sp>
          <p:nvSpPr>
            <p:cNvPr id="140" name="Google Shape;140;p6"/>
            <p:cNvSpPr txBox="1"/>
            <p:nvPr/>
          </p:nvSpPr>
          <p:spPr>
            <a:xfrm>
              <a:off x="714375" y="228600"/>
              <a:ext cx="2952900" cy="400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530">
                  <a:solidFill>
                    <a:srgbClr val="DC2626"/>
                  </a:solidFill>
                  <a:latin typeface="Arial"/>
                  <a:ea typeface="Arial"/>
                  <a:cs typeface="Arial"/>
                  <a:sym typeface="Arial"/>
                </a:rPr>
                <a:t>債務</a:t>
              </a:r>
              <a:r>
                <a:rPr b="0" lang="en-US" sz="1020">
                  <a:solidFill>
                    <a:srgbClr val="9CA3AF"/>
                  </a:solidFill>
                  <a:latin typeface="Arial"/>
                  <a:ea typeface="Arial"/>
                  <a:cs typeface="Arial"/>
                  <a:sym typeface="Arial"/>
                </a:rPr>
                <a:t>（さいむ）</a:t>
              </a:r>
              <a:endParaRPr b="0" sz="1530">
                <a:solidFill>
                  <a:srgbClr val="DC2626"/>
                </a:solidFill>
                <a:latin typeface="Arial"/>
                <a:ea typeface="Arial"/>
                <a:cs typeface="Arial"/>
                <a:sym typeface="Arial"/>
              </a:endParaRPr>
            </a:p>
            <a:p>
              <a:pPr indent="0" lvl="0" marL="0" rtl="0" algn="l">
                <a:spcBef>
                  <a:spcPts val="0"/>
                </a:spcBef>
                <a:spcAft>
                  <a:spcPts val="0"/>
                </a:spcAft>
                <a:buNone/>
              </a:pPr>
              <a:r>
                <a:rPr b="1" lang="en-US" sz="935">
                  <a:solidFill>
                    <a:srgbClr val="991B1B"/>
                  </a:solidFill>
                  <a:latin typeface="Arial"/>
                  <a:ea typeface="Arial"/>
                  <a:cs typeface="Arial"/>
                  <a:sym typeface="Arial"/>
                </a:rPr>
                <a:t>＝「しなければならない義務」</a:t>
              </a:r>
              <a:endParaRPr b="1" sz="935">
                <a:solidFill>
                  <a:srgbClr val="991B1B"/>
                </a:solidFill>
                <a:latin typeface="Arial"/>
                <a:ea typeface="Arial"/>
                <a:cs typeface="Arial"/>
                <a:sym typeface="Arial"/>
              </a:endParaRPr>
            </a:p>
          </p:txBody>
        </p:sp>
        <p:cxnSp>
          <p:nvCxnSpPr>
            <p:cNvPr id="141" name="Google Shape;141;p6"/>
            <p:cNvCxnSpPr/>
            <p:nvPr/>
          </p:nvCxnSpPr>
          <p:spPr>
            <a:xfrm>
              <a:off x="190500" y="762000"/>
              <a:ext cx="3476700" cy="0"/>
            </a:xfrm>
            <a:prstGeom prst="straightConnector1">
              <a:avLst/>
            </a:prstGeom>
            <a:solidFill>
              <a:srgbClr val="FFFFFF"/>
            </a:solidFill>
            <a:ln cap="flat" cmpd="sng" w="9525">
              <a:solidFill>
                <a:srgbClr val="FEE2E2"/>
              </a:solidFill>
              <a:prstDash val="solid"/>
              <a:round/>
              <a:headEnd len="sm" w="sm" type="none"/>
              <a:tailEnd len="sm" w="sm" type="none"/>
            </a:ln>
          </p:spPr>
        </p:cxnSp>
        <p:sp>
          <p:nvSpPr>
            <p:cNvPr id="142" name="Google Shape;142;p6"/>
            <p:cNvSpPr/>
            <p:nvPr/>
          </p:nvSpPr>
          <p:spPr>
            <a:xfrm>
              <a:off x="190500" y="904875"/>
              <a:ext cx="3476700" cy="1095300"/>
            </a:xfrm>
            <a:prstGeom prst="roundRect">
              <a:avLst>
                <a:gd fmla="val 8695" name="adj"/>
              </a:avLst>
            </a:prstGeom>
            <a:solidFill>
              <a:srgbClr val="FEF2F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3" name="Google Shape;143;p6"/>
            <p:cNvSpPr txBox="1"/>
            <p:nvPr/>
          </p:nvSpPr>
          <p:spPr>
            <a:xfrm>
              <a:off x="333375" y="1000125"/>
              <a:ext cx="3190800" cy="904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200">
                  <a:solidFill>
                    <a:srgbClr val="1F2937"/>
                  </a:solidFill>
                  <a:latin typeface="Arial"/>
                  <a:ea typeface="Arial"/>
                  <a:cs typeface="Arial"/>
                  <a:sym typeface="Arial"/>
                </a:rPr>
                <a:t>・売主：</a:t>
              </a:r>
              <a:r>
                <a:rPr b="0" lang="en-US" sz="1200">
                  <a:solidFill>
                    <a:srgbClr val="1F2937"/>
                  </a:solidFill>
                  <a:latin typeface="Arial"/>
                  <a:ea typeface="Arial"/>
                  <a:cs typeface="Arial"/>
                  <a:sym typeface="Arial"/>
                </a:rPr>
                <a:t>商品を渡す義務 📦</a:t>
              </a:r>
              <a:endParaRPr b="1" sz="1200">
                <a:solidFill>
                  <a:srgbClr val="1F2937"/>
                </a:solidFill>
                <a:latin typeface="Arial"/>
                <a:ea typeface="Arial"/>
                <a:cs typeface="Arial"/>
                <a:sym typeface="Arial"/>
              </a:endParaRPr>
            </a:p>
            <a:p>
              <a:pPr indent="0" lvl="0" marL="0" rtl="0" algn="l">
                <a:spcBef>
                  <a:spcPts val="600"/>
                </a:spcBef>
                <a:spcAft>
                  <a:spcPts val="0"/>
                </a:spcAft>
                <a:buNone/>
              </a:pPr>
              <a:r>
                <a:rPr b="1" lang="en-US" sz="1200">
                  <a:solidFill>
                    <a:srgbClr val="1F2937"/>
                  </a:solidFill>
                  <a:latin typeface="Arial"/>
                  <a:ea typeface="Arial"/>
                  <a:cs typeface="Arial"/>
                  <a:sym typeface="Arial"/>
                </a:rPr>
                <a:t>・買主：</a:t>
              </a:r>
              <a:r>
                <a:rPr b="0" lang="en-US" sz="1200">
                  <a:solidFill>
                    <a:srgbClr val="1F2937"/>
                  </a:solidFill>
                  <a:latin typeface="Arial"/>
                  <a:ea typeface="Arial"/>
                  <a:cs typeface="Arial"/>
                  <a:sym typeface="Arial"/>
                </a:rPr>
                <a:t>代金を支払う義務 💴</a:t>
              </a:r>
              <a:endParaRPr b="1" sz="1200">
                <a:solidFill>
                  <a:srgbClr val="1F2937"/>
                </a:solidFill>
                <a:latin typeface="Arial"/>
                <a:ea typeface="Arial"/>
                <a:cs typeface="Arial"/>
                <a:sym typeface="Arial"/>
              </a:endParaRPr>
            </a:p>
          </p:txBody>
        </p:sp>
      </p:grpSp>
      <p:grpSp>
        <p:nvGrpSpPr>
          <p:cNvPr id="144" name="Google Shape;144;p6"/>
          <p:cNvGrpSpPr/>
          <p:nvPr/>
        </p:nvGrpSpPr>
        <p:grpSpPr>
          <a:xfrm>
            <a:off x="4714875" y="971550"/>
            <a:ext cx="3857700" cy="2190900"/>
            <a:chOff x="0" y="0"/>
            <a:chExt cx="3857700" cy="2190900"/>
          </a:xfrm>
        </p:grpSpPr>
        <p:sp>
          <p:nvSpPr>
            <p:cNvPr id="145" name="Google Shape;145;p6"/>
            <p:cNvSpPr/>
            <p:nvPr/>
          </p:nvSpPr>
          <p:spPr>
            <a:xfrm>
              <a:off x="0" y="0"/>
              <a:ext cx="3857700" cy="2190900"/>
            </a:xfrm>
            <a:prstGeom prst="roundRect">
              <a:avLst>
                <a:gd fmla="val 6956" name="adj"/>
              </a:avLst>
            </a:prstGeom>
            <a:solidFill>
              <a:srgbClr val="FFFFFF"/>
            </a:solidFill>
            <a:ln cap="flat" cmpd="sng" w="14300">
              <a:solidFill>
                <a:srgbClr val="93C5F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6" name="Google Shape;146;p6"/>
            <p:cNvSpPr/>
            <p:nvPr/>
          </p:nvSpPr>
          <p:spPr>
            <a:xfrm>
              <a:off x="0" y="0"/>
              <a:ext cx="3857700" cy="57300"/>
            </a:xfrm>
            <a:prstGeom prst="roundRect">
              <a:avLst>
                <a:gd fmla="val 5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7" name="Google Shape;147;p6"/>
            <p:cNvSpPr/>
            <p:nvPr/>
          </p:nvSpPr>
          <p:spPr>
            <a:xfrm>
              <a:off x="190500" y="219075"/>
              <a:ext cx="419100" cy="419100"/>
            </a:xfrm>
            <a:prstGeom prst="ellipse">
              <a:avLst/>
            </a:prstGeom>
            <a:solidFill>
              <a:srgbClr val="EFF6FF"/>
            </a:solidFill>
            <a:ln cap="flat" cmpd="sng" w="9525">
              <a:solidFill>
                <a:srgbClr val="93C5F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8" name="Google Shape;148;p6"/>
            <p:cNvSpPr txBox="1"/>
            <p:nvPr/>
          </p:nvSpPr>
          <p:spPr>
            <a:xfrm>
              <a:off x="209550" y="267335"/>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000">
                  <a:solidFill>
                    <a:srgbClr val="2563EB"/>
                  </a:solidFill>
                  <a:latin typeface="Material Icons"/>
                  <a:ea typeface="Material Icons"/>
                  <a:cs typeface="Material Icons"/>
                  <a:sym typeface="Material Icons"/>
                </a:rPr>
                <a:t>request_quote</a:t>
              </a:r>
              <a:endParaRPr sz="2000">
                <a:solidFill>
                  <a:srgbClr val="2563EB"/>
                </a:solidFill>
                <a:latin typeface="Material Icons"/>
                <a:ea typeface="Material Icons"/>
                <a:cs typeface="Material Icons"/>
                <a:sym typeface="Material Icons"/>
              </a:endParaRPr>
            </a:p>
          </p:txBody>
        </p:sp>
        <p:sp>
          <p:nvSpPr>
            <p:cNvPr id="149" name="Google Shape;149;p6"/>
            <p:cNvSpPr txBox="1"/>
            <p:nvPr/>
          </p:nvSpPr>
          <p:spPr>
            <a:xfrm>
              <a:off x="714375" y="228600"/>
              <a:ext cx="2952900" cy="400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530">
                  <a:solidFill>
                    <a:srgbClr val="2563EB"/>
                  </a:solidFill>
                  <a:latin typeface="Arial"/>
                  <a:ea typeface="Arial"/>
                  <a:cs typeface="Arial"/>
                  <a:sym typeface="Arial"/>
                </a:rPr>
                <a:t>債権</a:t>
              </a:r>
              <a:r>
                <a:rPr b="0" lang="en-US" sz="1020">
                  <a:solidFill>
                    <a:srgbClr val="9CA3AF"/>
                  </a:solidFill>
                  <a:latin typeface="Arial"/>
                  <a:ea typeface="Arial"/>
                  <a:cs typeface="Arial"/>
                  <a:sym typeface="Arial"/>
                </a:rPr>
                <a:t>（さいけん）</a:t>
              </a:r>
              <a:endParaRPr b="0" sz="1530">
                <a:solidFill>
                  <a:srgbClr val="2563EB"/>
                </a:solidFill>
                <a:latin typeface="Arial"/>
                <a:ea typeface="Arial"/>
                <a:cs typeface="Arial"/>
                <a:sym typeface="Arial"/>
              </a:endParaRPr>
            </a:p>
            <a:p>
              <a:pPr indent="0" lvl="0" marL="0" rtl="0" algn="l">
                <a:spcBef>
                  <a:spcPts val="0"/>
                </a:spcBef>
                <a:spcAft>
                  <a:spcPts val="0"/>
                </a:spcAft>
                <a:buNone/>
              </a:pPr>
              <a:r>
                <a:rPr b="1" lang="en-US" sz="935">
                  <a:solidFill>
                    <a:srgbClr val="1D4ED8"/>
                  </a:solidFill>
                  <a:latin typeface="Arial"/>
                  <a:ea typeface="Arial"/>
                  <a:cs typeface="Arial"/>
                  <a:sym typeface="Arial"/>
                </a:rPr>
                <a:t>＝「求めてよい権利」</a:t>
              </a:r>
              <a:endParaRPr b="1" sz="935">
                <a:solidFill>
                  <a:srgbClr val="1D4ED8"/>
                </a:solidFill>
                <a:latin typeface="Arial"/>
                <a:ea typeface="Arial"/>
                <a:cs typeface="Arial"/>
                <a:sym typeface="Arial"/>
              </a:endParaRPr>
            </a:p>
          </p:txBody>
        </p:sp>
        <p:cxnSp>
          <p:nvCxnSpPr>
            <p:cNvPr id="150" name="Google Shape;150;p6"/>
            <p:cNvCxnSpPr/>
            <p:nvPr/>
          </p:nvCxnSpPr>
          <p:spPr>
            <a:xfrm>
              <a:off x="190500" y="762000"/>
              <a:ext cx="3476700" cy="0"/>
            </a:xfrm>
            <a:prstGeom prst="straightConnector1">
              <a:avLst/>
            </a:prstGeom>
            <a:solidFill>
              <a:srgbClr val="FFFFFF"/>
            </a:solidFill>
            <a:ln cap="flat" cmpd="sng" w="9525">
              <a:solidFill>
                <a:srgbClr val="E0F2FE"/>
              </a:solidFill>
              <a:prstDash val="solid"/>
              <a:round/>
              <a:headEnd len="sm" w="sm" type="none"/>
              <a:tailEnd len="sm" w="sm" type="none"/>
            </a:ln>
          </p:spPr>
        </p:cxnSp>
        <p:sp>
          <p:nvSpPr>
            <p:cNvPr id="151" name="Google Shape;151;p6"/>
            <p:cNvSpPr/>
            <p:nvPr/>
          </p:nvSpPr>
          <p:spPr>
            <a:xfrm>
              <a:off x="190500" y="904875"/>
              <a:ext cx="3476700" cy="1095300"/>
            </a:xfrm>
            <a:prstGeom prst="roundRect">
              <a:avLst>
                <a:gd fmla="val 8695" name="adj"/>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2" name="Google Shape;152;p6"/>
            <p:cNvSpPr txBox="1"/>
            <p:nvPr/>
          </p:nvSpPr>
          <p:spPr>
            <a:xfrm>
              <a:off x="333375" y="1000125"/>
              <a:ext cx="3190800" cy="904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200">
                  <a:solidFill>
                    <a:srgbClr val="1F2937"/>
                  </a:solidFill>
                  <a:latin typeface="Arial"/>
                  <a:ea typeface="Arial"/>
                  <a:cs typeface="Arial"/>
                  <a:sym typeface="Arial"/>
                </a:rPr>
                <a:t>・買主：</a:t>
              </a:r>
              <a:r>
                <a:rPr b="0" lang="en-US" sz="1200">
                  <a:solidFill>
                    <a:srgbClr val="1F2937"/>
                  </a:solidFill>
                  <a:latin typeface="Arial"/>
                  <a:ea typeface="Arial"/>
                  <a:cs typeface="Arial"/>
                  <a:sym typeface="Arial"/>
                </a:rPr>
                <a:t>商品を求める権利 ✨</a:t>
              </a:r>
              <a:endParaRPr b="1" sz="1200">
                <a:solidFill>
                  <a:srgbClr val="1F2937"/>
                </a:solidFill>
                <a:latin typeface="Arial"/>
                <a:ea typeface="Arial"/>
                <a:cs typeface="Arial"/>
                <a:sym typeface="Arial"/>
              </a:endParaRPr>
            </a:p>
            <a:p>
              <a:pPr indent="0" lvl="0" marL="0" rtl="0" algn="l">
                <a:spcBef>
                  <a:spcPts val="600"/>
                </a:spcBef>
                <a:spcAft>
                  <a:spcPts val="0"/>
                </a:spcAft>
                <a:buNone/>
              </a:pPr>
              <a:r>
                <a:rPr b="1" lang="en-US" sz="1200">
                  <a:solidFill>
                    <a:srgbClr val="1F2937"/>
                  </a:solidFill>
                  <a:latin typeface="Arial"/>
                  <a:ea typeface="Arial"/>
                  <a:cs typeface="Arial"/>
                  <a:sym typeface="Arial"/>
                </a:rPr>
                <a:t>・売主：</a:t>
              </a:r>
              <a:r>
                <a:rPr b="0" lang="en-US" sz="1200">
                  <a:solidFill>
                    <a:srgbClr val="1F2937"/>
                  </a:solidFill>
                  <a:latin typeface="Arial"/>
                  <a:ea typeface="Arial"/>
                  <a:cs typeface="Arial"/>
                  <a:sym typeface="Arial"/>
                </a:rPr>
                <a:t>代金を求める権利 💰</a:t>
              </a:r>
              <a:endParaRPr b="1" sz="1200">
                <a:solidFill>
                  <a:srgbClr val="1F2937"/>
                </a:solidFill>
                <a:latin typeface="Arial"/>
                <a:ea typeface="Arial"/>
                <a:cs typeface="Arial"/>
                <a:sym typeface="Arial"/>
              </a:endParaRPr>
            </a:p>
          </p:txBody>
        </p:sp>
      </p:grpSp>
      <p:grpSp>
        <p:nvGrpSpPr>
          <p:cNvPr id="153" name="Google Shape;153;p6"/>
          <p:cNvGrpSpPr/>
          <p:nvPr/>
        </p:nvGrpSpPr>
        <p:grpSpPr>
          <a:xfrm>
            <a:off x="571500" y="3352800"/>
            <a:ext cx="8001000" cy="1124100"/>
            <a:chOff x="0" y="0"/>
            <a:chExt cx="8001000" cy="1124100"/>
          </a:xfrm>
        </p:grpSpPr>
        <p:sp>
          <p:nvSpPr>
            <p:cNvPr id="154" name="Google Shape;154;p6"/>
            <p:cNvSpPr/>
            <p:nvPr/>
          </p:nvSpPr>
          <p:spPr>
            <a:xfrm>
              <a:off x="0" y="0"/>
              <a:ext cx="8001000" cy="1124100"/>
            </a:xfrm>
            <a:prstGeom prst="roundRect">
              <a:avLst>
                <a:gd fmla="val 13559" name="adj"/>
              </a:avLst>
            </a:prstGeom>
            <a:solidFill>
              <a:srgbClr val="F0F9FF"/>
            </a:solidFill>
            <a:ln cap="flat" cmpd="sng" w="14300">
              <a:solidFill>
                <a:srgbClr val="3B82F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5" name="Google Shape;155;p6"/>
            <p:cNvSpPr/>
            <p:nvPr/>
          </p:nvSpPr>
          <p:spPr>
            <a:xfrm>
              <a:off x="190500" y="190500"/>
              <a:ext cx="2095500" cy="743100"/>
            </a:xfrm>
            <a:prstGeom prst="roundRect">
              <a:avLst>
                <a:gd fmla="val 15384"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6" name="Google Shape;156;p6"/>
            <p:cNvSpPr txBox="1"/>
            <p:nvPr/>
          </p:nvSpPr>
          <p:spPr>
            <a:xfrm>
              <a:off x="238125" y="190500"/>
              <a:ext cx="2000100" cy="743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100">
                  <a:solidFill>
                    <a:srgbClr val="FFFFFF"/>
                  </a:solidFill>
                  <a:latin typeface="Arial"/>
                  <a:ea typeface="Arial"/>
                  <a:cs typeface="Arial"/>
                  <a:sym typeface="Arial"/>
                </a:rPr>
                <a:t>🏁 契約のゴール</a:t>
              </a:r>
              <a:endParaRPr b="1" sz="1100">
                <a:solidFill>
                  <a:srgbClr val="FFFFFF"/>
                </a:solidFill>
                <a:latin typeface="Arial"/>
                <a:ea typeface="Arial"/>
                <a:cs typeface="Arial"/>
                <a:sym typeface="Arial"/>
              </a:endParaRPr>
            </a:p>
            <a:p>
              <a:pPr indent="0" lvl="0" marL="0" rtl="0" algn="ctr">
                <a:spcBef>
                  <a:spcPts val="150"/>
                </a:spcBef>
                <a:spcAft>
                  <a:spcPts val="0"/>
                </a:spcAft>
                <a:buNone/>
              </a:pPr>
              <a:r>
                <a:rPr b="0" lang="en-US" sz="1800">
                  <a:solidFill>
                    <a:srgbClr val="FFFFFF"/>
                  </a:solidFill>
                  <a:latin typeface="Arial"/>
                  <a:ea typeface="Arial"/>
                  <a:cs typeface="Arial"/>
                  <a:sym typeface="Arial"/>
                </a:rPr>
                <a:t>「完遂」</a:t>
              </a:r>
              <a:endParaRPr b="0" sz="1800">
                <a:solidFill>
                  <a:srgbClr val="FFFFFF"/>
                </a:solidFill>
                <a:latin typeface="Arial"/>
                <a:ea typeface="Arial"/>
                <a:cs typeface="Arial"/>
                <a:sym typeface="Arial"/>
              </a:endParaRPr>
            </a:p>
            <a:p>
              <a:pPr indent="0" lvl="0" marL="0" rtl="0" algn="ctr">
                <a:spcBef>
                  <a:spcPts val="0"/>
                </a:spcBef>
                <a:spcAft>
                  <a:spcPts val="0"/>
                </a:spcAft>
                <a:buNone/>
              </a:pPr>
              <a:r>
                <a:rPr b="0" lang="en-US" sz="900">
                  <a:solidFill>
                    <a:srgbClr val="FFFFFF"/>
                  </a:solidFill>
                  <a:latin typeface="Arial"/>
                  <a:ea typeface="Arial"/>
                  <a:cs typeface="Arial"/>
                  <a:sym typeface="Arial"/>
                </a:rPr>
                <a:t>（かんすい）</a:t>
              </a:r>
              <a:endParaRPr b="0" sz="900">
                <a:solidFill>
                  <a:srgbClr val="FFFFFF"/>
                </a:solidFill>
                <a:latin typeface="Arial"/>
                <a:ea typeface="Arial"/>
                <a:cs typeface="Arial"/>
                <a:sym typeface="Arial"/>
              </a:endParaRPr>
            </a:p>
          </p:txBody>
        </p:sp>
        <p:sp>
          <p:nvSpPr>
            <p:cNvPr id="157" name="Google Shape;157;p6"/>
            <p:cNvSpPr txBox="1"/>
            <p:nvPr/>
          </p:nvSpPr>
          <p:spPr>
            <a:xfrm>
              <a:off x="2476500" y="142875"/>
              <a:ext cx="5286300" cy="838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300">
                  <a:solidFill>
                    <a:srgbClr val="1E3A8A"/>
                  </a:solidFill>
                  <a:latin typeface="Arial"/>
                  <a:ea typeface="Arial"/>
                  <a:cs typeface="Arial"/>
                  <a:sym typeface="Arial"/>
                </a:rPr>
                <a:t>お互いが義務（債務）を果たし終えること ＝「履行（りこう）」</a:t>
              </a:r>
              <a:endParaRPr b="0" sz="1300">
                <a:solidFill>
                  <a:srgbClr val="1E3A8A"/>
                </a:solidFill>
                <a:latin typeface="Arial"/>
                <a:ea typeface="Arial"/>
                <a:cs typeface="Arial"/>
                <a:sym typeface="Arial"/>
              </a:endParaRPr>
            </a:p>
            <a:p>
              <a:pPr indent="0" lvl="0" marL="0" rtl="0" algn="l">
                <a:spcBef>
                  <a:spcPts val="450"/>
                </a:spcBef>
                <a:spcAft>
                  <a:spcPts val="0"/>
                </a:spcAft>
                <a:buNone/>
              </a:pPr>
              <a:r>
                <a:rPr b="0" lang="en-US" sz="1100">
                  <a:solidFill>
                    <a:srgbClr val="334155"/>
                  </a:solidFill>
                  <a:latin typeface="Arial"/>
                  <a:ea typeface="Arial"/>
                  <a:cs typeface="Arial"/>
                  <a:sym typeface="Arial"/>
                </a:rPr>
                <a:t>双方が約束を最後までやり切ることで、信頼というゴールを迎えます！</a:t>
              </a:r>
              <a:endParaRPr b="0" sz="1100">
                <a:solidFill>
                  <a:srgbClr val="334155"/>
                </a:solidFill>
                <a:latin typeface="Arial"/>
                <a:ea typeface="Arial"/>
                <a:cs typeface="Arial"/>
                <a:sym typeface="Arial"/>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2" name="Shape 162"/>
        <p:cNvGrpSpPr/>
        <p:nvPr/>
      </p:nvGrpSpPr>
      <p:grpSpPr>
        <a:xfrm>
          <a:off x="0" y="0"/>
          <a:ext cx="0" cy="0"/>
          <a:chOff x="0" y="0"/>
          <a:chExt cx="0" cy="0"/>
        </a:xfrm>
      </p:grpSpPr>
      <p:sp>
        <p:nvSpPr>
          <p:cNvPr id="163" name="Google Shape;163;p7"/>
          <p:cNvSpPr/>
          <p:nvPr/>
        </p:nvSpPr>
        <p:spPr>
          <a:xfrm>
            <a:off x="571500" y="4686300"/>
            <a:ext cx="3810000" cy="266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US" sz="1100">
                <a:solidFill>
                  <a:srgbClr val="64748B"/>
                </a:solidFill>
                <a:latin typeface="Arial"/>
                <a:ea typeface="Arial"/>
                <a:cs typeface="Arial"/>
                <a:sym typeface="Arial"/>
              </a:rPr>
              <a:t>第1部 契約の基本 ― 売買契約</a:t>
            </a:r>
            <a:endParaRPr b="0" sz="1100">
              <a:solidFill>
                <a:srgbClr val="64748B"/>
              </a:solidFill>
              <a:latin typeface="Arial"/>
              <a:ea typeface="Arial"/>
              <a:cs typeface="Arial"/>
              <a:sym typeface="Arial"/>
            </a:endParaRPr>
          </a:p>
        </p:txBody>
      </p:sp>
      <p:sp>
        <p:nvSpPr>
          <p:cNvPr id="164" name="Google Shape;164;p7"/>
          <p:cNvSpPr/>
          <p:nvPr/>
        </p:nvSpPr>
        <p:spPr>
          <a:xfrm>
            <a:off x="6667500" y="4686300"/>
            <a:ext cx="1905000" cy="266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r">
              <a:spcBef>
                <a:spcPts val="0"/>
              </a:spcBef>
              <a:spcAft>
                <a:spcPts val="0"/>
              </a:spcAft>
              <a:buNone/>
            </a:pPr>
            <a:r>
              <a:rPr b="0" lang="en-US" sz="1100">
                <a:solidFill>
                  <a:srgbClr val="64748B"/>
                </a:solidFill>
                <a:latin typeface="Arial"/>
                <a:ea typeface="Arial"/>
                <a:cs typeface="Arial"/>
                <a:sym typeface="Arial"/>
              </a:rPr>
              <a:t>7 / 30</a:t>
            </a:r>
            <a:endParaRPr b="0" sz="1100">
              <a:solidFill>
                <a:srgbClr val="64748B"/>
              </a:solidFill>
              <a:latin typeface="Arial"/>
              <a:ea typeface="Arial"/>
              <a:cs typeface="Arial"/>
              <a:sym typeface="Arial"/>
            </a:endParaRPr>
          </a:p>
        </p:txBody>
      </p:sp>
      <p:sp>
        <p:nvSpPr>
          <p:cNvPr id="165" name="Google Shape;165;p7"/>
          <p:cNvSpPr/>
          <p:nvPr/>
        </p:nvSpPr>
        <p:spPr>
          <a:xfrm>
            <a:off x="571500" y="304800"/>
            <a:ext cx="8001000" cy="476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US" sz="2200">
                <a:solidFill>
                  <a:srgbClr val="0F172A"/>
                </a:solidFill>
                <a:latin typeface="Arial"/>
                <a:ea typeface="Arial"/>
                <a:cs typeface="Arial"/>
                <a:sym typeface="Arial"/>
              </a:rPr>
              <a:t>【図1】売買契約の構造マップ</a:t>
            </a:r>
            <a:endParaRPr b="0" sz="2200">
              <a:solidFill>
                <a:srgbClr val="0F172A"/>
              </a:solidFill>
              <a:latin typeface="Arial"/>
              <a:ea typeface="Arial"/>
              <a:cs typeface="Arial"/>
              <a:sym typeface="Arial"/>
            </a:endParaRPr>
          </a:p>
        </p:txBody>
      </p:sp>
      <p:grpSp>
        <p:nvGrpSpPr>
          <p:cNvPr id="166" name="Google Shape;166;p7"/>
          <p:cNvGrpSpPr/>
          <p:nvPr/>
        </p:nvGrpSpPr>
        <p:grpSpPr>
          <a:xfrm>
            <a:off x="571500" y="904875"/>
            <a:ext cx="1905000" cy="2619300"/>
            <a:chOff x="0" y="0"/>
            <a:chExt cx="1905000" cy="2619300"/>
          </a:xfrm>
        </p:grpSpPr>
        <p:sp>
          <p:nvSpPr>
            <p:cNvPr id="167" name="Google Shape;167;p7"/>
            <p:cNvSpPr/>
            <p:nvPr/>
          </p:nvSpPr>
          <p:spPr>
            <a:xfrm>
              <a:off x="0" y="0"/>
              <a:ext cx="1905000" cy="2619300"/>
            </a:xfrm>
            <a:prstGeom prst="roundRect">
              <a:avLst>
                <a:gd fmla="val 8000" name="adj"/>
              </a:avLst>
            </a:prstGeom>
            <a:solidFill>
              <a:srgbClr val="FFFFFF"/>
            </a:solidFill>
            <a:ln cap="flat" cmpd="sng" w="19050">
              <a:solidFill>
                <a:srgbClr val="FDE68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8" name="Google Shape;168;p7"/>
            <p:cNvSpPr/>
            <p:nvPr/>
          </p:nvSpPr>
          <p:spPr>
            <a:xfrm>
              <a:off x="0" y="0"/>
              <a:ext cx="1905000" cy="533400"/>
            </a:xfrm>
            <a:custGeom>
              <a:rect b="b" l="l" r="r" t="t"/>
              <a:pathLst>
                <a:path extrusionOk="0" h="120000" w="120000">
                  <a:moveTo>
                    <a:pt x="0" y="34286"/>
                  </a:moveTo>
                  <a:cubicBezTo>
                    <a:pt x="0" y="25193"/>
                    <a:pt x="1011" y="16472"/>
                    <a:pt x="2812" y="10042"/>
                  </a:cubicBezTo>
                  <a:cubicBezTo>
                    <a:pt x="4612" y="3612"/>
                    <a:pt x="7054" y="0"/>
                    <a:pt x="9600" y="0"/>
                  </a:cubicBezTo>
                  <a:lnTo>
                    <a:pt x="110400" y="0"/>
                  </a:lnTo>
                  <a:cubicBezTo>
                    <a:pt x="115702" y="0"/>
                    <a:pt x="120000" y="15350"/>
                    <a:pt x="120000" y="34286"/>
                  </a:cubicBezTo>
                  <a:lnTo>
                    <a:pt x="120000" y="120000"/>
                  </a:lnTo>
                  <a:lnTo>
                    <a:pt x="0" y="120000"/>
                  </a:lnTo>
                  <a:close/>
                </a:path>
              </a:pathLst>
            </a:cu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9" name="Google Shape;169;p7"/>
            <p:cNvSpPr txBox="1"/>
            <p:nvPr/>
          </p:nvSpPr>
          <p:spPr>
            <a:xfrm>
              <a:off x="0" y="0"/>
              <a:ext cx="1905000" cy="533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500">
                  <a:solidFill>
                    <a:srgbClr val="FFFFFF"/>
                  </a:solidFill>
                  <a:latin typeface="Arial"/>
                  <a:ea typeface="Arial"/>
                  <a:cs typeface="Arial"/>
                  <a:sym typeface="Arial"/>
                </a:rPr>
                <a:t>🏪 売主（お店）</a:t>
              </a:r>
              <a:endParaRPr b="0" sz="1500">
                <a:solidFill>
                  <a:srgbClr val="FFFFFF"/>
                </a:solidFill>
                <a:latin typeface="Arial"/>
                <a:ea typeface="Arial"/>
                <a:cs typeface="Arial"/>
                <a:sym typeface="Arial"/>
              </a:endParaRPr>
            </a:p>
          </p:txBody>
        </p:sp>
        <p:sp>
          <p:nvSpPr>
            <p:cNvPr id="170" name="Google Shape;170;p7"/>
            <p:cNvSpPr/>
            <p:nvPr/>
          </p:nvSpPr>
          <p:spPr>
            <a:xfrm>
              <a:off x="647700" y="790575"/>
              <a:ext cx="609600" cy="609600"/>
            </a:xfrm>
            <a:prstGeom prst="ellipse">
              <a:avLst/>
            </a:prstGeom>
            <a:solidFill>
              <a:srgbClr val="FEF3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1" name="Google Shape;171;p7"/>
            <p:cNvSpPr txBox="1"/>
            <p:nvPr/>
          </p:nvSpPr>
          <p:spPr>
            <a:xfrm>
              <a:off x="647700" y="837311"/>
              <a:ext cx="609600" cy="609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3200">
                  <a:solidFill>
                    <a:srgbClr val="D97706"/>
                  </a:solidFill>
                  <a:latin typeface="Material Icons"/>
                  <a:ea typeface="Material Icons"/>
                  <a:cs typeface="Material Icons"/>
                  <a:sym typeface="Material Icons"/>
                </a:rPr>
                <a:t>storefront</a:t>
              </a:r>
              <a:endParaRPr sz="3200">
                <a:solidFill>
                  <a:srgbClr val="D97706"/>
                </a:solidFill>
                <a:latin typeface="Material Icons"/>
                <a:ea typeface="Material Icons"/>
                <a:cs typeface="Material Icons"/>
                <a:sym typeface="Material Icons"/>
              </a:endParaRPr>
            </a:p>
          </p:txBody>
        </p:sp>
        <p:sp>
          <p:nvSpPr>
            <p:cNvPr id="172" name="Google Shape;172;p7"/>
            <p:cNvSpPr txBox="1"/>
            <p:nvPr/>
          </p:nvSpPr>
          <p:spPr>
            <a:xfrm>
              <a:off x="142875" y="1524000"/>
              <a:ext cx="1619100" cy="952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100">
                  <a:solidFill>
                    <a:srgbClr val="1E293B"/>
                  </a:solidFill>
                  <a:latin typeface="Arial"/>
                  <a:ea typeface="Arial"/>
                  <a:cs typeface="Arial"/>
                  <a:sym typeface="Arial"/>
                </a:rPr>
                <a:t>商品を売る立場</a:t>
              </a:r>
              <a:endParaRPr b="1" sz="1100">
                <a:solidFill>
                  <a:srgbClr val="1E293B"/>
                </a:solidFill>
                <a:latin typeface="Arial"/>
                <a:ea typeface="Arial"/>
                <a:cs typeface="Arial"/>
                <a:sym typeface="Arial"/>
              </a:endParaRPr>
            </a:p>
            <a:p>
              <a:pPr indent="0" lvl="0" marL="0" rtl="0" algn="ctr">
                <a:spcBef>
                  <a:spcPts val="450"/>
                </a:spcBef>
                <a:spcAft>
                  <a:spcPts val="0"/>
                </a:spcAft>
                <a:buNone/>
              </a:pPr>
              <a:r>
                <a:rPr lang="en-US" sz="1000">
                  <a:solidFill>
                    <a:srgbClr val="64748B"/>
                  </a:solidFill>
                  <a:latin typeface="Arial"/>
                  <a:ea typeface="Arial"/>
                  <a:cs typeface="Arial"/>
                  <a:sym typeface="Arial"/>
                </a:rPr>
                <a:t>（商品を引き渡す側）</a:t>
              </a:r>
              <a:endParaRPr sz="1000">
                <a:solidFill>
                  <a:srgbClr val="64748B"/>
                </a:solidFill>
                <a:latin typeface="Arial"/>
                <a:ea typeface="Arial"/>
                <a:cs typeface="Arial"/>
                <a:sym typeface="Arial"/>
              </a:endParaRPr>
            </a:p>
          </p:txBody>
        </p:sp>
      </p:grpSp>
      <p:grpSp>
        <p:nvGrpSpPr>
          <p:cNvPr id="173" name="Google Shape;173;p7"/>
          <p:cNvGrpSpPr/>
          <p:nvPr/>
        </p:nvGrpSpPr>
        <p:grpSpPr>
          <a:xfrm>
            <a:off x="6667500" y="904875"/>
            <a:ext cx="1905000" cy="2619300"/>
            <a:chOff x="0" y="0"/>
            <a:chExt cx="1905000" cy="2619300"/>
          </a:xfrm>
        </p:grpSpPr>
        <p:sp>
          <p:nvSpPr>
            <p:cNvPr id="174" name="Google Shape;174;p7"/>
            <p:cNvSpPr/>
            <p:nvPr/>
          </p:nvSpPr>
          <p:spPr>
            <a:xfrm>
              <a:off x="0" y="0"/>
              <a:ext cx="1905000" cy="2619300"/>
            </a:xfrm>
            <a:prstGeom prst="roundRect">
              <a:avLst>
                <a:gd fmla="val 8000" name="adj"/>
              </a:avLst>
            </a:prstGeom>
            <a:solidFill>
              <a:srgbClr val="FFFFFF"/>
            </a:solidFill>
            <a:ln cap="flat" cmpd="sng" w="19050">
              <a:solidFill>
                <a:srgbClr val="FBCFE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5" name="Google Shape;175;p7"/>
            <p:cNvSpPr/>
            <p:nvPr/>
          </p:nvSpPr>
          <p:spPr>
            <a:xfrm>
              <a:off x="0" y="0"/>
              <a:ext cx="1905000" cy="533400"/>
            </a:xfrm>
            <a:custGeom>
              <a:rect b="b" l="l" r="r" t="t"/>
              <a:pathLst>
                <a:path extrusionOk="0" h="120000" w="120000">
                  <a:moveTo>
                    <a:pt x="0" y="34286"/>
                  </a:moveTo>
                  <a:cubicBezTo>
                    <a:pt x="0" y="25193"/>
                    <a:pt x="1011" y="16472"/>
                    <a:pt x="2812" y="10042"/>
                  </a:cubicBezTo>
                  <a:cubicBezTo>
                    <a:pt x="4612" y="3612"/>
                    <a:pt x="7054" y="0"/>
                    <a:pt x="9600" y="0"/>
                  </a:cubicBezTo>
                  <a:lnTo>
                    <a:pt x="110400" y="0"/>
                  </a:lnTo>
                  <a:cubicBezTo>
                    <a:pt x="115702" y="0"/>
                    <a:pt x="120000" y="15350"/>
                    <a:pt x="120000" y="34286"/>
                  </a:cubicBezTo>
                  <a:lnTo>
                    <a:pt x="120000" y="120000"/>
                  </a:lnTo>
                  <a:lnTo>
                    <a:pt x="0" y="120000"/>
                  </a:lnTo>
                  <a:close/>
                </a:path>
              </a:pathLst>
            </a:custGeom>
            <a:solidFill>
              <a:srgbClr val="EC489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6" name="Google Shape;176;p7"/>
            <p:cNvSpPr txBox="1"/>
            <p:nvPr/>
          </p:nvSpPr>
          <p:spPr>
            <a:xfrm>
              <a:off x="0" y="0"/>
              <a:ext cx="1905000" cy="533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500">
                  <a:solidFill>
                    <a:srgbClr val="FFFFFF"/>
                  </a:solidFill>
                  <a:latin typeface="Arial"/>
                  <a:ea typeface="Arial"/>
                  <a:cs typeface="Arial"/>
                  <a:sym typeface="Arial"/>
                </a:rPr>
                <a:t>🛒 買主（お客）</a:t>
              </a:r>
              <a:endParaRPr b="0" sz="1500">
                <a:solidFill>
                  <a:srgbClr val="FFFFFF"/>
                </a:solidFill>
                <a:latin typeface="Arial"/>
                <a:ea typeface="Arial"/>
                <a:cs typeface="Arial"/>
                <a:sym typeface="Arial"/>
              </a:endParaRPr>
            </a:p>
          </p:txBody>
        </p:sp>
        <p:sp>
          <p:nvSpPr>
            <p:cNvPr id="177" name="Google Shape;177;p7"/>
            <p:cNvSpPr/>
            <p:nvPr/>
          </p:nvSpPr>
          <p:spPr>
            <a:xfrm>
              <a:off x="647700" y="790575"/>
              <a:ext cx="609600" cy="609600"/>
            </a:xfrm>
            <a:prstGeom prst="ellipse">
              <a:avLst/>
            </a:prstGeom>
            <a:solidFill>
              <a:srgbClr val="FCE7F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8" name="Google Shape;178;p7"/>
            <p:cNvSpPr txBox="1"/>
            <p:nvPr/>
          </p:nvSpPr>
          <p:spPr>
            <a:xfrm>
              <a:off x="647700" y="837311"/>
              <a:ext cx="609600" cy="609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3200">
                  <a:solidFill>
                    <a:srgbClr val="DB2777"/>
                  </a:solidFill>
                  <a:latin typeface="Material Icons"/>
                  <a:ea typeface="Material Icons"/>
                  <a:cs typeface="Material Icons"/>
                  <a:sym typeface="Material Icons"/>
                </a:rPr>
                <a:t>shopping_bag</a:t>
              </a:r>
              <a:endParaRPr sz="3200">
                <a:solidFill>
                  <a:srgbClr val="DB2777"/>
                </a:solidFill>
                <a:latin typeface="Material Icons"/>
                <a:ea typeface="Material Icons"/>
                <a:cs typeface="Material Icons"/>
                <a:sym typeface="Material Icons"/>
              </a:endParaRPr>
            </a:p>
          </p:txBody>
        </p:sp>
        <p:sp>
          <p:nvSpPr>
            <p:cNvPr id="179" name="Google Shape;179;p7"/>
            <p:cNvSpPr txBox="1"/>
            <p:nvPr/>
          </p:nvSpPr>
          <p:spPr>
            <a:xfrm>
              <a:off x="142875" y="1524000"/>
              <a:ext cx="1619100" cy="952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100">
                  <a:solidFill>
                    <a:srgbClr val="1E293B"/>
                  </a:solidFill>
                  <a:latin typeface="Arial"/>
                  <a:ea typeface="Arial"/>
                  <a:cs typeface="Arial"/>
                  <a:sym typeface="Arial"/>
                </a:rPr>
                <a:t>商品を買う立場</a:t>
              </a:r>
              <a:endParaRPr b="1" sz="1100">
                <a:solidFill>
                  <a:srgbClr val="1E293B"/>
                </a:solidFill>
                <a:latin typeface="Arial"/>
                <a:ea typeface="Arial"/>
                <a:cs typeface="Arial"/>
                <a:sym typeface="Arial"/>
              </a:endParaRPr>
            </a:p>
            <a:p>
              <a:pPr indent="0" lvl="0" marL="0" rtl="0" algn="ctr">
                <a:spcBef>
                  <a:spcPts val="450"/>
                </a:spcBef>
                <a:spcAft>
                  <a:spcPts val="0"/>
                </a:spcAft>
                <a:buNone/>
              </a:pPr>
              <a:r>
                <a:rPr lang="en-US" sz="1000">
                  <a:solidFill>
                    <a:srgbClr val="64748B"/>
                  </a:solidFill>
                  <a:latin typeface="Arial"/>
                  <a:ea typeface="Arial"/>
                  <a:cs typeface="Arial"/>
                  <a:sym typeface="Arial"/>
                </a:rPr>
                <a:t>（代金を支払う側）</a:t>
              </a:r>
              <a:endParaRPr sz="1000">
                <a:solidFill>
                  <a:srgbClr val="64748B"/>
                </a:solidFill>
                <a:latin typeface="Arial"/>
                <a:ea typeface="Arial"/>
                <a:cs typeface="Arial"/>
                <a:sym typeface="Arial"/>
              </a:endParaRPr>
            </a:p>
          </p:txBody>
        </p:sp>
      </p:grpSp>
      <p:grpSp>
        <p:nvGrpSpPr>
          <p:cNvPr id="180" name="Google Shape;180;p7"/>
          <p:cNvGrpSpPr/>
          <p:nvPr/>
        </p:nvGrpSpPr>
        <p:grpSpPr>
          <a:xfrm>
            <a:off x="2667000" y="904875"/>
            <a:ext cx="3810000" cy="781200"/>
            <a:chOff x="0" y="0"/>
            <a:chExt cx="3810000" cy="781200"/>
          </a:xfrm>
        </p:grpSpPr>
        <p:sp>
          <p:nvSpPr>
            <p:cNvPr id="181" name="Google Shape;181;p7"/>
            <p:cNvSpPr/>
            <p:nvPr/>
          </p:nvSpPr>
          <p:spPr>
            <a:xfrm>
              <a:off x="0" y="0"/>
              <a:ext cx="3810000" cy="781200"/>
            </a:xfrm>
            <a:prstGeom prst="roundRect">
              <a:avLst>
                <a:gd fmla="val 14634" name="adj"/>
              </a:avLst>
            </a:prstGeom>
            <a:solidFill>
              <a:srgbClr val="F8FAFC"/>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2" name="Google Shape;182;p7"/>
            <p:cNvSpPr txBox="1"/>
            <p:nvPr/>
          </p:nvSpPr>
          <p:spPr>
            <a:xfrm>
              <a:off x="142875" y="76200"/>
              <a:ext cx="35244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000">
                  <a:solidFill>
                    <a:srgbClr val="475569"/>
                  </a:solidFill>
                  <a:latin typeface="Arial"/>
                  <a:ea typeface="Arial"/>
                  <a:cs typeface="Arial"/>
                  <a:sym typeface="Arial"/>
                </a:rPr>
                <a:t>📦 商品の引き渡し</a:t>
              </a:r>
              <a:endParaRPr b="1" sz="1000">
                <a:solidFill>
                  <a:srgbClr val="475569"/>
                </a:solidFill>
                <a:latin typeface="Arial"/>
                <a:ea typeface="Arial"/>
                <a:cs typeface="Arial"/>
                <a:sym typeface="Arial"/>
              </a:endParaRPr>
            </a:p>
          </p:txBody>
        </p:sp>
        <p:sp>
          <p:nvSpPr>
            <p:cNvPr id="183" name="Google Shape;183;p7"/>
            <p:cNvSpPr/>
            <p:nvPr/>
          </p:nvSpPr>
          <p:spPr>
            <a:xfrm>
              <a:off x="142875" y="304800"/>
              <a:ext cx="1571700" cy="381000"/>
            </a:xfrm>
            <a:prstGeom prst="roundRect">
              <a:avLst>
                <a:gd fmla="val 20000" name="adj"/>
              </a:avLst>
            </a:prstGeom>
            <a:solidFill>
              <a:srgbClr val="FEF2F2"/>
            </a:solidFill>
            <a:ln cap="flat" cmpd="sng" w="9525">
              <a:solidFill>
                <a:srgbClr val="FCA5A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4" name="Google Shape;184;p7"/>
            <p:cNvSpPr txBox="1"/>
            <p:nvPr/>
          </p:nvSpPr>
          <p:spPr>
            <a:xfrm>
              <a:off x="142875" y="304800"/>
              <a:ext cx="15717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950">
                  <a:solidFill>
                    <a:srgbClr val="991B1B"/>
                  </a:solidFill>
                  <a:latin typeface="Arial"/>
                  <a:ea typeface="Arial"/>
                  <a:cs typeface="Arial"/>
                  <a:sym typeface="Arial"/>
                </a:rPr>
                <a:t>売主の債務</a:t>
              </a:r>
              <a:endParaRPr b="1" sz="950">
                <a:solidFill>
                  <a:srgbClr val="991B1B"/>
                </a:solidFill>
                <a:latin typeface="Arial"/>
                <a:ea typeface="Arial"/>
                <a:cs typeface="Arial"/>
                <a:sym typeface="Arial"/>
              </a:endParaRPr>
            </a:p>
            <a:p>
              <a:pPr indent="0" lvl="0" marL="0" rtl="0" algn="ctr">
                <a:spcBef>
                  <a:spcPts val="0"/>
                </a:spcBef>
                <a:spcAft>
                  <a:spcPts val="0"/>
                </a:spcAft>
                <a:buNone/>
              </a:pPr>
              <a:r>
                <a:rPr b="0" lang="en-US" sz="850">
                  <a:solidFill>
                    <a:srgbClr val="DC2626"/>
                  </a:solidFill>
                  <a:latin typeface="Arial"/>
                  <a:ea typeface="Arial"/>
                  <a:cs typeface="Arial"/>
                  <a:sym typeface="Arial"/>
                </a:rPr>
                <a:t>商品を渡す義務 📦</a:t>
              </a:r>
              <a:endParaRPr b="0" sz="850">
                <a:solidFill>
                  <a:srgbClr val="DC2626"/>
                </a:solidFill>
                <a:latin typeface="Arial"/>
                <a:ea typeface="Arial"/>
                <a:cs typeface="Arial"/>
                <a:sym typeface="Arial"/>
              </a:endParaRPr>
            </a:p>
          </p:txBody>
        </p:sp>
        <p:sp>
          <p:nvSpPr>
            <p:cNvPr id="185" name="Google Shape;185;p7"/>
            <p:cNvSpPr txBox="1"/>
            <p:nvPr/>
          </p:nvSpPr>
          <p:spPr>
            <a:xfrm>
              <a:off x="1762125" y="304800"/>
              <a:ext cx="2859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400">
                  <a:solidFill>
                    <a:srgbClr val="64748B"/>
                  </a:solidFill>
                  <a:latin typeface="Arial"/>
                  <a:ea typeface="Arial"/>
                  <a:cs typeface="Arial"/>
                  <a:sym typeface="Arial"/>
                </a:rPr>
                <a:t>＝</a:t>
              </a:r>
              <a:endParaRPr b="1" sz="1400">
                <a:solidFill>
                  <a:srgbClr val="64748B"/>
                </a:solidFill>
                <a:latin typeface="Arial"/>
                <a:ea typeface="Arial"/>
                <a:cs typeface="Arial"/>
                <a:sym typeface="Arial"/>
              </a:endParaRPr>
            </a:p>
          </p:txBody>
        </p:sp>
        <p:sp>
          <p:nvSpPr>
            <p:cNvPr id="186" name="Google Shape;186;p7"/>
            <p:cNvSpPr/>
            <p:nvPr/>
          </p:nvSpPr>
          <p:spPr>
            <a:xfrm>
              <a:off x="2095500" y="304800"/>
              <a:ext cx="1571700" cy="381000"/>
            </a:xfrm>
            <a:prstGeom prst="roundRect">
              <a:avLst>
                <a:gd fmla="val 20000" name="adj"/>
              </a:avLst>
            </a:prstGeom>
            <a:solidFill>
              <a:srgbClr val="EFF6FF"/>
            </a:solidFill>
            <a:ln cap="flat" cmpd="sng" w="9525">
              <a:solidFill>
                <a:srgbClr val="93C5F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7" name="Google Shape;187;p7"/>
            <p:cNvSpPr txBox="1"/>
            <p:nvPr/>
          </p:nvSpPr>
          <p:spPr>
            <a:xfrm>
              <a:off x="2095500" y="304800"/>
              <a:ext cx="15717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950">
                  <a:solidFill>
                    <a:srgbClr val="1E40AF"/>
                  </a:solidFill>
                  <a:latin typeface="Arial"/>
                  <a:ea typeface="Arial"/>
                  <a:cs typeface="Arial"/>
                  <a:sym typeface="Arial"/>
                </a:rPr>
                <a:t>買主の債権</a:t>
              </a:r>
              <a:endParaRPr b="1" sz="950">
                <a:solidFill>
                  <a:srgbClr val="1E40AF"/>
                </a:solidFill>
                <a:latin typeface="Arial"/>
                <a:ea typeface="Arial"/>
                <a:cs typeface="Arial"/>
                <a:sym typeface="Arial"/>
              </a:endParaRPr>
            </a:p>
            <a:p>
              <a:pPr indent="0" lvl="0" marL="0" rtl="0" algn="ctr">
                <a:spcBef>
                  <a:spcPts val="0"/>
                </a:spcBef>
                <a:spcAft>
                  <a:spcPts val="0"/>
                </a:spcAft>
                <a:buNone/>
              </a:pPr>
              <a:r>
                <a:rPr b="0" lang="en-US" sz="850">
                  <a:solidFill>
                    <a:srgbClr val="2563EB"/>
                  </a:solidFill>
                  <a:latin typeface="Arial"/>
                  <a:ea typeface="Arial"/>
                  <a:cs typeface="Arial"/>
                  <a:sym typeface="Arial"/>
                </a:rPr>
                <a:t>商品を求める権利 ✨</a:t>
              </a:r>
              <a:endParaRPr b="0" sz="850">
                <a:solidFill>
                  <a:srgbClr val="2563EB"/>
                </a:solidFill>
                <a:latin typeface="Arial"/>
                <a:ea typeface="Arial"/>
                <a:cs typeface="Arial"/>
                <a:sym typeface="Arial"/>
              </a:endParaRPr>
            </a:p>
          </p:txBody>
        </p:sp>
      </p:grpSp>
      <p:grpSp>
        <p:nvGrpSpPr>
          <p:cNvPr id="188" name="Google Shape;188;p7"/>
          <p:cNvGrpSpPr/>
          <p:nvPr/>
        </p:nvGrpSpPr>
        <p:grpSpPr>
          <a:xfrm>
            <a:off x="2667000" y="1809750"/>
            <a:ext cx="3810000" cy="781200"/>
            <a:chOff x="0" y="0"/>
            <a:chExt cx="3810000" cy="781200"/>
          </a:xfrm>
        </p:grpSpPr>
        <p:sp>
          <p:nvSpPr>
            <p:cNvPr id="189" name="Google Shape;189;p7"/>
            <p:cNvSpPr/>
            <p:nvPr/>
          </p:nvSpPr>
          <p:spPr>
            <a:xfrm>
              <a:off x="0" y="0"/>
              <a:ext cx="3810000" cy="781200"/>
            </a:xfrm>
            <a:prstGeom prst="roundRect">
              <a:avLst>
                <a:gd fmla="val 14634" name="adj"/>
              </a:avLst>
            </a:prstGeom>
            <a:solidFill>
              <a:srgbClr val="F8FAFC"/>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0" name="Google Shape;190;p7"/>
            <p:cNvSpPr txBox="1"/>
            <p:nvPr/>
          </p:nvSpPr>
          <p:spPr>
            <a:xfrm>
              <a:off x="142875" y="76200"/>
              <a:ext cx="35244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000">
                  <a:solidFill>
                    <a:srgbClr val="475569"/>
                  </a:solidFill>
                  <a:latin typeface="Arial"/>
                  <a:ea typeface="Arial"/>
                  <a:cs typeface="Arial"/>
                  <a:sym typeface="Arial"/>
                </a:rPr>
                <a:t>代金の支払い</a:t>
              </a:r>
              <a:endParaRPr b="1" sz="1000">
                <a:solidFill>
                  <a:srgbClr val="475569"/>
                </a:solidFill>
                <a:latin typeface="Arial"/>
                <a:ea typeface="Arial"/>
                <a:cs typeface="Arial"/>
                <a:sym typeface="Arial"/>
              </a:endParaRPr>
            </a:p>
          </p:txBody>
        </p:sp>
        <p:sp>
          <p:nvSpPr>
            <p:cNvPr id="191" name="Google Shape;191;p7"/>
            <p:cNvSpPr/>
            <p:nvPr/>
          </p:nvSpPr>
          <p:spPr>
            <a:xfrm>
              <a:off x="142875" y="304800"/>
              <a:ext cx="1571700" cy="381000"/>
            </a:xfrm>
            <a:prstGeom prst="roundRect">
              <a:avLst>
                <a:gd fmla="val 20000" name="adj"/>
              </a:avLst>
            </a:prstGeom>
            <a:solidFill>
              <a:srgbClr val="EFF6FF"/>
            </a:solidFill>
            <a:ln cap="flat" cmpd="sng" w="9525">
              <a:solidFill>
                <a:srgbClr val="93C5F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2" name="Google Shape;192;p7"/>
            <p:cNvSpPr txBox="1"/>
            <p:nvPr/>
          </p:nvSpPr>
          <p:spPr>
            <a:xfrm>
              <a:off x="142875" y="304800"/>
              <a:ext cx="15717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950">
                  <a:solidFill>
                    <a:srgbClr val="1E40AF"/>
                  </a:solidFill>
                  <a:latin typeface="Arial"/>
                  <a:ea typeface="Arial"/>
                  <a:cs typeface="Arial"/>
                  <a:sym typeface="Arial"/>
                </a:rPr>
                <a:t>売主の債権</a:t>
              </a:r>
              <a:endParaRPr b="1" sz="950">
                <a:solidFill>
                  <a:srgbClr val="1E40AF"/>
                </a:solidFill>
                <a:latin typeface="Arial"/>
                <a:ea typeface="Arial"/>
                <a:cs typeface="Arial"/>
                <a:sym typeface="Arial"/>
              </a:endParaRPr>
            </a:p>
            <a:p>
              <a:pPr indent="0" lvl="0" marL="0" rtl="0" algn="ctr">
                <a:spcBef>
                  <a:spcPts val="0"/>
                </a:spcBef>
                <a:spcAft>
                  <a:spcPts val="0"/>
                </a:spcAft>
                <a:buNone/>
              </a:pPr>
              <a:r>
                <a:rPr b="0" lang="en-US" sz="850">
                  <a:solidFill>
                    <a:srgbClr val="2563EB"/>
                  </a:solidFill>
                  <a:latin typeface="Arial"/>
                  <a:ea typeface="Arial"/>
                  <a:cs typeface="Arial"/>
                  <a:sym typeface="Arial"/>
                </a:rPr>
                <a:t>代金を求める権利 💰</a:t>
              </a:r>
              <a:endParaRPr b="0" sz="850">
                <a:solidFill>
                  <a:srgbClr val="2563EB"/>
                </a:solidFill>
                <a:latin typeface="Arial"/>
                <a:ea typeface="Arial"/>
                <a:cs typeface="Arial"/>
                <a:sym typeface="Arial"/>
              </a:endParaRPr>
            </a:p>
          </p:txBody>
        </p:sp>
        <p:sp>
          <p:nvSpPr>
            <p:cNvPr id="193" name="Google Shape;193;p7"/>
            <p:cNvSpPr txBox="1"/>
            <p:nvPr/>
          </p:nvSpPr>
          <p:spPr>
            <a:xfrm>
              <a:off x="1762125" y="304800"/>
              <a:ext cx="2859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400">
                  <a:solidFill>
                    <a:srgbClr val="64748B"/>
                  </a:solidFill>
                  <a:latin typeface="Arial"/>
                  <a:ea typeface="Arial"/>
                  <a:cs typeface="Arial"/>
                  <a:sym typeface="Arial"/>
                </a:rPr>
                <a:t>＝</a:t>
              </a:r>
              <a:endParaRPr b="1" sz="1400">
                <a:solidFill>
                  <a:srgbClr val="64748B"/>
                </a:solidFill>
                <a:latin typeface="Arial"/>
                <a:ea typeface="Arial"/>
                <a:cs typeface="Arial"/>
                <a:sym typeface="Arial"/>
              </a:endParaRPr>
            </a:p>
          </p:txBody>
        </p:sp>
        <p:sp>
          <p:nvSpPr>
            <p:cNvPr id="194" name="Google Shape;194;p7"/>
            <p:cNvSpPr/>
            <p:nvPr/>
          </p:nvSpPr>
          <p:spPr>
            <a:xfrm>
              <a:off x="2095500" y="304800"/>
              <a:ext cx="1571700" cy="381000"/>
            </a:xfrm>
            <a:prstGeom prst="roundRect">
              <a:avLst>
                <a:gd fmla="val 20000" name="adj"/>
              </a:avLst>
            </a:prstGeom>
            <a:solidFill>
              <a:srgbClr val="FEF2F2"/>
            </a:solidFill>
            <a:ln cap="flat" cmpd="sng" w="9525">
              <a:solidFill>
                <a:srgbClr val="FCA5A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5" name="Google Shape;195;p7"/>
            <p:cNvSpPr txBox="1"/>
            <p:nvPr/>
          </p:nvSpPr>
          <p:spPr>
            <a:xfrm>
              <a:off x="2095500" y="304800"/>
              <a:ext cx="15717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950">
                  <a:solidFill>
                    <a:srgbClr val="991B1B"/>
                  </a:solidFill>
                  <a:latin typeface="Arial"/>
                  <a:ea typeface="Arial"/>
                  <a:cs typeface="Arial"/>
                  <a:sym typeface="Arial"/>
                </a:rPr>
                <a:t>買主の債務</a:t>
              </a:r>
              <a:endParaRPr b="1" sz="950">
                <a:solidFill>
                  <a:srgbClr val="991B1B"/>
                </a:solidFill>
                <a:latin typeface="Arial"/>
                <a:ea typeface="Arial"/>
                <a:cs typeface="Arial"/>
                <a:sym typeface="Arial"/>
              </a:endParaRPr>
            </a:p>
            <a:p>
              <a:pPr indent="0" lvl="0" marL="0" rtl="0" algn="ctr">
                <a:spcBef>
                  <a:spcPts val="0"/>
                </a:spcBef>
                <a:spcAft>
                  <a:spcPts val="0"/>
                </a:spcAft>
                <a:buNone/>
              </a:pPr>
              <a:r>
                <a:rPr b="0" lang="en-US" sz="850">
                  <a:solidFill>
                    <a:srgbClr val="DC2626"/>
                  </a:solidFill>
                  <a:latin typeface="Arial"/>
                  <a:ea typeface="Arial"/>
                  <a:cs typeface="Arial"/>
                  <a:sym typeface="Arial"/>
                </a:rPr>
                <a:t>代金を支払う義務 💳</a:t>
              </a:r>
              <a:endParaRPr b="0" sz="850">
                <a:solidFill>
                  <a:srgbClr val="DC2626"/>
                </a:solidFill>
                <a:latin typeface="Arial"/>
                <a:ea typeface="Arial"/>
                <a:cs typeface="Arial"/>
                <a:sym typeface="Arial"/>
              </a:endParaRPr>
            </a:p>
          </p:txBody>
        </p:sp>
      </p:grpSp>
      <p:grpSp>
        <p:nvGrpSpPr>
          <p:cNvPr id="196" name="Google Shape;196;p7"/>
          <p:cNvGrpSpPr/>
          <p:nvPr/>
        </p:nvGrpSpPr>
        <p:grpSpPr>
          <a:xfrm>
            <a:off x="2657475" y="2705100"/>
            <a:ext cx="3829200" cy="828600"/>
            <a:chOff x="-9525" y="-9525"/>
            <a:chExt cx="3829200" cy="828600"/>
          </a:xfrm>
        </p:grpSpPr>
        <p:pic>
          <p:nvPicPr>
            <p:cNvPr id="197" name="Google Shape;197;p7"/>
            <p:cNvPicPr preferRelativeResize="0"/>
            <p:nvPr/>
          </p:nvPicPr>
          <p:blipFill rotWithShape="1">
            <a:blip r:embed="rId3">
              <a:alphaModFix/>
            </a:blip>
            <a:srcRect b="0" l="0" r="0" t="0"/>
            <a:stretch/>
          </p:blipFill>
          <p:spPr>
            <a:xfrm>
              <a:off x="-9525" y="-9525"/>
              <a:ext cx="3829200" cy="828600"/>
            </a:xfrm>
            <a:prstGeom prst="rect">
              <a:avLst/>
            </a:prstGeom>
            <a:noFill/>
            <a:ln>
              <a:noFill/>
            </a:ln>
          </p:spPr>
        </p:pic>
        <p:sp>
          <p:nvSpPr>
            <p:cNvPr id="198" name="Google Shape;198;p7"/>
            <p:cNvSpPr txBox="1"/>
            <p:nvPr/>
          </p:nvSpPr>
          <p:spPr>
            <a:xfrm>
              <a:off x="142875" y="95250"/>
              <a:ext cx="3524400" cy="619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050">
                  <a:solidFill>
                    <a:srgbClr val="166534"/>
                  </a:solidFill>
                  <a:latin typeface="Arial"/>
                  <a:ea typeface="Arial"/>
                  <a:cs typeface="Arial"/>
                  <a:sym typeface="Arial"/>
                </a:rPr>
                <a:t>💡 契約成立のポイント</a:t>
              </a:r>
              <a:endParaRPr b="1" sz="1050">
                <a:solidFill>
                  <a:srgbClr val="166534"/>
                </a:solidFill>
                <a:latin typeface="Arial"/>
                <a:ea typeface="Arial"/>
                <a:cs typeface="Arial"/>
                <a:sym typeface="Arial"/>
              </a:endParaRPr>
            </a:p>
            <a:p>
              <a:pPr indent="0" lvl="0" marL="0" rtl="0" algn="ctr">
                <a:spcBef>
                  <a:spcPts val="300"/>
                </a:spcBef>
                <a:spcAft>
                  <a:spcPts val="0"/>
                </a:spcAft>
                <a:buNone/>
              </a:pPr>
              <a:r>
                <a:rPr lang="en-US" sz="1000">
                  <a:solidFill>
                    <a:srgbClr val="15803D"/>
                  </a:solidFill>
                  <a:latin typeface="Arial"/>
                  <a:ea typeface="Arial"/>
                  <a:cs typeface="Arial"/>
                  <a:sym typeface="Arial"/>
                </a:rPr>
                <a:t>「これください」「はい」の合意だけで成立</a:t>
              </a:r>
              <a:endParaRPr sz="1000">
                <a:solidFill>
                  <a:srgbClr val="15803D"/>
                </a:solidFill>
                <a:latin typeface="Arial"/>
                <a:ea typeface="Arial"/>
                <a:cs typeface="Arial"/>
                <a:sym typeface="Arial"/>
              </a:endParaRPr>
            </a:p>
            <a:p>
              <a:pPr indent="0" lvl="0" marL="0" rtl="0" algn="ctr">
                <a:spcBef>
                  <a:spcPts val="0"/>
                </a:spcBef>
                <a:spcAft>
                  <a:spcPts val="0"/>
                </a:spcAft>
                <a:buNone/>
              </a:pPr>
              <a:r>
                <a:rPr lang="en-US" sz="900">
                  <a:solidFill>
                    <a:srgbClr val="4B5563"/>
                  </a:solidFill>
                  <a:latin typeface="Arial"/>
                  <a:ea typeface="Arial"/>
                  <a:cs typeface="Arial"/>
                  <a:sym typeface="Arial"/>
                </a:rPr>
                <a:t>（契約書やハンコがなくても成立する「諾成契約」）</a:t>
              </a:r>
              <a:endParaRPr sz="900">
                <a:solidFill>
                  <a:srgbClr val="4B5563"/>
                </a:solidFill>
                <a:latin typeface="Arial"/>
                <a:ea typeface="Arial"/>
                <a:cs typeface="Arial"/>
                <a:sym typeface="Arial"/>
              </a:endParaRPr>
            </a:p>
          </p:txBody>
        </p:sp>
      </p:grpSp>
      <p:grpSp>
        <p:nvGrpSpPr>
          <p:cNvPr id="199" name="Google Shape;199;p7"/>
          <p:cNvGrpSpPr/>
          <p:nvPr/>
        </p:nvGrpSpPr>
        <p:grpSpPr>
          <a:xfrm>
            <a:off x="571500" y="3695700"/>
            <a:ext cx="8001000" cy="743100"/>
            <a:chOff x="0" y="0"/>
            <a:chExt cx="8001000" cy="743100"/>
          </a:xfrm>
        </p:grpSpPr>
        <p:sp>
          <p:nvSpPr>
            <p:cNvPr id="200" name="Google Shape;200;p7"/>
            <p:cNvSpPr/>
            <p:nvPr/>
          </p:nvSpPr>
          <p:spPr>
            <a:xfrm>
              <a:off x="0" y="0"/>
              <a:ext cx="8001000" cy="743100"/>
            </a:xfrm>
            <a:prstGeom prst="roundRect">
              <a:avLst>
                <a:gd fmla="val 15384" name="adj"/>
              </a:avLst>
            </a:prstGeom>
            <a:solidFill>
              <a:srgbClr val="F0F9FF"/>
            </a:solidFill>
            <a:ln cap="flat" cmpd="sng" w="14300">
              <a:solidFill>
                <a:srgbClr val="BAE6F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1" name="Google Shape;201;p7"/>
            <p:cNvSpPr/>
            <p:nvPr/>
          </p:nvSpPr>
          <p:spPr>
            <a:xfrm>
              <a:off x="142875" y="133350"/>
              <a:ext cx="3429000" cy="476400"/>
            </a:xfrm>
            <a:prstGeom prst="roundRect">
              <a:avLst>
                <a:gd fmla="val 16000" name="adj"/>
              </a:avLst>
            </a:prstGeom>
            <a:solidFill>
              <a:srgbClr val="FFFFFF"/>
            </a:solidFill>
            <a:ln cap="flat" cmpd="sng" w="9525">
              <a:solidFill>
                <a:srgbClr val="E0F2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2" name="Google Shape;202;p7"/>
            <p:cNvSpPr txBox="1"/>
            <p:nvPr/>
          </p:nvSpPr>
          <p:spPr>
            <a:xfrm>
              <a:off x="238125" y="133350"/>
              <a:ext cx="32385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000">
                  <a:solidFill>
                    <a:srgbClr val="0369A1"/>
                  </a:solidFill>
                  <a:latin typeface="Arial"/>
                  <a:ea typeface="Arial"/>
                  <a:cs typeface="Arial"/>
                  <a:sym typeface="Arial"/>
                </a:rPr>
                <a:t>契約の性質: </a:t>
              </a:r>
              <a:r>
                <a:rPr b="1" lang="en-US" sz="1000">
                  <a:solidFill>
                    <a:srgbClr val="0369A1"/>
                  </a:solidFill>
                  <a:highlight>
                    <a:srgbClr val="E0F2FE"/>
                  </a:highlight>
                  <a:latin typeface="Arial"/>
                  <a:ea typeface="Arial"/>
                  <a:cs typeface="Arial"/>
                  <a:sym typeface="Arial"/>
                </a:rPr>
                <a:t>双務有償諾成</a:t>
              </a:r>
              <a:endParaRPr b="1" sz="1000">
                <a:solidFill>
                  <a:srgbClr val="0369A1"/>
                </a:solidFill>
                <a:latin typeface="Arial"/>
                <a:ea typeface="Arial"/>
                <a:cs typeface="Arial"/>
                <a:sym typeface="Arial"/>
              </a:endParaRPr>
            </a:p>
          </p:txBody>
        </p:sp>
        <p:sp>
          <p:nvSpPr>
            <p:cNvPr id="203" name="Google Shape;203;p7"/>
            <p:cNvSpPr/>
            <p:nvPr/>
          </p:nvSpPr>
          <p:spPr>
            <a:xfrm>
              <a:off x="3714750" y="133350"/>
              <a:ext cx="4143300" cy="476400"/>
            </a:xfrm>
            <a:prstGeom prst="roundRect">
              <a:avLst>
                <a:gd fmla="val 16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4" name="Google Shape;204;p7"/>
            <p:cNvSpPr txBox="1"/>
            <p:nvPr/>
          </p:nvSpPr>
          <p:spPr>
            <a:xfrm>
              <a:off x="3810000" y="133350"/>
              <a:ext cx="39528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050">
                  <a:solidFill>
                    <a:srgbClr val="FFFFFF"/>
                  </a:solidFill>
                  <a:latin typeface="Arial"/>
                  <a:ea typeface="Arial"/>
                  <a:cs typeface="Arial"/>
                  <a:sym typeface="Arial"/>
                </a:rPr>
                <a:t>🎯 契約のゴール： </a:t>
              </a:r>
              <a:r>
                <a:rPr b="1" lang="en-US" sz="1200">
                  <a:solidFill>
                    <a:srgbClr val="FEF08A"/>
                  </a:solidFill>
                  <a:latin typeface="Arial"/>
                  <a:ea typeface="Arial"/>
                  <a:cs typeface="Arial"/>
                  <a:sym typeface="Arial"/>
                </a:rPr>
                <a:t>お互いが債務を履行し終えること（完遂）</a:t>
              </a:r>
              <a:endParaRPr b="1" sz="1050">
                <a:solidFill>
                  <a:srgbClr val="FFFFFF"/>
                </a:solidFill>
                <a:latin typeface="Arial"/>
                <a:ea typeface="Arial"/>
                <a:cs typeface="Arial"/>
                <a:sym typeface="Arial"/>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9" name="Shape 209"/>
        <p:cNvGrpSpPr/>
        <p:nvPr/>
      </p:nvGrpSpPr>
      <p:grpSpPr>
        <a:xfrm>
          <a:off x="0" y="0"/>
          <a:ext cx="0" cy="0"/>
          <a:chOff x="0" y="0"/>
          <a:chExt cx="0" cy="0"/>
        </a:xfrm>
      </p:grpSpPr>
      <p:sp>
        <p:nvSpPr>
          <p:cNvPr id="210" name="Google Shape;210;p8"/>
          <p:cNvSpPr/>
          <p:nvPr/>
        </p:nvSpPr>
        <p:spPr>
          <a:xfrm>
            <a:off x="571500" y="4648200"/>
            <a:ext cx="3810000" cy="266700"/>
          </a:xfrm>
          <a:prstGeom prst="rect">
            <a:avLst/>
          </a:prstGeom>
          <a:solidFill>
            <a:srgbClr val="000000">
              <a:alpha val="0"/>
            </a:srgbClr>
          </a:solidFill>
          <a:ln>
            <a:noFill/>
          </a:ln>
        </p:spPr>
        <p:txBody>
          <a:bodyPr anchorCtr="0" anchor="b" bIns="0" lIns="0" spcFirstLastPara="1" rIns="0" wrap="square" tIns="0">
            <a:noAutofit/>
          </a:bodyPr>
          <a:lstStyle/>
          <a:p>
            <a:pPr indent="0" lvl="0" marL="0" rtl="0" algn="l">
              <a:spcBef>
                <a:spcPts val="0"/>
              </a:spcBef>
              <a:spcAft>
                <a:spcPts val="0"/>
              </a:spcAft>
              <a:buNone/>
            </a:pPr>
            <a:r>
              <a:rPr b="0" lang="en-US" sz="1100">
                <a:solidFill>
                  <a:srgbClr val="64748B"/>
                </a:solidFill>
                <a:latin typeface="Arial"/>
                <a:ea typeface="Arial"/>
                <a:cs typeface="Arial"/>
                <a:sym typeface="Arial"/>
              </a:rPr>
              <a:t>第1部 契約の基本 ― 売買契約</a:t>
            </a:r>
            <a:endParaRPr b="0" sz="1100">
              <a:solidFill>
                <a:srgbClr val="64748B"/>
              </a:solidFill>
              <a:latin typeface="Arial"/>
              <a:ea typeface="Arial"/>
              <a:cs typeface="Arial"/>
              <a:sym typeface="Arial"/>
            </a:endParaRPr>
          </a:p>
        </p:txBody>
      </p:sp>
      <p:sp>
        <p:nvSpPr>
          <p:cNvPr id="211" name="Google Shape;211;p8"/>
          <p:cNvSpPr/>
          <p:nvPr/>
        </p:nvSpPr>
        <p:spPr>
          <a:xfrm>
            <a:off x="6667500" y="4648200"/>
            <a:ext cx="1905000" cy="266700"/>
          </a:xfrm>
          <a:prstGeom prst="rect">
            <a:avLst/>
          </a:prstGeom>
          <a:solidFill>
            <a:srgbClr val="000000">
              <a:alpha val="0"/>
            </a:srgbClr>
          </a:solidFill>
          <a:ln>
            <a:noFill/>
          </a:ln>
        </p:spPr>
        <p:txBody>
          <a:bodyPr anchorCtr="0" anchor="b" bIns="0" lIns="0" spcFirstLastPara="1" rIns="0" wrap="square" tIns="0">
            <a:noAutofit/>
          </a:bodyPr>
          <a:lstStyle/>
          <a:p>
            <a:pPr indent="0" lvl="0" marL="0" rtl="0" algn="r">
              <a:spcBef>
                <a:spcPts val="0"/>
              </a:spcBef>
              <a:spcAft>
                <a:spcPts val="0"/>
              </a:spcAft>
              <a:buNone/>
            </a:pPr>
            <a:r>
              <a:rPr b="0" lang="en-US" sz="1100">
                <a:solidFill>
                  <a:srgbClr val="64748B"/>
                </a:solidFill>
                <a:latin typeface="Arial"/>
                <a:ea typeface="Arial"/>
                <a:cs typeface="Arial"/>
                <a:sym typeface="Arial"/>
              </a:rPr>
              <a:t>8 / 30</a:t>
            </a:r>
            <a:endParaRPr b="0" sz="1100">
              <a:solidFill>
                <a:srgbClr val="64748B"/>
              </a:solidFill>
              <a:latin typeface="Arial"/>
              <a:ea typeface="Arial"/>
              <a:cs typeface="Arial"/>
              <a:sym typeface="Arial"/>
            </a:endParaRPr>
          </a:p>
        </p:txBody>
      </p:sp>
      <p:sp>
        <p:nvSpPr>
          <p:cNvPr id="212" name="Google Shape;212;p8"/>
          <p:cNvSpPr/>
          <p:nvPr/>
        </p:nvSpPr>
        <p:spPr>
          <a:xfrm>
            <a:off x="571500" y="342900"/>
            <a:ext cx="8001000" cy="476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US" sz="2200">
                <a:solidFill>
                  <a:srgbClr val="0F172A"/>
                </a:solidFill>
                <a:latin typeface="Arial"/>
                <a:ea typeface="Arial"/>
                <a:cs typeface="Arial"/>
                <a:sym typeface="Arial"/>
              </a:rPr>
              <a:t>AIとの接点 ― アプリやAIの「利用規約」も契約</a:t>
            </a:r>
            <a:endParaRPr b="0" sz="2200">
              <a:solidFill>
                <a:srgbClr val="0F172A"/>
              </a:solidFill>
              <a:latin typeface="Arial"/>
              <a:ea typeface="Arial"/>
              <a:cs typeface="Arial"/>
              <a:sym typeface="Arial"/>
            </a:endParaRPr>
          </a:p>
        </p:txBody>
      </p:sp>
      <p:grpSp>
        <p:nvGrpSpPr>
          <p:cNvPr id="213" name="Google Shape;213;p8"/>
          <p:cNvGrpSpPr/>
          <p:nvPr/>
        </p:nvGrpSpPr>
        <p:grpSpPr>
          <a:xfrm>
            <a:off x="571500" y="971550"/>
            <a:ext cx="3857700" cy="3381300"/>
            <a:chOff x="0" y="0"/>
            <a:chExt cx="3857700" cy="3381300"/>
          </a:xfrm>
        </p:grpSpPr>
        <p:sp>
          <p:nvSpPr>
            <p:cNvPr id="214" name="Google Shape;214;p8"/>
            <p:cNvSpPr/>
            <p:nvPr/>
          </p:nvSpPr>
          <p:spPr>
            <a:xfrm>
              <a:off x="0" y="0"/>
              <a:ext cx="3857700" cy="3381300"/>
            </a:xfrm>
            <a:prstGeom prst="roundRect">
              <a:avLst>
                <a:gd fmla="val 4507" name="adj"/>
              </a:avLst>
            </a:prstGeom>
            <a:solidFill>
              <a:srgbClr val="FFFFFF"/>
            </a:solidFill>
            <a:ln cap="flat" cmpd="sng" w="14300">
              <a:solidFill>
                <a:srgbClr val="93C5F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5" name="Google Shape;215;p8"/>
            <p:cNvSpPr/>
            <p:nvPr/>
          </p:nvSpPr>
          <p:spPr>
            <a:xfrm>
              <a:off x="0" y="0"/>
              <a:ext cx="3857700" cy="57300"/>
            </a:xfrm>
            <a:prstGeom prst="roundRect">
              <a:avLst>
                <a:gd fmla="val 5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6" name="Google Shape;216;p8"/>
            <p:cNvSpPr/>
            <p:nvPr/>
          </p:nvSpPr>
          <p:spPr>
            <a:xfrm>
              <a:off x="190500" y="190500"/>
              <a:ext cx="3476700" cy="495300"/>
            </a:xfrm>
            <a:prstGeom prst="roundRect">
              <a:avLst>
                <a:gd fmla="val 19230" name="adj"/>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7" name="Google Shape;217;p8"/>
            <p:cNvSpPr txBox="1"/>
            <p:nvPr/>
          </p:nvSpPr>
          <p:spPr>
            <a:xfrm>
              <a:off x="190500" y="190500"/>
              <a:ext cx="3476700" cy="495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600">
                  <a:solidFill>
                    <a:srgbClr val="1D4ED8"/>
                  </a:solidFill>
                  <a:latin typeface="Arial"/>
                  <a:ea typeface="Arial"/>
                  <a:cs typeface="Arial"/>
                  <a:sym typeface="Arial"/>
                </a:rPr>
                <a:t>📱 「同意する」を押した瞬間</a:t>
              </a:r>
              <a:endParaRPr b="0" sz="1600">
                <a:solidFill>
                  <a:srgbClr val="1D4ED8"/>
                </a:solidFill>
                <a:latin typeface="Arial"/>
                <a:ea typeface="Arial"/>
                <a:cs typeface="Arial"/>
                <a:sym typeface="Arial"/>
              </a:endParaRPr>
            </a:p>
          </p:txBody>
        </p:sp>
        <p:sp>
          <p:nvSpPr>
            <p:cNvPr id="218" name="Google Shape;218;p8"/>
            <p:cNvSpPr/>
            <p:nvPr/>
          </p:nvSpPr>
          <p:spPr>
            <a:xfrm>
              <a:off x="190500" y="800100"/>
              <a:ext cx="3476700" cy="400200"/>
            </a:xfrm>
            <a:prstGeom prst="roundRect">
              <a:avLst>
                <a:gd fmla="val 19047" name="adj"/>
              </a:avLst>
            </a:prstGeom>
            <a:solidFill>
              <a:srgbClr val="DBEAFE"/>
            </a:solidFill>
            <a:ln cap="flat" cmpd="sng" w="9525">
              <a:solidFill>
                <a:srgbClr val="BFDB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9" name="Google Shape;219;p8"/>
            <p:cNvSpPr txBox="1"/>
            <p:nvPr/>
          </p:nvSpPr>
          <p:spPr>
            <a:xfrm>
              <a:off x="190500" y="800100"/>
              <a:ext cx="3476700" cy="40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300">
                  <a:solidFill>
                    <a:srgbClr val="1E40AF"/>
                  </a:solidFill>
                  <a:latin typeface="Arial"/>
                  <a:ea typeface="Arial"/>
                  <a:cs typeface="Arial"/>
                  <a:sym typeface="Arial"/>
                </a:rPr>
                <a:t>＝ サービス利用契約（定型約款）</a:t>
              </a:r>
              <a:endParaRPr b="1" sz="1300">
                <a:solidFill>
                  <a:srgbClr val="1E40AF"/>
                </a:solidFill>
                <a:latin typeface="Arial"/>
                <a:ea typeface="Arial"/>
                <a:cs typeface="Arial"/>
                <a:sym typeface="Arial"/>
              </a:endParaRPr>
            </a:p>
          </p:txBody>
        </p:sp>
        <p:sp>
          <p:nvSpPr>
            <p:cNvPr id="220" name="Google Shape;220;p8"/>
            <p:cNvSpPr/>
            <p:nvPr/>
          </p:nvSpPr>
          <p:spPr>
            <a:xfrm>
              <a:off x="190500" y="1314450"/>
              <a:ext cx="3476700" cy="1857300"/>
            </a:xfrm>
            <a:prstGeom prst="roundRect">
              <a:avLst>
                <a:gd fmla="val 5128" name="adj"/>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1" name="Google Shape;221;p8"/>
            <p:cNvSpPr txBox="1"/>
            <p:nvPr/>
          </p:nvSpPr>
          <p:spPr>
            <a:xfrm>
              <a:off x="333375" y="1428750"/>
              <a:ext cx="3190800" cy="162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250">
                  <a:solidFill>
                    <a:srgbClr val="334155"/>
                  </a:solidFill>
                  <a:latin typeface="Arial"/>
                  <a:ea typeface="Arial"/>
                  <a:cs typeface="Arial"/>
                  <a:sym typeface="Arial"/>
                </a:rPr>
                <a:t>・無料ツールでも契約成立！</a:t>
              </a:r>
              <a:endParaRPr b="0" sz="1250">
                <a:solidFill>
                  <a:srgbClr val="334155"/>
                </a:solidFill>
                <a:latin typeface="Arial"/>
                <a:ea typeface="Arial"/>
                <a:cs typeface="Arial"/>
                <a:sym typeface="Arial"/>
              </a:endParaRPr>
            </a:p>
            <a:p>
              <a:pPr indent="0" lvl="0" marL="0" rtl="0" algn="l">
                <a:spcBef>
                  <a:spcPts val="1200"/>
                </a:spcBef>
                <a:spcAft>
                  <a:spcPts val="0"/>
                </a:spcAft>
                <a:buNone/>
              </a:pPr>
              <a:r>
                <a:rPr b="0" lang="en-US" sz="1250">
                  <a:solidFill>
                    <a:srgbClr val="334155"/>
                  </a:solidFill>
                  <a:latin typeface="Arial"/>
                  <a:ea typeface="Arial"/>
                  <a:cs typeface="Arial"/>
                  <a:sym typeface="Arial"/>
                </a:rPr>
                <a:t>・禁止事項を守る義務を負う</a:t>
              </a:r>
              <a:endParaRPr b="0" sz="1250">
                <a:solidFill>
                  <a:srgbClr val="334155"/>
                </a:solidFill>
                <a:latin typeface="Arial"/>
                <a:ea typeface="Arial"/>
                <a:cs typeface="Arial"/>
                <a:sym typeface="Arial"/>
              </a:endParaRPr>
            </a:p>
            <a:p>
              <a:pPr indent="0" lvl="0" marL="0" rtl="0" algn="l">
                <a:spcBef>
                  <a:spcPts val="1200"/>
                </a:spcBef>
                <a:spcAft>
                  <a:spcPts val="0"/>
                </a:spcAft>
                <a:buNone/>
              </a:pPr>
              <a:r>
                <a:rPr b="0" lang="en-US" sz="1250">
                  <a:solidFill>
                    <a:srgbClr val="334155"/>
                  </a:solidFill>
                  <a:latin typeface="Arial"/>
                  <a:ea typeface="Arial"/>
                  <a:cs typeface="Arial"/>
                  <a:sym typeface="Arial"/>
                </a:rPr>
                <a:t>・生成物の使い方のルールも</a:t>
              </a:r>
              <a:br>
                <a:rPr b="0" lang="en-US" sz="1250">
                  <a:solidFill>
                    <a:srgbClr val="334155"/>
                  </a:solidFill>
                  <a:latin typeface="Arial"/>
                  <a:ea typeface="Arial"/>
                  <a:cs typeface="Arial"/>
                  <a:sym typeface="Arial"/>
                </a:rPr>
              </a:br>
              <a:r>
                <a:rPr b="0" lang="en-US" sz="1250">
                  <a:solidFill>
                    <a:srgbClr val="334155"/>
                  </a:solidFill>
                  <a:latin typeface="Arial"/>
                  <a:ea typeface="Arial"/>
                  <a:cs typeface="Arial"/>
                  <a:sym typeface="Arial"/>
                </a:rPr>
                <a:t>　すべて規約で決まっている</a:t>
              </a:r>
              <a:endParaRPr b="0" sz="1250">
                <a:solidFill>
                  <a:srgbClr val="334155"/>
                </a:solidFill>
                <a:latin typeface="Arial"/>
                <a:ea typeface="Arial"/>
                <a:cs typeface="Arial"/>
                <a:sym typeface="Arial"/>
              </a:endParaRPr>
            </a:p>
          </p:txBody>
        </p:sp>
      </p:grpSp>
      <p:grpSp>
        <p:nvGrpSpPr>
          <p:cNvPr id="222" name="Google Shape;222;p8"/>
          <p:cNvGrpSpPr/>
          <p:nvPr/>
        </p:nvGrpSpPr>
        <p:grpSpPr>
          <a:xfrm>
            <a:off x="4714875" y="971550"/>
            <a:ext cx="3857700" cy="3381300"/>
            <a:chOff x="0" y="0"/>
            <a:chExt cx="3857700" cy="3381300"/>
          </a:xfrm>
        </p:grpSpPr>
        <p:sp>
          <p:nvSpPr>
            <p:cNvPr id="223" name="Google Shape;223;p8"/>
            <p:cNvSpPr/>
            <p:nvPr/>
          </p:nvSpPr>
          <p:spPr>
            <a:xfrm>
              <a:off x="0" y="0"/>
              <a:ext cx="3857700" cy="3381300"/>
            </a:xfrm>
            <a:prstGeom prst="roundRect">
              <a:avLst>
                <a:gd fmla="val 4507" name="adj"/>
              </a:avLst>
            </a:prstGeom>
            <a:solidFill>
              <a:srgbClr val="FFFFFF"/>
            </a:solidFill>
            <a:ln cap="flat" cmpd="sng" w="14300">
              <a:solidFill>
                <a:srgbClr val="FCA5A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4" name="Google Shape;224;p8"/>
            <p:cNvSpPr/>
            <p:nvPr/>
          </p:nvSpPr>
          <p:spPr>
            <a:xfrm>
              <a:off x="0" y="0"/>
              <a:ext cx="3857700" cy="57300"/>
            </a:xfrm>
            <a:prstGeom prst="roundRect">
              <a:avLst>
                <a:gd fmla="val 50000" name="adj"/>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5" name="Google Shape;225;p8"/>
            <p:cNvSpPr/>
            <p:nvPr/>
          </p:nvSpPr>
          <p:spPr>
            <a:xfrm>
              <a:off x="190500" y="190500"/>
              <a:ext cx="3476700" cy="495300"/>
            </a:xfrm>
            <a:prstGeom prst="roundRect">
              <a:avLst>
                <a:gd fmla="val 19230" name="adj"/>
              </a:avLst>
            </a:prstGeom>
            <a:solidFill>
              <a:srgbClr val="FEF2F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6" name="Google Shape;226;p8"/>
            <p:cNvSpPr txBox="1"/>
            <p:nvPr/>
          </p:nvSpPr>
          <p:spPr>
            <a:xfrm>
              <a:off x="190500" y="190500"/>
              <a:ext cx="3476700" cy="495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600">
                  <a:solidFill>
                    <a:srgbClr val="DC2626"/>
                  </a:solidFill>
                  <a:latin typeface="Arial"/>
                  <a:ea typeface="Arial"/>
                  <a:cs typeface="Arial"/>
                  <a:sym typeface="Arial"/>
                </a:rPr>
                <a:t>⚠️ AIは当事者になれない！</a:t>
              </a:r>
              <a:endParaRPr b="0" sz="1600">
                <a:solidFill>
                  <a:srgbClr val="DC2626"/>
                </a:solidFill>
                <a:latin typeface="Arial"/>
                <a:ea typeface="Arial"/>
                <a:cs typeface="Arial"/>
                <a:sym typeface="Arial"/>
              </a:endParaRPr>
            </a:p>
          </p:txBody>
        </p:sp>
        <p:sp>
          <p:nvSpPr>
            <p:cNvPr id="227" name="Google Shape;227;p8"/>
            <p:cNvSpPr/>
            <p:nvPr/>
          </p:nvSpPr>
          <p:spPr>
            <a:xfrm>
              <a:off x="190500" y="800100"/>
              <a:ext cx="3476700" cy="400200"/>
            </a:xfrm>
            <a:prstGeom prst="roundRect">
              <a:avLst>
                <a:gd fmla="val 19047" name="adj"/>
              </a:avLst>
            </a:prstGeom>
            <a:solidFill>
              <a:srgbClr val="FEE2E2"/>
            </a:solidFill>
            <a:ln cap="flat" cmpd="sng" w="9525">
              <a:solidFill>
                <a:srgbClr val="FECAC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8" name="Google Shape;228;p8"/>
            <p:cNvSpPr txBox="1"/>
            <p:nvPr/>
          </p:nvSpPr>
          <p:spPr>
            <a:xfrm>
              <a:off x="190500" y="800100"/>
              <a:ext cx="3476700" cy="40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300">
                  <a:solidFill>
                    <a:srgbClr val="991B1B"/>
                  </a:solidFill>
                  <a:latin typeface="Arial"/>
                  <a:ea typeface="Arial"/>
                  <a:cs typeface="Arial"/>
                  <a:sym typeface="Arial"/>
                </a:rPr>
                <a:t>🤖 AIは便利な「道具」</a:t>
              </a:r>
              <a:endParaRPr b="1" sz="1300">
                <a:solidFill>
                  <a:srgbClr val="991B1B"/>
                </a:solidFill>
                <a:latin typeface="Arial"/>
                <a:ea typeface="Arial"/>
                <a:cs typeface="Arial"/>
                <a:sym typeface="Arial"/>
              </a:endParaRPr>
            </a:p>
          </p:txBody>
        </p:sp>
        <p:sp>
          <p:nvSpPr>
            <p:cNvPr id="229" name="Google Shape;229;p8"/>
            <p:cNvSpPr/>
            <p:nvPr/>
          </p:nvSpPr>
          <p:spPr>
            <a:xfrm>
              <a:off x="190500" y="1314450"/>
              <a:ext cx="3476700" cy="1143000"/>
            </a:xfrm>
            <a:prstGeom prst="roundRect">
              <a:avLst>
                <a:gd fmla="val 8333" name="adj"/>
              </a:avLst>
            </a:prstGeom>
            <a:solidFill>
              <a:srgbClr val="FFF5F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0" name="Google Shape;230;p8"/>
            <p:cNvSpPr txBox="1"/>
            <p:nvPr/>
          </p:nvSpPr>
          <p:spPr>
            <a:xfrm>
              <a:off x="333375" y="1409700"/>
              <a:ext cx="3190800" cy="95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250">
                  <a:solidFill>
                    <a:srgbClr val="334155"/>
                  </a:solidFill>
                  <a:latin typeface="Arial"/>
                  <a:ea typeface="Arial"/>
                  <a:cs typeface="Arial"/>
                  <a:sym typeface="Arial"/>
                </a:rPr>
                <a:t>・AIが契約を結ぶことはできない</a:t>
              </a:r>
              <a:endParaRPr b="0" sz="1250">
                <a:solidFill>
                  <a:srgbClr val="334155"/>
                </a:solidFill>
                <a:latin typeface="Arial"/>
                <a:ea typeface="Arial"/>
                <a:cs typeface="Arial"/>
                <a:sym typeface="Arial"/>
              </a:endParaRPr>
            </a:p>
            <a:p>
              <a:pPr indent="0" lvl="0" marL="0" rtl="0" algn="l">
                <a:spcBef>
                  <a:spcPts val="1000"/>
                </a:spcBef>
                <a:spcAft>
                  <a:spcPts val="0"/>
                </a:spcAft>
                <a:buNone/>
              </a:pPr>
              <a:r>
                <a:rPr b="0" lang="en-US" sz="1250">
                  <a:solidFill>
                    <a:srgbClr val="334155"/>
                  </a:solidFill>
                  <a:latin typeface="Arial"/>
                  <a:ea typeface="Arial"/>
                  <a:cs typeface="Arial"/>
                  <a:sym typeface="Arial"/>
                </a:rPr>
                <a:t>・「AIが勝手にやった」は通用しない</a:t>
              </a:r>
              <a:endParaRPr b="0" sz="1250">
                <a:solidFill>
                  <a:srgbClr val="334155"/>
                </a:solidFill>
                <a:latin typeface="Arial"/>
                <a:ea typeface="Arial"/>
                <a:cs typeface="Arial"/>
                <a:sym typeface="Arial"/>
              </a:endParaRPr>
            </a:p>
          </p:txBody>
        </p:sp>
        <p:sp>
          <p:nvSpPr>
            <p:cNvPr id="231" name="Google Shape;231;p8"/>
            <p:cNvSpPr/>
            <p:nvPr/>
          </p:nvSpPr>
          <p:spPr>
            <a:xfrm>
              <a:off x="190500" y="2581275"/>
              <a:ext cx="3476700" cy="590700"/>
            </a:xfrm>
            <a:prstGeom prst="roundRect">
              <a:avLst>
                <a:gd fmla="val 16129" name="adj"/>
              </a:avLst>
            </a:prstGeom>
            <a:solidFill>
              <a:srgbClr val="DC262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2" name="Google Shape;232;p8"/>
            <p:cNvSpPr txBox="1"/>
            <p:nvPr/>
          </p:nvSpPr>
          <p:spPr>
            <a:xfrm>
              <a:off x="285750" y="2581275"/>
              <a:ext cx="3286200" cy="590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300">
                  <a:solidFill>
                    <a:srgbClr val="FFFFFF"/>
                  </a:solidFill>
                  <a:latin typeface="Arial"/>
                  <a:ea typeface="Arial"/>
                  <a:cs typeface="Arial"/>
                  <a:sym typeface="Arial"/>
                </a:rPr>
                <a:t>👉 約束をし、責任を負うのは</a:t>
              </a:r>
              <a:br>
                <a:rPr b="0" lang="en-US" sz="1300">
                  <a:solidFill>
                    <a:srgbClr val="FFFFFF"/>
                  </a:solidFill>
                  <a:latin typeface="Arial"/>
                  <a:ea typeface="Arial"/>
                  <a:cs typeface="Arial"/>
                  <a:sym typeface="Arial"/>
                </a:rPr>
              </a:br>
              <a:r>
                <a:rPr b="0" lang="en-US" sz="1300">
                  <a:solidFill>
                    <a:srgbClr val="FFFFFF"/>
                  </a:solidFill>
                  <a:latin typeface="Arial"/>
                  <a:ea typeface="Arial"/>
                  <a:cs typeface="Arial"/>
                  <a:sym typeface="Arial"/>
                </a:rPr>
                <a:t>必ず【人間】です！</a:t>
              </a:r>
              <a:endParaRPr b="0" sz="1300">
                <a:solidFill>
                  <a:srgbClr val="FFFFFF"/>
                </a:solidFill>
                <a:latin typeface="Arial"/>
                <a:ea typeface="Arial"/>
                <a:cs typeface="Arial"/>
                <a:sym typeface="Arial"/>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7" name="Shape 237"/>
        <p:cNvGrpSpPr/>
        <p:nvPr/>
      </p:nvGrpSpPr>
      <p:grpSpPr>
        <a:xfrm>
          <a:off x="0" y="0"/>
          <a:ext cx="0" cy="0"/>
          <a:chOff x="0" y="0"/>
          <a:chExt cx="0" cy="0"/>
        </a:xfrm>
      </p:grpSpPr>
      <p:sp>
        <p:nvSpPr>
          <p:cNvPr id="238" name="Google Shape;238;p9"/>
          <p:cNvSpPr/>
          <p:nvPr/>
        </p:nvSpPr>
        <p:spPr>
          <a:xfrm>
            <a:off x="571500" y="4648200"/>
            <a:ext cx="3810000" cy="266700"/>
          </a:xfrm>
          <a:prstGeom prst="rect">
            <a:avLst/>
          </a:prstGeom>
          <a:solidFill>
            <a:srgbClr val="000000">
              <a:alpha val="0"/>
            </a:srgbClr>
          </a:solidFill>
          <a:ln>
            <a:noFill/>
          </a:ln>
        </p:spPr>
        <p:txBody>
          <a:bodyPr anchorCtr="0" anchor="b" bIns="0" lIns="0" spcFirstLastPara="1" rIns="0" wrap="square" tIns="0">
            <a:noAutofit/>
          </a:bodyPr>
          <a:lstStyle/>
          <a:p>
            <a:pPr indent="0" lvl="0" marL="0" rtl="0" algn="l">
              <a:spcBef>
                <a:spcPts val="0"/>
              </a:spcBef>
              <a:spcAft>
                <a:spcPts val="0"/>
              </a:spcAft>
              <a:buNone/>
            </a:pPr>
            <a:r>
              <a:rPr b="0" lang="en-US" sz="1100">
                <a:solidFill>
                  <a:srgbClr val="64748B"/>
                </a:solidFill>
                <a:latin typeface="Arial"/>
                <a:ea typeface="Arial"/>
                <a:cs typeface="Arial"/>
                <a:sym typeface="Arial"/>
              </a:rPr>
              <a:t>第2部 労働契約</a:t>
            </a:r>
            <a:endParaRPr b="0" sz="1100">
              <a:solidFill>
                <a:srgbClr val="64748B"/>
              </a:solidFill>
              <a:latin typeface="Arial"/>
              <a:ea typeface="Arial"/>
              <a:cs typeface="Arial"/>
              <a:sym typeface="Arial"/>
            </a:endParaRPr>
          </a:p>
        </p:txBody>
      </p:sp>
      <p:sp>
        <p:nvSpPr>
          <p:cNvPr id="239" name="Google Shape;239;p9"/>
          <p:cNvSpPr/>
          <p:nvPr/>
        </p:nvSpPr>
        <p:spPr>
          <a:xfrm>
            <a:off x="6667500" y="4648200"/>
            <a:ext cx="1905000" cy="266700"/>
          </a:xfrm>
          <a:prstGeom prst="rect">
            <a:avLst/>
          </a:prstGeom>
          <a:solidFill>
            <a:srgbClr val="000000">
              <a:alpha val="0"/>
            </a:srgbClr>
          </a:solidFill>
          <a:ln>
            <a:noFill/>
          </a:ln>
        </p:spPr>
        <p:txBody>
          <a:bodyPr anchorCtr="0" anchor="b" bIns="0" lIns="0" spcFirstLastPara="1" rIns="0" wrap="square" tIns="0">
            <a:noAutofit/>
          </a:bodyPr>
          <a:lstStyle/>
          <a:p>
            <a:pPr indent="0" lvl="0" marL="0" rtl="0" algn="r">
              <a:spcBef>
                <a:spcPts val="0"/>
              </a:spcBef>
              <a:spcAft>
                <a:spcPts val="0"/>
              </a:spcAft>
              <a:buNone/>
            </a:pPr>
            <a:r>
              <a:rPr b="0" lang="en-US" sz="1100">
                <a:solidFill>
                  <a:srgbClr val="64748B"/>
                </a:solidFill>
                <a:latin typeface="Arial"/>
                <a:ea typeface="Arial"/>
                <a:cs typeface="Arial"/>
                <a:sym typeface="Arial"/>
              </a:rPr>
              <a:t>9 / 30</a:t>
            </a:r>
            <a:endParaRPr b="0" sz="1100">
              <a:solidFill>
                <a:srgbClr val="64748B"/>
              </a:solidFill>
              <a:latin typeface="Arial"/>
              <a:ea typeface="Arial"/>
              <a:cs typeface="Arial"/>
              <a:sym typeface="Arial"/>
            </a:endParaRPr>
          </a:p>
        </p:txBody>
      </p:sp>
      <p:sp>
        <p:nvSpPr>
          <p:cNvPr id="240" name="Google Shape;240;p9"/>
          <p:cNvSpPr/>
          <p:nvPr/>
        </p:nvSpPr>
        <p:spPr>
          <a:xfrm>
            <a:off x="571500" y="342900"/>
            <a:ext cx="8001000" cy="476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US" sz="2200">
                <a:solidFill>
                  <a:srgbClr val="0F172A"/>
                </a:solidFill>
                <a:latin typeface="Arial"/>
                <a:ea typeface="Arial"/>
                <a:cs typeface="Arial"/>
                <a:sym typeface="Arial"/>
              </a:rPr>
              <a:t>第2部 労働契約 ― 【クイズ】手に入る「権利」とは？</a:t>
            </a:r>
            <a:endParaRPr b="0" sz="2200">
              <a:solidFill>
                <a:srgbClr val="0F172A"/>
              </a:solidFill>
              <a:latin typeface="Arial"/>
              <a:ea typeface="Arial"/>
              <a:cs typeface="Arial"/>
              <a:sym typeface="Arial"/>
            </a:endParaRPr>
          </a:p>
        </p:txBody>
      </p:sp>
      <p:sp>
        <p:nvSpPr>
          <p:cNvPr id="241" name="Google Shape;241;p9"/>
          <p:cNvSpPr/>
          <p:nvPr/>
        </p:nvSpPr>
        <p:spPr>
          <a:xfrm>
            <a:off x="571500" y="904875"/>
            <a:ext cx="8001000" cy="762000"/>
          </a:xfrm>
          <a:prstGeom prst="roundRect">
            <a:avLst>
              <a:gd fmla="val 15000" name="adj"/>
            </a:avLst>
          </a:prstGeom>
          <a:solidFill>
            <a:srgbClr val="F0F9FF"/>
          </a:solidFill>
          <a:ln cap="flat" cmpd="sng" w="14300">
            <a:solidFill>
              <a:srgbClr val="BAE6F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2" name="Google Shape;242;p9"/>
          <p:cNvSpPr/>
          <p:nvPr/>
        </p:nvSpPr>
        <p:spPr>
          <a:xfrm>
            <a:off x="762000" y="1104900"/>
            <a:ext cx="857400" cy="362100"/>
          </a:xfrm>
          <a:prstGeom prst="roundRect">
            <a:avLst>
              <a:gd fmla="val 21052" name="adj"/>
            </a:avLst>
          </a:pr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243" name="Google Shape;243;p9"/>
          <p:cNvGrpSpPr/>
          <p:nvPr/>
        </p:nvGrpSpPr>
        <p:grpSpPr>
          <a:xfrm>
            <a:off x="762000" y="1104900"/>
            <a:ext cx="857400" cy="362100"/>
            <a:chOff x="0" y="0"/>
            <a:chExt cx="857400" cy="362100"/>
          </a:xfrm>
        </p:grpSpPr>
        <p:sp>
          <p:nvSpPr>
            <p:cNvPr id="244" name="Google Shape;244;p9"/>
            <p:cNvSpPr/>
            <p:nvPr/>
          </p:nvSpPr>
          <p:spPr>
            <a:xfrm>
              <a:off x="0" y="0"/>
              <a:ext cx="857400" cy="3621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5" name="Google Shape;245;p9"/>
            <p:cNvSpPr txBox="1"/>
            <p:nvPr/>
          </p:nvSpPr>
          <p:spPr>
            <a:xfrm>
              <a:off x="0" y="0"/>
              <a:ext cx="857400" cy="362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200">
                  <a:solidFill>
                    <a:srgbClr val="FFFFFF"/>
                  </a:solidFill>
                  <a:latin typeface="Arial"/>
                  <a:ea typeface="Arial"/>
                  <a:cs typeface="Arial"/>
                  <a:sym typeface="Arial"/>
                </a:rPr>
                <a:t>❓ 問い</a:t>
              </a:r>
              <a:endParaRPr b="0" sz="1200">
                <a:solidFill>
                  <a:srgbClr val="FFFFFF"/>
                </a:solidFill>
                <a:latin typeface="Arial"/>
                <a:ea typeface="Arial"/>
                <a:cs typeface="Arial"/>
                <a:sym typeface="Arial"/>
              </a:endParaRPr>
            </a:p>
          </p:txBody>
        </p:sp>
      </p:grpSp>
      <p:sp>
        <p:nvSpPr>
          <p:cNvPr id="246" name="Google Shape;246;p9"/>
          <p:cNvSpPr/>
          <p:nvPr/>
        </p:nvSpPr>
        <p:spPr>
          <a:xfrm>
            <a:off x="1762125" y="1000125"/>
            <a:ext cx="66198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US" sz="1700">
                <a:solidFill>
                  <a:srgbClr val="0F172A"/>
                </a:solidFill>
                <a:latin typeface="Arial"/>
                <a:ea typeface="Arial"/>
                <a:cs typeface="Arial"/>
                <a:sym typeface="Arial"/>
              </a:rPr>
              <a:t>会社と働く契約を結ぶとき、手に入る</a:t>
            </a:r>
            <a:r>
              <a:rPr b="0" lang="en-US" sz="1700">
                <a:solidFill>
                  <a:srgbClr val="0284C7"/>
                </a:solidFill>
                <a:latin typeface="Arial"/>
                <a:ea typeface="Arial"/>
                <a:cs typeface="Arial"/>
                <a:sym typeface="Arial"/>
              </a:rPr>
              <a:t>「一番の権利」</a:t>
            </a:r>
            <a:r>
              <a:rPr b="0" lang="en-US" sz="1700">
                <a:solidFill>
                  <a:srgbClr val="0F172A"/>
                </a:solidFill>
                <a:latin typeface="Arial"/>
                <a:ea typeface="Arial"/>
                <a:cs typeface="Arial"/>
                <a:sym typeface="Arial"/>
              </a:rPr>
              <a:t>は？</a:t>
            </a:r>
            <a:endParaRPr b="0" sz="1700">
              <a:solidFill>
                <a:srgbClr val="0F172A"/>
              </a:solidFill>
              <a:latin typeface="Arial"/>
              <a:ea typeface="Arial"/>
              <a:cs typeface="Arial"/>
              <a:sym typeface="Arial"/>
            </a:endParaRPr>
          </a:p>
        </p:txBody>
      </p:sp>
      <p:sp>
        <p:nvSpPr>
          <p:cNvPr id="247" name="Google Shape;247;p9"/>
          <p:cNvSpPr/>
          <p:nvPr/>
        </p:nvSpPr>
        <p:spPr>
          <a:xfrm>
            <a:off x="571500" y="1857375"/>
            <a:ext cx="3857700" cy="2571900"/>
          </a:xfrm>
          <a:prstGeom prst="roundRect">
            <a:avLst>
              <a:gd fmla="val 5925" name="adj"/>
            </a:avLst>
          </a:prstGeom>
          <a:solidFill>
            <a:srgbClr val="FFFFFF"/>
          </a:solidFill>
          <a:ln cap="flat" cmpd="sng" w="19050">
            <a:solidFill>
              <a:srgbClr val="BFDB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8" name="Google Shape;248;p9"/>
          <p:cNvSpPr/>
          <p:nvPr/>
        </p:nvSpPr>
        <p:spPr>
          <a:xfrm>
            <a:off x="571500" y="1857375"/>
            <a:ext cx="3857700" cy="571500"/>
          </a:xfrm>
          <a:custGeom>
            <a:rect b="b" l="l" r="r" t="t"/>
            <a:pathLst>
              <a:path extrusionOk="0" h="120000" w="120000">
                <a:moveTo>
                  <a:pt x="0" y="32000"/>
                </a:moveTo>
                <a:cubicBezTo>
                  <a:pt x="0" y="14326"/>
                  <a:pt x="2122" y="0"/>
                  <a:pt x="4741" y="0"/>
                </a:cubicBezTo>
                <a:lnTo>
                  <a:pt x="115259" y="0"/>
                </a:lnTo>
                <a:cubicBezTo>
                  <a:pt x="117878" y="0"/>
                  <a:pt x="120000" y="14326"/>
                  <a:pt x="120000" y="32000"/>
                </a:cubicBezTo>
                <a:lnTo>
                  <a:pt x="120000" y="120000"/>
                </a:lnTo>
                <a:lnTo>
                  <a:pt x="0" y="120000"/>
                </a:lnTo>
                <a:close/>
              </a:path>
            </a:pathLst>
          </a:cu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9" name="Google Shape;249;p9"/>
          <p:cNvSpPr/>
          <p:nvPr/>
        </p:nvSpPr>
        <p:spPr>
          <a:xfrm>
            <a:off x="571500" y="1857375"/>
            <a:ext cx="38577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800">
                <a:solidFill>
                  <a:srgbClr val="1E40AF"/>
                </a:solidFill>
                <a:latin typeface="Arial"/>
                <a:ea typeface="Arial"/>
                <a:cs typeface="Arial"/>
                <a:sym typeface="Arial"/>
              </a:rPr>
              <a:t>💴 賃金支払請求権</a:t>
            </a:r>
            <a:endParaRPr b="0" sz="1800">
              <a:solidFill>
                <a:srgbClr val="1E40AF"/>
              </a:solidFill>
              <a:latin typeface="Arial"/>
              <a:ea typeface="Arial"/>
              <a:cs typeface="Arial"/>
              <a:sym typeface="Arial"/>
            </a:endParaRPr>
          </a:p>
        </p:txBody>
      </p:sp>
      <p:sp>
        <p:nvSpPr>
          <p:cNvPr id="250" name="Google Shape;250;p9"/>
          <p:cNvSpPr/>
          <p:nvPr/>
        </p:nvSpPr>
        <p:spPr>
          <a:xfrm>
            <a:off x="762000" y="2571750"/>
            <a:ext cx="3476700" cy="1666800"/>
          </a:xfrm>
          <a:prstGeom prst="roundRect">
            <a:avLst>
              <a:gd fmla="val 6857"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1" name="Google Shape;251;p9"/>
          <p:cNvSpPr/>
          <p:nvPr/>
        </p:nvSpPr>
        <p:spPr>
          <a:xfrm>
            <a:off x="857250" y="2667000"/>
            <a:ext cx="3286200" cy="14763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300">
                <a:solidFill>
                  <a:srgbClr val="2563EB"/>
                </a:solidFill>
                <a:latin typeface="Arial"/>
                <a:ea typeface="Arial"/>
                <a:cs typeface="Arial"/>
                <a:sym typeface="Arial"/>
              </a:rPr>
              <a:t>働いた分の給料を</a:t>
            </a:r>
            <a:endParaRPr b="1" sz="1300">
              <a:solidFill>
                <a:srgbClr val="2563EB"/>
              </a:solidFill>
              <a:latin typeface="Arial"/>
              <a:ea typeface="Arial"/>
              <a:cs typeface="Arial"/>
              <a:sym typeface="Arial"/>
            </a:endParaRPr>
          </a:p>
          <a:p>
            <a:pPr indent="0" lvl="0" marL="0" rtl="0" algn="ctr">
              <a:spcBef>
                <a:spcPts val="1000"/>
              </a:spcBef>
              <a:spcAft>
                <a:spcPts val="0"/>
              </a:spcAft>
              <a:buNone/>
            </a:pPr>
            <a:r>
              <a:rPr b="0" lang="en-US" sz="1600">
                <a:solidFill>
                  <a:srgbClr val="0F172A"/>
                </a:solidFill>
                <a:latin typeface="Arial"/>
                <a:ea typeface="Arial"/>
                <a:cs typeface="Arial"/>
                <a:sym typeface="Arial"/>
              </a:rPr>
              <a:t>きっちり請求できる</a:t>
            </a:r>
            <a:endParaRPr b="0" sz="1600">
              <a:solidFill>
                <a:srgbClr val="0F172A"/>
              </a:solidFill>
              <a:latin typeface="Arial"/>
              <a:ea typeface="Arial"/>
              <a:cs typeface="Arial"/>
              <a:sym typeface="Arial"/>
            </a:endParaRPr>
          </a:p>
          <a:p>
            <a:pPr indent="0" lvl="0" marL="0" rtl="0" algn="ctr">
              <a:spcBef>
                <a:spcPts val="400"/>
              </a:spcBef>
              <a:spcAft>
                <a:spcPts val="0"/>
              </a:spcAft>
              <a:buNone/>
            </a:pPr>
            <a:r>
              <a:rPr b="0" lang="en-US" sz="1600">
                <a:solidFill>
                  <a:srgbClr val="1D4ED8"/>
                </a:solidFill>
                <a:latin typeface="Arial"/>
                <a:ea typeface="Arial"/>
                <a:cs typeface="Arial"/>
                <a:sym typeface="Arial"/>
              </a:rPr>
              <a:t>強い権利！</a:t>
            </a:r>
            <a:endParaRPr b="0" sz="1600">
              <a:solidFill>
                <a:srgbClr val="1D4ED8"/>
              </a:solidFill>
              <a:latin typeface="Arial"/>
              <a:ea typeface="Arial"/>
              <a:cs typeface="Arial"/>
              <a:sym typeface="Arial"/>
            </a:endParaRPr>
          </a:p>
        </p:txBody>
      </p:sp>
      <p:sp>
        <p:nvSpPr>
          <p:cNvPr id="252" name="Google Shape;252;p9"/>
          <p:cNvSpPr/>
          <p:nvPr/>
        </p:nvSpPr>
        <p:spPr>
          <a:xfrm>
            <a:off x="4714875" y="1857375"/>
            <a:ext cx="3857700" cy="2571900"/>
          </a:xfrm>
          <a:prstGeom prst="roundRect">
            <a:avLst>
              <a:gd fmla="val 5925" name="adj"/>
            </a:avLst>
          </a:prstGeom>
          <a:solidFill>
            <a:srgbClr val="FFFFFF"/>
          </a:solidFill>
          <a:ln cap="flat" cmpd="sng" w="19050">
            <a:solidFill>
              <a:srgbClr val="86EFA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3" name="Google Shape;253;p9"/>
          <p:cNvSpPr/>
          <p:nvPr/>
        </p:nvSpPr>
        <p:spPr>
          <a:xfrm>
            <a:off x="4714875" y="1857375"/>
            <a:ext cx="3857700" cy="571500"/>
          </a:xfrm>
          <a:custGeom>
            <a:rect b="b" l="l" r="r" t="t"/>
            <a:pathLst>
              <a:path extrusionOk="0" h="120000" w="120000">
                <a:moveTo>
                  <a:pt x="0" y="32000"/>
                </a:moveTo>
                <a:cubicBezTo>
                  <a:pt x="0" y="14326"/>
                  <a:pt x="2122" y="0"/>
                  <a:pt x="4741" y="0"/>
                </a:cubicBezTo>
                <a:lnTo>
                  <a:pt x="115259" y="0"/>
                </a:lnTo>
                <a:cubicBezTo>
                  <a:pt x="117878" y="0"/>
                  <a:pt x="120000" y="14326"/>
                  <a:pt x="120000" y="32000"/>
                </a:cubicBezTo>
                <a:lnTo>
                  <a:pt x="120000" y="120000"/>
                </a:lnTo>
                <a:lnTo>
                  <a:pt x="0" y="120000"/>
                </a:lnTo>
                <a:close/>
              </a:path>
            </a:pathLst>
          </a:custGeom>
          <a:solidFill>
            <a:srgbClr val="F0FDF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4" name="Google Shape;254;p9"/>
          <p:cNvSpPr/>
          <p:nvPr/>
        </p:nvSpPr>
        <p:spPr>
          <a:xfrm>
            <a:off x="4714875" y="1857375"/>
            <a:ext cx="38577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800">
                <a:solidFill>
                  <a:srgbClr val="166534"/>
                </a:solidFill>
                <a:latin typeface="Arial"/>
                <a:ea typeface="Arial"/>
                <a:cs typeface="Arial"/>
                <a:sym typeface="Arial"/>
              </a:rPr>
              <a:t>🛡️ 安全配慮を受ける権利</a:t>
            </a:r>
            <a:endParaRPr b="0" sz="1800">
              <a:solidFill>
                <a:srgbClr val="166534"/>
              </a:solidFill>
              <a:latin typeface="Arial"/>
              <a:ea typeface="Arial"/>
              <a:cs typeface="Arial"/>
              <a:sym typeface="Arial"/>
            </a:endParaRPr>
          </a:p>
        </p:txBody>
      </p:sp>
      <p:sp>
        <p:nvSpPr>
          <p:cNvPr id="255" name="Google Shape;255;p9"/>
          <p:cNvSpPr/>
          <p:nvPr/>
        </p:nvSpPr>
        <p:spPr>
          <a:xfrm>
            <a:off x="4905375" y="2571750"/>
            <a:ext cx="3476700" cy="1666800"/>
          </a:xfrm>
          <a:prstGeom prst="roundRect">
            <a:avLst>
              <a:gd fmla="val 6857"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6" name="Google Shape;256;p9"/>
          <p:cNvSpPr/>
          <p:nvPr/>
        </p:nvSpPr>
        <p:spPr>
          <a:xfrm>
            <a:off x="5000625" y="2667000"/>
            <a:ext cx="3286200" cy="14763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300">
                <a:solidFill>
                  <a:srgbClr val="16A34A"/>
                </a:solidFill>
                <a:latin typeface="Arial"/>
                <a:ea typeface="Arial"/>
                <a:cs typeface="Arial"/>
                <a:sym typeface="Arial"/>
              </a:rPr>
              <a:t>心身の健康と安全を</a:t>
            </a:r>
            <a:endParaRPr b="1" sz="1300">
              <a:solidFill>
                <a:srgbClr val="16A34A"/>
              </a:solidFill>
              <a:latin typeface="Arial"/>
              <a:ea typeface="Arial"/>
              <a:cs typeface="Arial"/>
              <a:sym typeface="Arial"/>
            </a:endParaRPr>
          </a:p>
          <a:p>
            <a:pPr indent="0" lvl="0" marL="0" rtl="0" algn="ctr">
              <a:spcBef>
                <a:spcPts val="1000"/>
              </a:spcBef>
              <a:spcAft>
                <a:spcPts val="0"/>
              </a:spcAft>
              <a:buNone/>
            </a:pPr>
            <a:r>
              <a:rPr b="0" lang="en-US" sz="1600">
                <a:solidFill>
                  <a:srgbClr val="0F172A"/>
                </a:solidFill>
                <a:latin typeface="Arial"/>
                <a:ea typeface="Arial"/>
                <a:cs typeface="Arial"/>
                <a:sym typeface="Arial"/>
              </a:rPr>
              <a:t>守ってもらいながら</a:t>
            </a:r>
            <a:endParaRPr b="0" sz="1600">
              <a:solidFill>
                <a:srgbClr val="0F172A"/>
              </a:solidFill>
              <a:latin typeface="Arial"/>
              <a:ea typeface="Arial"/>
              <a:cs typeface="Arial"/>
              <a:sym typeface="Arial"/>
            </a:endParaRPr>
          </a:p>
          <a:p>
            <a:pPr indent="0" lvl="0" marL="0" rtl="0" algn="ctr">
              <a:spcBef>
                <a:spcPts val="400"/>
              </a:spcBef>
              <a:spcAft>
                <a:spcPts val="0"/>
              </a:spcAft>
              <a:buNone/>
            </a:pPr>
            <a:r>
              <a:rPr b="0" lang="en-US" sz="1600">
                <a:solidFill>
                  <a:srgbClr val="15803D"/>
                </a:solidFill>
                <a:latin typeface="Arial"/>
                <a:ea typeface="Arial"/>
                <a:cs typeface="Arial"/>
                <a:sym typeface="Arial"/>
              </a:rPr>
              <a:t>働く権利！</a:t>
            </a:r>
            <a:endParaRPr b="0" sz="1600">
              <a:solidFill>
                <a:srgbClr val="15803D"/>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1" name="Shape 261"/>
        <p:cNvGrpSpPr/>
        <p:nvPr/>
      </p:nvGrpSpPr>
      <p:grpSpPr>
        <a:xfrm>
          <a:off x="0" y="0"/>
          <a:ext cx="0" cy="0"/>
          <a:chOff x="0" y="0"/>
          <a:chExt cx="0" cy="0"/>
        </a:xfrm>
      </p:grpSpPr>
      <p:sp>
        <p:nvSpPr>
          <p:cNvPr id="262" name="Google Shape;262;p10"/>
          <p:cNvSpPr/>
          <p:nvPr/>
        </p:nvSpPr>
        <p:spPr>
          <a:xfrm>
            <a:off x="731520" y="4709160"/>
            <a:ext cx="5486400" cy="320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18096"/>
              </a:buClr>
              <a:buSzPts val="1200"/>
              <a:buFont typeface="Meiryo"/>
              <a:buNone/>
            </a:pPr>
            <a:r>
              <a:rPr b="0" i="0" lang="en-US" sz="1200" u="none" cap="none" strike="noStrike">
                <a:solidFill>
                  <a:srgbClr val="718096"/>
                </a:solidFill>
                <a:latin typeface="Meiryo"/>
                <a:ea typeface="Meiryo"/>
                <a:cs typeface="Meiryo"/>
                <a:sym typeface="Meiryo"/>
              </a:rPr>
              <a:t>第2部 労働契約</a:t>
            </a:r>
            <a:endParaRPr b="0" i="0" sz="1200" u="none" cap="none" strike="noStrike">
              <a:solidFill>
                <a:schemeClr val="dk1"/>
              </a:solidFill>
              <a:latin typeface="Calibri"/>
              <a:ea typeface="Calibri"/>
              <a:cs typeface="Calibri"/>
              <a:sym typeface="Calibri"/>
            </a:endParaRPr>
          </a:p>
        </p:txBody>
      </p:sp>
      <p:sp>
        <p:nvSpPr>
          <p:cNvPr id="263" name="Google Shape;263;p10"/>
          <p:cNvSpPr/>
          <p:nvPr/>
        </p:nvSpPr>
        <p:spPr>
          <a:xfrm>
            <a:off x="7315200" y="4709160"/>
            <a:ext cx="1097400" cy="3201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718096"/>
              </a:buClr>
              <a:buSzPts val="1200"/>
              <a:buFont typeface="Meiryo"/>
              <a:buNone/>
            </a:pPr>
            <a:r>
              <a:rPr b="0" i="0" lang="en-US" sz="1200" u="none" cap="none" strike="noStrike">
                <a:solidFill>
                  <a:srgbClr val="718096"/>
                </a:solidFill>
                <a:latin typeface="Meiryo"/>
                <a:ea typeface="Meiryo"/>
                <a:cs typeface="Meiryo"/>
                <a:sym typeface="Meiryo"/>
              </a:rPr>
              <a:t>10 / 30</a:t>
            </a:r>
            <a:endParaRPr b="0" i="0" sz="1200" u="none" cap="none" strike="noStrike">
              <a:solidFill>
                <a:schemeClr val="dk1"/>
              </a:solidFill>
              <a:latin typeface="Calibri"/>
              <a:ea typeface="Calibri"/>
              <a:cs typeface="Calibri"/>
              <a:sym typeface="Calibri"/>
            </a:endParaRPr>
          </a:p>
        </p:txBody>
      </p:sp>
      <p:sp>
        <p:nvSpPr>
          <p:cNvPr id="264" name="Google Shape;264;p10"/>
          <p:cNvSpPr/>
          <p:nvPr/>
        </p:nvSpPr>
        <p:spPr>
          <a:xfrm>
            <a:off x="571500" y="342900"/>
            <a:ext cx="8001000" cy="476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US" sz="2200">
                <a:solidFill>
                  <a:srgbClr val="0F172A"/>
                </a:solidFill>
                <a:latin typeface="Arial"/>
                <a:ea typeface="Arial"/>
                <a:cs typeface="Arial"/>
                <a:sym typeface="Arial"/>
              </a:rPr>
              <a:t>労働契約（労契法6条）― 会社と働く人の権利・義務</a:t>
            </a:r>
            <a:endParaRPr b="0" sz="2200">
              <a:solidFill>
                <a:srgbClr val="0F172A"/>
              </a:solidFill>
              <a:latin typeface="Arial"/>
              <a:ea typeface="Arial"/>
              <a:cs typeface="Arial"/>
              <a:sym typeface="Arial"/>
            </a:endParaRPr>
          </a:p>
        </p:txBody>
      </p:sp>
      <p:grpSp>
        <p:nvGrpSpPr>
          <p:cNvPr id="265" name="Google Shape;265;p10"/>
          <p:cNvGrpSpPr/>
          <p:nvPr/>
        </p:nvGrpSpPr>
        <p:grpSpPr>
          <a:xfrm>
            <a:off x="571500" y="971550"/>
            <a:ext cx="3857700" cy="3429000"/>
            <a:chOff x="0" y="0"/>
            <a:chExt cx="3857700" cy="3429000"/>
          </a:xfrm>
        </p:grpSpPr>
        <p:sp>
          <p:nvSpPr>
            <p:cNvPr id="266" name="Google Shape;266;p10"/>
            <p:cNvSpPr/>
            <p:nvPr/>
          </p:nvSpPr>
          <p:spPr>
            <a:xfrm>
              <a:off x="0" y="0"/>
              <a:ext cx="3857700" cy="3429000"/>
            </a:xfrm>
            <a:prstGeom prst="roundRect">
              <a:avLst>
                <a:gd fmla="val 4444" name="adj"/>
              </a:avLst>
            </a:prstGeom>
            <a:solidFill>
              <a:srgbClr val="FFFFFF"/>
            </a:solidFill>
            <a:ln cap="flat" cmpd="sng" w="14300">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7" name="Google Shape;267;p10"/>
            <p:cNvSpPr/>
            <p:nvPr/>
          </p:nvSpPr>
          <p:spPr>
            <a:xfrm>
              <a:off x="0" y="0"/>
              <a:ext cx="3857700" cy="57300"/>
            </a:xfrm>
            <a:prstGeom prst="roundRect">
              <a:avLst>
                <a:gd fmla="val 50000" name="adj"/>
              </a:avLst>
            </a:prstGeom>
            <a:solidFill>
              <a:srgbClr val="64748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8" name="Google Shape;268;p10"/>
            <p:cNvSpPr/>
            <p:nvPr/>
          </p:nvSpPr>
          <p:spPr>
            <a:xfrm>
              <a:off x="190500" y="190500"/>
              <a:ext cx="3476700" cy="438300"/>
            </a:xfrm>
            <a:prstGeom prst="roundRect">
              <a:avLst>
                <a:gd fmla="val 21739" name="adj"/>
              </a:avLst>
            </a:prstGeom>
            <a:solidFill>
              <a:srgbClr val="F1F5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9" name="Google Shape;269;p10"/>
            <p:cNvSpPr txBox="1"/>
            <p:nvPr/>
          </p:nvSpPr>
          <p:spPr>
            <a:xfrm>
              <a:off x="190500" y="190500"/>
              <a:ext cx="3476700" cy="438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500">
                  <a:solidFill>
                    <a:srgbClr val="334155"/>
                  </a:solidFill>
                  <a:latin typeface="Arial"/>
                  <a:ea typeface="Arial"/>
                  <a:cs typeface="Arial"/>
                  <a:sym typeface="Arial"/>
                </a:rPr>
                <a:t>🏢 会社（事業主）</a:t>
              </a:r>
              <a:endParaRPr b="0" sz="1500">
                <a:solidFill>
                  <a:srgbClr val="334155"/>
                </a:solidFill>
                <a:latin typeface="Arial"/>
                <a:ea typeface="Arial"/>
                <a:cs typeface="Arial"/>
                <a:sym typeface="Arial"/>
              </a:endParaRPr>
            </a:p>
          </p:txBody>
        </p:sp>
        <p:grpSp>
          <p:nvGrpSpPr>
            <p:cNvPr id="270" name="Google Shape;270;p10"/>
            <p:cNvGrpSpPr/>
            <p:nvPr/>
          </p:nvGrpSpPr>
          <p:grpSpPr>
            <a:xfrm>
              <a:off x="190500" y="762000"/>
              <a:ext cx="3476700" cy="743100"/>
              <a:chOff x="0" y="0"/>
              <a:chExt cx="3476700" cy="743100"/>
            </a:xfrm>
          </p:grpSpPr>
          <p:sp>
            <p:nvSpPr>
              <p:cNvPr id="271" name="Google Shape;271;p10"/>
              <p:cNvSpPr/>
              <p:nvPr/>
            </p:nvSpPr>
            <p:spPr>
              <a:xfrm>
                <a:off x="0" y="0"/>
                <a:ext cx="3476700" cy="743100"/>
              </a:xfrm>
              <a:prstGeom prst="roundRect">
                <a:avLst>
                  <a:gd fmla="val 12820"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2" name="Google Shape;272;p10"/>
              <p:cNvSpPr txBox="1"/>
              <p:nvPr/>
            </p:nvSpPr>
            <p:spPr>
              <a:xfrm>
                <a:off x="142875" y="95250"/>
                <a:ext cx="3190800" cy="552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200">
                    <a:solidFill>
                      <a:srgbClr val="2563EB"/>
                    </a:solidFill>
                    <a:latin typeface="Arial"/>
                    <a:ea typeface="Arial"/>
                    <a:cs typeface="Arial"/>
                    <a:sym typeface="Arial"/>
                  </a:rPr>
                  <a:t>【権限】👉 指揮命令権</a:t>
                </a:r>
                <a:endParaRPr b="1" sz="1200">
                  <a:solidFill>
                    <a:srgbClr val="2563EB"/>
                  </a:solidFill>
                  <a:latin typeface="Arial"/>
                  <a:ea typeface="Arial"/>
                  <a:cs typeface="Arial"/>
                  <a:sym typeface="Arial"/>
                </a:endParaRPr>
              </a:p>
              <a:p>
                <a:pPr indent="0" lvl="0" marL="0" rtl="0" algn="l">
                  <a:spcBef>
                    <a:spcPts val="300"/>
                  </a:spcBef>
                  <a:spcAft>
                    <a:spcPts val="0"/>
                  </a:spcAft>
                  <a:buNone/>
                </a:pPr>
                <a:r>
                  <a:rPr lang="en-US" sz="1100">
                    <a:solidFill>
                      <a:srgbClr val="475569"/>
                    </a:solidFill>
                    <a:latin typeface="Arial"/>
                    <a:ea typeface="Arial"/>
                    <a:cs typeface="Arial"/>
                    <a:sym typeface="Arial"/>
                  </a:rPr>
                  <a:t>・業務の進め方を指示できる</a:t>
                </a:r>
                <a:endParaRPr sz="1100">
                  <a:solidFill>
                    <a:srgbClr val="475569"/>
                  </a:solidFill>
                  <a:latin typeface="Arial"/>
                  <a:ea typeface="Arial"/>
                  <a:cs typeface="Arial"/>
                  <a:sym typeface="Arial"/>
                </a:endParaRPr>
              </a:p>
            </p:txBody>
          </p:sp>
        </p:grpSp>
        <p:grpSp>
          <p:nvGrpSpPr>
            <p:cNvPr id="273" name="Google Shape;273;p10"/>
            <p:cNvGrpSpPr/>
            <p:nvPr/>
          </p:nvGrpSpPr>
          <p:grpSpPr>
            <a:xfrm>
              <a:off x="190500" y="1600200"/>
              <a:ext cx="3476700" cy="743100"/>
              <a:chOff x="0" y="0"/>
              <a:chExt cx="3476700" cy="743100"/>
            </a:xfrm>
          </p:grpSpPr>
          <p:sp>
            <p:nvSpPr>
              <p:cNvPr id="274" name="Google Shape;274;p10"/>
              <p:cNvSpPr/>
              <p:nvPr/>
            </p:nvSpPr>
            <p:spPr>
              <a:xfrm>
                <a:off x="0" y="0"/>
                <a:ext cx="3476700" cy="743100"/>
              </a:xfrm>
              <a:prstGeom prst="roundRect">
                <a:avLst>
                  <a:gd fmla="val 12820" name="adj"/>
                </a:avLst>
              </a:prstGeom>
              <a:solidFill>
                <a:srgbClr val="FEF2F2"/>
              </a:solidFill>
              <a:ln cap="flat" cmpd="sng" w="9525">
                <a:solidFill>
                  <a:srgbClr val="FECAC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5" name="Google Shape;275;p10"/>
              <p:cNvSpPr txBox="1"/>
              <p:nvPr/>
            </p:nvSpPr>
            <p:spPr>
              <a:xfrm>
                <a:off x="142875" y="95250"/>
                <a:ext cx="3190800" cy="552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200">
                    <a:solidFill>
                      <a:srgbClr val="DC2626"/>
                    </a:solidFill>
                    <a:latin typeface="Arial"/>
                    <a:ea typeface="Arial"/>
                    <a:cs typeface="Arial"/>
                    <a:sym typeface="Arial"/>
                  </a:rPr>
                  <a:t>【義務】🔴 賃金支払債務</a:t>
                </a:r>
                <a:endParaRPr b="1" sz="1200">
                  <a:solidFill>
                    <a:srgbClr val="DC2626"/>
                  </a:solidFill>
                  <a:latin typeface="Arial"/>
                  <a:ea typeface="Arial"/>
                  <a:cs typeface="Arial"/>
                  <a:sym typeface="Arial"/>
                </a:endParaRPr>
              </a:p>
              <a:p>
                <a:pPr indent="0" lvl="0" marL="0" rtl="0" algn="l">
                  <a:spcBef>
                    <a:spcPts val="300"/>
                  </a:spcBef>
                  <a:spcAft>
                    <a:spcPts val="0"/>
                  </a:spcAft>
                  <a:buNone/>
                </a:pPr>
                <a:r>
                  <a:rPr lang="en-US" sz="1100">
                    <a:solidFill>
                      <a:srgbClr val="475569"/>
                    </a:solidFill>
                    <a:latin typeface="Arial"/>
                    <a:ea typeface="Arial"/>
                    <a:cs typeface="Arial"/>
                    <a:sym typeface="Arial"/>
                  </a:rPr>
                  <a:t>・給料を必ず支払う</a:t>
                </a:r>
                <a:endParaRPr sz="1100">
                  <a:solidFill>
                    <a:srgbClr val="475569"/>
                  </a:solidFill>
                  <a:latin typeface="Arial"/>
                  <a:ea typeface="Arial"/>
                  <a:cs typeface="Arial"/>
                  <a:sym typeface="Arial"/>
                </a:endParaRPr>
              </a:p>
            </p:txBody>
          </p:sp>
        </p:grpSp>
        <p:grpSp>
          <p:nvGrpSpPr>
            <p:cNvPr id="276" name="Google Shape;276;p10"/>
            <p:cNvGrpSpPr/>
            <p:nvPr/>
          </p:nvGrpSpPr>
          <p:grpSpPr>
            <a:xfrm>
              <a:off x="190500" y="2438400"/>
              <a:ext cx="3476700" cy="800100"/>
              <a:chOff x="0" y="0"/>
              <a:chExt cx="3476700" cy="800100"/>
            </a:xfrm>
          </p:grpSpPr>
          <p:sp>
            <p:nvSpPr>
              <p:cNvPr id="277" name="Google Shape;277;p10"/>
              <p:cNvSpPr/>
              <p:nvPr/>
            </p:nvSpPr>
            <p:spPr>
              <a:xfrm>
                <a:off x="0" y="0"/>
                <a:ext cx="3476700" cy="800100"/>
              </a:xfrm>
              <a:prstGeom prst="roundRect">
                <a:avLst>
                  <a:gd fmla="val 11904"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8" name="Google Shape;278;p10"/>
              <p:cNvSpPr txBox="1"/>
              <p:nvPr/>
            </p:nvSpPr>
            <p:spPr>
              <a:xfrm>
                <a:off x="142875" y="95250"/>
                <a:ext cx="3190800" cy="609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200">
                    <a:solidFill>
                      <a:srgbClr val="475569"/>
                    </a:solidFill>
                    <a:latin typeface="Arial"/>
                    <a:ea typeface="Arial"/>
                    <a:cs typeface="Arial"/>
                    <a:sym typeface="Arial"/>
                  </a:rPr>
                  <a:t>【義務】🛡️ 安全配慮義務（労契法5条）</a:t>
                </a:r>
                <a:endParaRPr b="1" sz="1200">
                  <a:solidFill>
                    <a:srgbClr val="475569"/>
                  </a:solidFill>
                  <a:latin typeface="Arial"/>
                  <a:ea typeface="Arial"/>
                  <a:cs typeface="Arial"/>
                  <a:sym typeface="Arial"/>
                </a:endParaRPr>
              </a:p>
              <a:p>
                <a:pPr indent="0" lvl="0" marL="0" rtl="0" algn="l">
                  <a:spcBef>
                    <a:spcPts val="300"/>
                  </a:spcBef>
                  <a:spcAft>
                    <a:spcPts val="0"/>
                  </a:spcAft>
                  <a:buNone/>
                </a:pPr>
                <a:r>
                  <a:rPr lang="en-US" sz="1100">
                    <a:solidFill>
                      <a:srgbClr val="475569"/>
                    </a:solidFill>
                    <a:latin typeface="Arial"/>
                    <a:ea typeface="Arial"/>
                    <a:cs typeface="Arial"/>
                    <a:sym typeface="Arial"/>
                  </a:rPr>
                  <a:t>・心身の健康と安全を守る</a:t>
                </a:r>
                <a:endParaRPr sz="1100">
                  <a:solidFill>
                    <a:srgbClr val="475569"/>
                  </a:solidFill>
                  <a:latin typeface="Arial"/>
                  <a:ea typeface="Arial"/>
                  <a:cs typeface="Arial"/>
                  <a:sym typeface="Arial"/>
                </a:endParaRPr>
              </a:p>
            </p:txBody>
          </p:sp>
        </p:grpSp>
      </p:grpSp>
      <p:grpSp>
        <p:nvGrpSpPr>
          <p:cNvPr id="279" name="Google Shape;279;p10"/>
          <p:cNvGrpSpPr/>
          <p:nvPr/>
        </p:nvGrpSpPr>
        <p:grpSpPr>
          <a:xfrm>
            <a:off x="4714875" y="971550"/>
            <a:ext cx="3857700" cy="3429000"/>
            <a:chOff x="0" y="0"/>
            <a:chExt cx="3857700" cy="3429000"/>
          </a:xfrm>
        </p:grpSpPr>
        <p:sp>
          <p:nvSpPr>
            <p:cNvPr id="280" name="Google Shape;280;p10"/>
            <p:cNvSpPr/>
            <p:nvPr/>
          </p:nvSpPr>
          <p:spPr>
            <a:xfrm>
              <a:off x="0" y="0"/>
              <a:ext cx="3857700" cy="3429000"/>
            </a:xfrm>
            <a:prstGeom prst="roundRect">
              <a:avLst>
                <a:gd fmla="val 4444" name="adj"/>
              </a:avLst>
            </a:prstGeom>
            <a:solidFill>
              <a:srgbClr val="FFFFFF"/>
            </a:solidFill>
            <a:ln cap="flat" cmpd="sng" w="14300">
              <a:solidFill>
                <a:srgbClr val="93C5F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1" name="Google Shape;281;p10"/>
            <p:cNvSpPr/>
            <p:nvPr/>
          </p:nvSpPr>
          <p:spPr>
            <a:xfrm>
              <a:off x="0" y="0"/>
              <a:ext cx="3857700" cy="57300"/>
            </a:xfrm>
            <a:prstGeom prst="roundRect">
              <a:avLst>
                <a:gd fmla="val 5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2" name="Google Shape;282;p10"/>
            <p:cNvSpPr/>
            <p:nvPr/>
          </p:nvSpPr>
          <p:spPr>
            <a:xfrm>
              <a:off x="190500" y="190500"/>
              <a:ext cx="3476700" cy="438300"/>
            </a:xfrm>
            <a:prstGeom prst="roundRect">
              <a:avLst>
                <a:gd fmla="val 21739" name="adj"/>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3" name="Google Shape;283;p10"/>
            <p:cNvSpPr txBox="1"/>
            <p:nvPr/>
          </p:nvSpPr>
          <p:spPr>
            <a:xfrm>
              <a:off x="190500" y="190500"/>
              <a:ext cx="3476700" cy="438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500">
                  <a:solidFill>
                    <a:srgbClr val="1D4ED8"/>
                  </a:solidFill>
                  <a:latin typeface="Arial"/>
                  <a:ea typeface="Arial"/>
                  <a:cs typeface="Arial"/>
                  <a:sym typeface="Arial"/>
                </a:rPr>
                <a:t>👩‍💻 働く人（労働者）</a:t>
              </a:r>
              <a:endParaRPr b="0" sz="1500">
                <a:solidFill>
                  <a:srgbClr val="1D4ED8"/>
                </a:solidFill>
                <a:latin typeface="Arial"/>
                <a:ea typeface="Arial"/>
                <a:cs typeface="Arial"/>
                <a:sym typeface="Arial"/>
              </a:endParaRPr>
            </a:p>
          </p:txBody>
        </p:sp>
        <p:grpSp>
          <p:nvGrpSpPr>
            <p:cNvPr id="284" name="Google Shape;284;p10"/>
            <p:cNvGrpSpPr/>
            <p:nvPr/>
          </p:nvGrpSpPr>
          <p:grpSpPr>
            <a:xfrm>
              <a:off x="190500" y="762000"/>
              <a:ext cx="3476700" cy="743100"/>
              <a:chOff x="0" y="0"/>
              <a:chExt cx="3476700" cy="743100"/>
            </a:xfrm>
          </p:grpSpPr>
          <p:sp>
            <p:nvSpPr>
              <p:cNvPr id="285" name="Google Shape;285;p10"/>
              <p:cNvSpPr/>
              <p:nvPr/>
            </p:nvSpPr>
            <p:spPr>
              <a:xfrm>
                <a:off x="0" y="0"/>
                <a:ext cx="3476700" cy="743100"/>
              </a:xfrm>
              <a:prstGeom prst="roundRect">
                <a:avLst>
                  <a:gd fmla="val 12820" name="adj"/>
                </a:avLst>
              </a:prstGeom>
              <a:solidFill>
                <a:srgbClr val="F0F9FF"/>
              </a:solidFill>
              <a:ln cap="flat" cmpd="sng" w="9525">
                <a:solidFill>
                  <a:srgbClr val="BAE6F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6" name="Google Shape;286;p10"/>
              <p:cNvSpPr txBox="1"/>
              <p:nvPr/>
            </p:nvSpPr>
            <p:spPr>
              <a:xfrm>
                <a:off x="142875" y="95250"/>
                <a:ext cx="3190800" cy="552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200">
                    <a:solidFill>
                      <a:srgbClr val="0284C7"/>
                    </a:solidFill>
                    <a:latin typeface="Arial"/>
                    <a:ea typeface="Arial"/>
                    <a:cs typeface="Arial"/>
                    <a:sym typeface="Arial"/>
                  </a:rPr>
                  <a:t>【権利】🔵 賃金支払請求権</a:t>
                </a:r>
                <a:endParaRPr b="1" sz="1200">
                  <a:solidFill>
                    <a:srgbClr val="0284C7"/>
                  </a:solidFill>
                  <a:latin typeface="Arial"/>
                  <a:ea typeface="Arial"/>
                  <a:cs typeface="Arial"/>
                  <a:sym typeface="Arial"/>
                </a:endParaRPr>
              </a:p>
              <a:p>
                <a:pPr indent="0" lvl="0" marL="0" rtl="0" algn="l">
                  <a:spcBef>
                    <a:spcPts val="300"/>
                  </a:spcBef>
                  <a:spcAft>
                    <a:spcPts val="0"/>
                  </a:spcAft>
                  <a:buNone/>
                </a:pPr>
                <a:r>
                  <a:rPr lang="en-US" sz="1100">
                    <a:solidFill>
                      <a:srgbClr val="475569"/>
                    </a:solidFill>
                    <a:latin typeface="Arial"/>
                    <a:ea typeface="Arial"/>
                    <a:cs typeface="Arial"/>
                    <a:sym typeface="Arial"/>
                  </a:rPr>
                  <a:t>・給料を求める権利</a:t>
                </a:r>
                <a:endParaRPr sz="1100">
                  <a:solidFill>
                    <a:srgbClr val="475569"/>
                  </a:solidFill>
                  <a:latin typeface="Arial"/>
                  <a:ea typeface="Arial"/>
                  <a:cs typeface="Arial"/>
                  <a:sym typeface="Arial"/>
                </a:endParaRPr>
              </a:p>
            </p:txBody>
          </p:sp>
        </p:grpSp>
        <p:grpSp>
          <p:nvGrpSpPr>
            <p:cNvPr id="287" name="Google Shape;287;p10"/>
            <p:cNvGrpSpPr/>
            <p:nvPr/>
          </p:nvGrpSpPr>
          <p:grpSpPr>
            <a:xfrm>
              <a:off x="190500" y="1600200"/>
              <a:ext cx="3476700" cy="743100"/>
              <a:chOff x="0" y="0"/>
              <a:chExt cx="3476700" cy="743100"/>
            </a:xfrm>
          </p:grpSpPr>
          <p:sp>
            <p:nvSpPr>
              <p:cNvPr id="288" name="Google Shape;288;p10"/>
              <p:cNvSpPr/>
              <p:nvPr/>
            </p:nvSpPr>
            <p:spPr>
              <a:xfrm>
                <a:off x="0" y="0"/>
                <a:ext cx="3476700" cy="743100"/>
              </a:xfrm>
              <a:prstGeom prst="roundRect">
                <a:avLst>
                  <a:gd fmla="val 12820" name="adj"/>
                </a:avLst>
              </a:prstGeom>
              <a:solidFill>
                <a:srgbClr val="FEF2F2"/>
              </a:solidFill>
              <a:ln cap="flat" cmpd="sng" w="9525">
                <a:solidFill>
                  <a:srgbClr val="FECAC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9" name="Google Shape;289;p10"/>
              <p:cNvSpPr txBox="1"/>
              <p:nvPr/>
            </p:nvSpPr>
            <p:spPr>
              <a:xfrm>
                <a:off x="142875" y="95250"/>
                <a:ext cx="3190800" cy="552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200">
                    <a:solidFill>
                      <a:srgbClr val="DC2626"/>
                    </a:solidFill>
                    <a:latin typeface="Arial"/>
                    <a:ea typeface="Arial"/>
                    <a:cs typeface="Arial"/>
                    <a:sym typeface="Arial"/>
                  </a:rPr>
                  <a:t>【義務】🔴 労務提供義務</a:t>
                </a:r>
                <a:endParaRPr b="1" sz="1200">
                  <a:solidFill>
                    <a:srgbClr val="DC2626"/>
                  </a:solidFill>
                  <a:latin typeface="Arial"/>
                  <a:ea typeface="Arial"/>
                  <a:cs typeface="Arial"/>
                  <a:sym typeface="Arial"/>
                </a:endParaRPr>
              </a:p>
              <a:p>
                <a:pPr indent="0" lvl="0" marL="0" rtl="0" algn="l">
                  <a:spcBef>
                    <a:spcPts val="300"/>
                  </a:spcBef>
                  <a:spcAft>
                    <a:spcPts val="0"/>
                  </a:spcAft>
                  <a:buNone/>
                </a:pPr>
                <a:r>
                  <a:rPr lang="en-US" sz="1100">
                    <a:solidFill>
                      <a:srgbClr val="475569"/>
                    </a:solidFill>
                    <a:latin typeface="Arial"/>
                    <a:ea typeface="Arial"/>
                    <a:cs typeface="Arial"/>
                    <a:sym typeface="Arial"/>
                  </a:rPr>
                  <a:t>・仕事をする義務</a:t>
                </a:r>
                <a:endParaRPr sz="1100">
                  <a:solidFill>
                    <a:srgbClr val="475569"/>
                  </a:solidFill>
                  <a:latin typeface="Arial"/>
                  <a:ea typeface="Arial"/>
                  <a:cs typeface="Arial"/>
                  <a:sym typeface="Arial"/>
                </a:endParaRPr>
              </a:p>
            </p:txBody>
          </p:sp>
        </p:grpSp>
        <p:grpSp>
          <p:nvGrpSpPr>
            <p:cNvPr id="290" name="Google Shape;290;p10"/>
            <p:cNvGrpSpPr/>
            <p:nvPr/>
          </p:nvGrpSpPr>
          <p:grpSpPr>
            <a:xfrm>
              <a:off x="190500" y="2438400"/>
              <a:ext cx="3476700" cy="800100"/>
              <a:chOff x="0" y="0"/>
              <a:chExt cx="3476700" cy="800100"/>
            </a:xfrm>
          </p:grpSpPr>
          <p:sp>
            <p:nvSpPr>
              <p:cNvPr id="291" name="Google Shape;291;p10"/>
              <p:cNvSpPr/>
              <p:nvPr/>
            </p:nvSpPr>
            <p:spPr>
              <a:xfrm>
                <a:off x="0" y="0"/>
                <a:ext cx="3476700" cy="800100"/>
              </a:xfrm>
              <a:prstGeom prst="roundRect">
                <a:avLst>
                  <a:gd fmla="val 11904"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2" name="Google Shape;292;p10"/>
              <p:cNvSpPr txBox="1"/>
              <p:nvPr/>
            </p:nvSpPr>
            <p:spPr>
              <a:xfrm>
                <a:off x="142875" y="95250"/>
                <a:ext cx="3190800" cy="609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200">
                    <a:solidFill>
                      <a:srgbClr val="475569"/>
                    </a:solidFill>
                    <a:latin typeface="Arial"/>
                    <a:ea typeface="Arial"/>
                    <a:cs typeface="Arial"/>
                    <a:sym typeface="Arial"/>
                  </a:rPr>
                  <a:t>【義務】💼 職務専念 ＆ 秩序遵守</a:t>
                </a:r>
                <a:endParaRPr b="1" sz="1200">
                  <a:solidFill>
                    <a:srgbClr val="475569"/>
                  </a:solidFill>
                  <a:latin typeface="Arial"/>
                  <a:ea typeface="Arial"/>
                  <a:cs typeface="Arial"/>
                  <a:sym typeface="Arial"/>
                </a:endParaRPr>
              </a:p>
              <a:p>
                <a:pPr indent="0" lvl="0" marL="0" rtl="0" algn="l">
                  <a:spcBef>
                    <a:spcPts val="300"/>
                  </a:spcBef>
                  <a:spcAft>
                    <a:spcPts val="0"/>
                  </a:spcAft>
                  <a:buNone/>
                </a:pPr>
                <a:r>
                  <a:rPr lang="en-US" sz="1100">
                    <a:solidFill>
                      <a:srgbClr val="475569"/>
                    </a:solidFill>
                    <a:latin typeface="Arial"/>
                    <a:ea typeface="Arial"/>
                    <a:cs typeface="Arial"/>
                    <a:sym typeface="Arial"/>
                  </a:rPr>
                  <a:t>・勤務中集中・秘密を守る</a:t>
                </a:r>
                <a:endParaRPr sz="1100">
                  <a:solidFill>
                    <a:srgbClr val="475569"/>
                  </a:solidFill>
                  <a:latin typeface="Arial"/>
                  <a:ea typeface="Arial"/>
                  <a:cs typeface="Arial"/>
                  <a:sym typeface="Arial"/>
                </a:endParaRPr>
              </a:p>
            </p:txBody>
          </p:sp>
        </p:gr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7" name="Shape 297"/>
        <p:cNvGrpSpPr/>
        <p:nvPr/>
      </p:nvGrpSpPr>
      <p:grpSpPr>
        <a:xfrm>
          <a:off x="0" y="0"/>
          <a:ext cx="0" cy="0"/>
          <a:chOff x="0" y="0"/>
          <a:chExt cx="0" cy="0"/>
        </a:xfrm>
      </p:grpSpPr>
      <p:sp>
        <p:nvSpPr>
          <p:cNvPr id="298" name="Google Shape;298;p11"/>
          <p:cNvSpPr/>
          <p:nvPr/>
        </p:nvSpPr>
        <p:spPr>
          <a:xfrm>
            <a:off x="731520" y="4709160"/>
            <a:ext cx="5486400" cy="320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18096"/>
              </a:buClr>
              <a:buSzPts val="1200"/>
              <a:buFont typeface="Meiryo"/>
              <a:buNone/>
            </a:pPr>
            <a:r>
              <a:rPr b="0" i="0" lang="en-US" sz="1200" u="none" cap="none" strike="noStrike">
                <a:solidFill>
                  <a:srgbClr val="718096"/>
                </a:solidFill>
                <a:latin typeface="Meiryo"/>
                <a:ea typeface="Meiryo"/>
                <a:cs typeface="Meiryo"/>
                <a:sym typeface="Meiryo"/>
              </a:rPr>
              <a:t>第2部 労働契約</a:t>
            </a:r>
            <a:endParaRPr b="0" i="0" sz="1200" u="none" cap="none" strike="noStrike">
              <a:solidFill>
                <a:schemeClr val="dk1"/>
              </a:solidFill>
              <a:latin typeface="Calibri"/>
              <a:ea typeface="Calibri"/>
              <a:cs typeface="Calibri"/>
              <a:sym typeface="Calibri"/>
            </a:endParaRPr>
          </a:p>
        </p:txBody>
      </p:sp>
      <p:sp>
        <p:nvSpPr>
          <p:cNvPr id="299" name="Google Shape;299;p11"/>
          <p:cNvSpPr/>
          <p:nvPr/>
        </p:nvSpPr>
        <p:spPr>
          <a:xfrm>
            <a:off x="7315200" y="4709160"/>
            <a:ext cx="1097400" cy="3201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718096"/>
              </a:buClr>
              <a:buSzPts val="1200"/>
              <a:buFont typeface="Meiryo"/>
              <a:buNone/>
            </a:pPr>
            <a:r>
              <a:rPr b="0" i="0" lang="en-US" sz="1200" u="none" cap="none" strike="noStrike">
                <a:solidFill>
                  <a:srgbClr val="718096"/>
                </a:solidFill>
                <a:latin typeface="Meiryo"/>
                <a:ea typeface="Meiryo"/>
                <a:cs typeface="Meiryo"/>
                <a:sym typeface="Meiryo"/>
              </a:rPr>
              <a:t>11 / 30</a:t>
            </a:r>
            <a:endParaRPr b="0" i="0" sz="1200" u="none" cap="none" strike="noStrike">
              <a:solidFill>
                <a:schemeClr val="dk1"/>
              </a:solidFill>
              <a:latin typeface="Calibri"/>
              <a:ea typeface="Calibri"/>
              <a:cs typeface="Calibri"/>
              <a:sym typeface="Calibri"/>
            </a:endParaRPr>
          </a:p>
        </p:txBody>
      </p:sp>
      <p:sp>
        <p:nvSpPr>
          <p:cNvPr id="300" name="Google Shape;300;p11"/>
          <p:cNvSpPr/>
          <p:nvPr/>
        </p:nvSpPr>
        <p:spPr>
          <a:xfrm>
            <a:off x="731520" y="365760"/>
            <a:ext cx="76809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02C"/>
              </a:buClr>
              <a:buSzPts val="2400"/>
              <a:buFont typeface="Meiryo"/>
              <a:buNone/>
            </a:pPr>
            <a:r>
              <a:rPr b="1" i="0" lang="en-US" sz="2400" u="none" cap="none" strike="noStrike">
                <a:solidFill>
                  <a:srgbClr val="1A202C"/>
                </a:solidFill>
                <a:latin typeface="Meiryo"/>
                <a:ea typeface="Meiryo"/>
                <a:cs typeface="Meiryo"/>
                <a:sym typeface="Meiryo"/>
              </a:rPr>
              <a:t>【図2】労働契約の構造マップ</a:t>
            </a:r>
            <a:endParaRPr b="0" i="0" sz="2400" u="none" cap="none" strike="noStrike">
              <a:solidFill>
                <a:schemeClr val="dk1"/>
              </a:solidFill>
              <a:latin typeface="Calibri"/>
              <a:ea typeface="Calibri"/>
              <a:cs typeface="Calibri"/>
              <a:sym typeface="Calibri"/>
            </a:endParaRPr>
          </a:p>
        </p:txBody>
      </p:sp>
      <p:pic>
        <p:nvPicPr>
          <p:cNvPr descr="c:\Users\sugiy\.antigravity\練習用\fig2_roudou.png" id="301" name="Google Shape;301;p11"/>
          <p:cNvPicPr preferRelativeResize="0"/>
          <p:nvPr/>
        </p:nvPicPr>
        <p:blipFill rotWithShape="1">
          <a:blip r:embed="rId3">
            <a:alphaModFix/>
          </a:blip>
          <a:srcRect b="0" l="0" r="0" t="0"/>
          <a:stretch/>
        </p:blipFill>
        <p:spPr>
          <a:xfrm>
            <a:off x="731520" y="914400"/>
            <a:ext cx="7680960" cy="374904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6" name="Shape 306"/>
        <p:cNvGrpSpPr/>
        <p:nvPr/>
      </p:nvGrpSpPr>
      <p:grpSpPr>
        <a:xfrm>
          <a:off x="0" y="0"/>
          <a:ext cx="0" cy="0"/>
          <a:chOff x="0" y="0"/>
          <a:chExt cx="0" cy="0"/>
        </a:xfrm>
      </p:grpSpPr>
      <p:sp>
        <p:nvSpPr>
          <p:cNvPr id="307" name="Google Shape;307;p12"/>
          <p:cNvSpPr/>
          <p:nvPr/>
        </p:nvSpPr>
        <p:spPr>
          <a:xfrm>
            <a:off x="731520" y="4709160"/>
            <a:ext cx="5486400" cy="320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18096"/>
              </a:buClr>
              <a:buSzPts val="1200"/>
              <a:buFont typeface="Meiryo"/>
              <a:buNone/>
            </a:pPr>
            <a:r>
              <a:rPr b="0" i="0" lang="en-US" sz="1200" u="none" cap="none" strike="noStrike">
                <a:solidFill>
                  <a:srgbClr val="718096"/>
                </a:solidFill>
                <a:latin typeface="Meiryo"/>
                <a:ea typeface="Meiryo"/>
                <a:cs typeface="Meiryo"/>
                <a:sym typeface="Meiryo"/>
              </a:rPr>
              <a:t>第2部 労働契約</a:t>
            </a:r>
            <a:endParaRPr b="0" i="0" sz="1200" u="none" cap="none" strike="noStrike">
              <a:solidFill>
                <a:schemeClr val="dk1"/>
              </a:solidFill>
              <a:latin typeface="Calibri"/>
              <a:ea typeface="Calibri"/>
              <a:cs typeface="Calibri"/>
              <a:sym typeface="Calibri"/>
            </a:endParaRPr>
          </a:p>
        </p:txBody>
      </p:sp>
      <p:sp>
        <p:nvSpPr>
          <p:cNvPr id="308" name="Google Shape;308;p12"/>
          <p:cNvSpPr/>
          <p:nvPr/>
        </p:nvSpPr>
        <p:spPr>
          <a:xfrm>
            <a:off x="7315200" y="4709160"/>
            <a:ext cx="1097400" cy="3201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718096"/>
              </a:buClr>
              <a:buSzPts val="1200"/>
              <a:buFont typeface="Meiryo"/>
              <a:buNone/>
            </a:pPr>
            <a:r>
              <a:rPr b="0" i="0" lang="en-US" sz="1200" u="none" cap="none" strike="noStrike">
                <a:solidFill>
                  <a:srgbClr val="718096"/>
                </a:solidFill>
                <a:latin typeface="Meiryo"/>
                <a:ea typeface="Meiryo"/>
                <a:cs typeface="Meiryo"/>
                <a:sym typeface="Meiryo"/>
              </a:rPr>
              <a:t>12 / 30</a:t>
            </a:r>
            <a:endParaRPr b="0" i="0" sz="1200" u="none" cap="none" strike="noStrike">
              <a:solidFill>
                <a:schemeClr val="dk1"/>
              </a:solidFill>
              <a:latin typeface="Calibri"/>
              <a:ea typeface="Calibri"/>
              <a:cs typeface="Calibri"/>
              <a:sym typeface="Calibri"/>
            </a:endParaRPr>
          </a:p>
        </p:txBody>
      </p:sp>
      <p:sp>
        <p:nvSpPr>
          <p:cNvPr id="309" name="Google Shape;309;p12"/>
          <p:cNvSpPr/>
          <p:nvPr/>
        </p:nvSpPr>
        <p:spPr>
          <a:xfrm>
            <a:off x="731520" y="457200"/>
            <a:ext cx="76809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02C"/>
              </a:buClr>
              <a:buSzPts val="2600"/>
              <a:buFont typeface="Meiryo"/>
              <a:buNone/>
            </a:pPr>
            <a:r>
              <a:rPr b="1" i="0" lang="en-US" sz="2600" u="none" cap="none" strike="noStrike">
                <a:solidFill>
                  <a:srgbClr val="1A202C"/>
                </a:solidFill>
                <a:latin typeface="Meiryo"/>
                <a:ea typeface="Meiryo"/>
                <a:cs typeface="Meiryo"/>
                <a:sym typeface="Meiryo"/>
              </a:rPr>
              <a:t>労働契約とAIの接点 ― 現場のルールと安心配慮</a:t>
            </a:r>
            <a:endParaRPr b="0" i="0" sz="2600" u="none" cap="none" strike="noStrike">
              <a:solidFill>
                <a:schemeClr val="dk1"/>
              </a:solidFill>
              <a:latin typeface="Calibri"/>
              <a:ea typeface="Calibri"/>
              <a:cs typeface="Calibri"/>
              <a:sym typeface="Calibri"/>
            </a:endParaRPr>
          </a:p>
        </p:txBody>
      </p:sp>
      <p:sp>
        <p:nvSpPr>
          <p:cNvPr id="310" name="Google Shape;310;p12"/>
          <p:cNvSpPr/>
          <p:nvPr/>
        </p:nvSpPr>
        <p:spPr>
          <a:xfrm>
            <a:off x="571500" y="1143000"/>
            <a:ext cx="3695700" cy="3333900"/>
          </a:xfrm>
          <a:prstGeom prst="roundRect">
            <a:avLst>
              <a:gd fmla="val 4571" name="adj"/>
            </a:avLst>
          </a:prstGeom>
          <a:solidFill>
            <a:srgbClr val="FFFFFF"/>
          </a:solidFill>
          <a:ln cap="flat" cmpd="sng" w="14300">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1" name="Google Shape;311;p12"/>
          <p:cNvSpPr/>
          <p:nvPr/>
        </p:nvSpPr>
        <p:spPr>
          <a:xfrm>
            <a:off x="762000" y="1295400"/>
            <a:ext cx="3314700" cy="381000"/>
          </a:xfrm>
          <a:prstGeom prst="rect">
            <a:avLst/>
          </a:prstGeom>
          <a:solidFill>
            <a:srgbClr val="F1F5F9"/>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500">
                <a:solidFill>
                  <a:srgbClr val="0F172A"/>
                </a:solidFill>
                <a:latin typeface="Arial"/>
                <a:ea typeface="Arial"/>
                <a:cs typeface="Arial"/>
                <a:sym typeface="Arial"/>
              </a:rPr>
              <a:t>🔒 働く側のルール</a:t>
            </a:r>
            <a:endParaRPr b="1" sz="1500">
              <a:solidFill>
                <a:srgbClr val="0F172A"/>
              </a:solidFill>
              <a:latin typeface="Arial"/>
              <a:ea typeface="Arial"/>
              <a:cs typeface="Arial"/>
              <a:sym typeface="Arial"/>
            </a:endParaRPr>
          </a:p>
        </p:txBody>
      </p:sp>
      <p:sp>
        <p:nvSpPr>
          <p:cNvPr id="312" name="Google Shape;312;p12"/>
          <p:cNvSpPr/>
          <p:nvPr/>
        </p:nvSpPr>
        <p:spPr>
          <a:xfrm>
            <a:off x="762000" y="1809750"/>
            <a:ext cx="3314700" cy="2476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1200">
                <a:solidFill>
                  <a:srgbClr val="2563EB"/>
                </a:solidFill>
                <a:latin typeface="Arial"/>
                <a:ea typeface="Arial"/>
                <a:cs typeface="Arial"/>
                <a:sym typeface="Arial"/>
              </a:rPr>
              <a:t>👉 指揮命令</a:t>
            </a:r>
            <a:endParaRPr b="1" sz="1200">
              <a:solidFill>
                <a:srgbClr val="2563EB"/>
              </a:solidFill>
              <a:latin typeface="Arial"/>
              <a:ea typeface="Arial"/>
              <a:cs typeface="Arial"/>
              <a:sym typeface="Arial"/>
            </a:endParaRPr>
          </a:p>
          <a:p>
            <a:pPr indent="0" lvl="0" marL="0" rtl="0" algn="l">
              <a:spcBef>
                <a:spcPts val="225"/>
              </a:spcBef>
              <a:spcAft>
                <a:spcPts val="0"/>
              </a:spcAft>
              <a:buNone/>
            </a:pPr>
            <a:r>
              <a:rPr lang="en-US" sz="1100">
                <a:solidFill>
                  <a:srgbClr val="475569"/>
                </a:solidFill>
                <a:latin typeface="Arial"/>
                <a:ea typeface="Arial"/>
                <a:cs typeface="Arial"/>
                <a:sym typeface="Arial"/>
              </a:rPr>
              <a:t>会社の指示したツールを使う</a:t>
            </a:r>
            <a:endParaRPr sz="1100">
              <a:solidFill>
                <a:srgbClr val="475569"/>
              </a:solidFill>
              <a:latin typeface="Arial"/>
              <a:ea typeface="Arial"/>
              <a:cs typeface="Arial"/>
              <a:sym typeface="Arial"/>
            </a:endParaRPr>
          </a:p>
          <a:p>
            <a:pPr indent="0" lvl="0" marL="0" rtl="0" algn="l">
              <a:spcBef>
                <a:spcPts val="0"/>
              </a:spcBef>
              <a:spcAft>
                <a:spcPts val="0"/>
              </a:spcAft>
              <a:buNone/>
            </a:pPr>
            <a:r>
              <a:rPr b="1" lang="en-US" sz="1200">
                <a:solidFill>
                  <a:srgbClr val="2563EB"/>
                </a:solidFill>
                <a:latin typeface="Arial"/>
                <a:ea typeface="Arial"/>
                <a:cs typeface="Arial"/>
                <a:sym typeface="Arial"/>
              </a:rPr>
              <a:t>💼 職務専念</a:t>
            </a:r>
            <a:endParaRPr b="1" sz="1200">
              <a:solidFill>
                <a:srgbClr val="2563EB"/>
              </a:solidFill>
              <a:latin typeface="Arial"/>
              <a:ea typeface="Arial"/>
              <a:cs typeface="Arial"/>
              <a:sym typeface="Arial"/>
            </a:endParaRPr>
          </a:p>
          <a:p>
            <a:pPr indent="0" lvl="0" marL="0" rtl="0" algn="l">
              <a:spcBef>
                <a:spcPts val="225"/>
              </a:spcBef>
              <a:spcAft>
                <a:spcPts val="0"/>
              </a:spcAft>
              <a:buNone/>
            </a:pPr>
            <a:r>
              <a:rPr lang="en-US" sz="1100">
                <a:solidFill>
                  <a:srgbClr val="475569"/>
                </a:solidFill>
                <a:latin typeface="Arial"/>
                <a:ea typeface="Arial"/>
                <a:cs typeface="Arial"/>
                <a:sym typeface="Arial"/>
              </a:rPr>
              <a:t>勤務中は仕事の制作に集中</a:t>
            </a:r>
            <a:endParaRPr sz="1100">
              <a:solidFill>
                <a:srgbClr val="475569"/>
              </a:solidFill>
              <a:latin typeface="Arial"/>
              <a:ea typeface="Arial"/>
              <a:cs typeface="Arial"/>
              <a:sym typeface="Arial"/>
            </a:endParaRPr>
          </a:p>
          <a:p>
            <a:pPr indent="0" lvl="0" marL="0" rtl="0" algn="l">
              <a:spcBef>
                <a:spcPts val="0"/>
              </a:spcBef>
              <a:spcAft>
                <a:spcPts val="0"/>
              </a:spcAft>
              <a:buNone/>
            </a:pPr>
            <a:r>
              <a:rPr b="1" lang="en-US" sz="1200">
                <a:solidFill>
                  <a:srgbClr val="DC2626"/>
                </a:solidFill>
                <a:latin typeface="Arial"/>
                <a:ea typeface="Arial"/>
                <a:cs typeface="Arial"/>
                <a:sym typeface="Arial"/>
              </a:rPr>
              <a:t>⚠️ 秘密保持</a:t>
            </a:r>
            <a:endParaRPr b="1" sz="1200">
              <a:solidFill>
                <a:srgbClr val="DC2626"/>
              </a:solidFill>
              <a:latin typeface="Arial"/>
              <a:ea typeface="Arial"/>
              <a:cs typeface="Arial"/>
              <a:sym typeface="Arial"/>
            </a:endParaRPr>
          </a:p>
          <a:p>
            <a:pPr indent="0" lvl="0" marL="0" rtl="0" algn="l">
              <a:spcBef>
                <a:spcPts val="225"/>
              </a:spcBef>
              <a:spcAft>
                <a:spcPts val="0"/>
              </a:spcAft>
              <a:buNone/>
            </a:pPr>
            <a:r>
              <a:rPr b="1" lang="en-US" sz="1050">
                <a:solidFill>
                  <a:srgbClr val="991B1B"/>
                </a:solidFill>
                <a:latin typeface="Arial"/>
                <a:ea typeface="Arial"/>
                <a:cs typeface="Arial"/>
                <a:sym typeface="Arial"/>
              </a:rPr>
              <a:t>顧客情報や未公開データをAIに入力しない！</a:t>
            </a:r>
            <a:br>
              <a:rPr b="1" lang="en-US" sz="1050">
                <a:solidFill>
                  <a:srgbClr val="991B1B"/>
                </a:solidFill>
                <a:latin typeface="Arial"/>
                <a:ea typeface="Arial"/>
                <a:cs typeface="Arial"/>
                <a:sym typeface="Arial"/>
              </a:rPr>
            </a:br>
            <a:r>
              <a:rPr b="1" lang="en-US" sz="1050">
                <a:solidFill>
                  <a:srgbClr val="991B1B"/>
                </a:solidFill>
                <a:latin typeface="Arial"/>
                <a:ea typeface="Arial"/>
                <a:cs typeface="Arial"/>
                <a:sym typeface="Arial"/>
              </a:rPr>
              <a:t>（外部流出と同じ！）</a:t>
            </a:r>
            <a:endParaRPr b="1" sz="1050">
              <a:solidFill>
                <a:srgbClr val="991B1B"/>
              </a:solidFill>
              <a:latin typeface="Arial"/>
              <a:ea typeface="Arial"/>
              <a:cs typeface="Arial"/>
              <a:sym typeface="Arial"/>
            </a:endParaRPr>
          </a:p>
        </p:txBody>
      </p:sp>
      <p:sp>
        <p:nvSpPr>
          <p:cNvPr id="313" name="Google Shape;313;p12"/>
          <p:cNvSpPr/>
          <p:nvPr/>
        </p:nvSpPr>
        <p:spPr>
          <a:xfrm>
            <a:off x="4876800" y="1143000"/>
            <a:ext cx="3695700" cy="3333900"/>
          </a:xfrm>
          <a:prstGeom prst="roundRect">
            <a:avLst>
              <a:gd fmla="val 4571" name="adj"/>
            </a:avLst>
          </a:prstGeom>
          <a:solidFill>
            <a:srgbClr val="FFFFFF"/>
          </a:solidFill>
          <a:ln cap="flat" cmpd="sng" w="14300">
            <a:solidFill>
              <a:srgbClr val="93C5F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4" name="Google Shape;314;p12"/>
          <p:cNvSpPr/>
          <p:nvPr/>
        </p:nvSpPr>
        <p:spPr>
          <a:xfrm>
            <a:off x="5067300" y="1295400"/>
            <a:ext cx="3314700" cy="381000"/>
          </a:xfrm>
          <a:prstGeom prst="rect">
            <a:avLst/>
          </a:prstGeom>
          <a:solidFill>
            <a:srgbClr val="EFF6FF"/>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500">
                <a:solidFill>
                  <a:srgbClr val="1D4ED8"/>
                </a:solidFill>
                <a:latin typeface="Arial"/>
                <a:ea typeface="Arial"/>
                <a:cs typeface="Arial"/>
                <a:sym typeface="Arial"/>
              </a:rPr>
              <a:t>🛡️ 会社の安全配慮義務</a:t>
            </a:r>
            <a:endParaRPr b="1" sz="1500">
              <a:solidFill>
                <a:srgbClr val="1D4ED8"/>
              </a:solidFill>
              <a:latin typeface="Arial"/>
              <a:ea typeface="Arial"/>
              <a:cs typeface="Arial"/>
              <a:sym typeface="Arial"/>
            </a:endParaRPr>
          </a:p>
        </p:txBody>
      </p:sp>
      <p:sp>
        <p:nvSpPr>
          <p:cNvPr id="315" name="Google Shape;315;p12"/>
          <p:cNvSpPr/>
          <p:nvPr/>
        </p:nvSpPr>
        <p:spPr>
          <a:xfrm>
            <a:off x="5067300" y="1809750"/>
            <a:ext cx="3314700" cy="2476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1100">
                <a:solidFill>
                  <a:srgbClr val="0284C7"/>
                </a:solidFill>
                <a:latin typeface="Arial"/>
                <a:ea typeface="Arial"/>
                <a:cs typeface="Arial"/>
                <a:sym typeface="Arial"/>
              </a:rPr>
              <a:t>👀 身体への配慮</a:t>
            </a:r>
            <a:endParaRPr b="1" sz="1100">
              <a:solidFill>
                <a:srgbClr val="0284C7"/>
              </a:solidFill>
              <a:latin typeface="Arial"/>
              <a:ea typeface="Arial"/>
              <a:cs typeface="Arial"/>
              <a:sym typeface="Arial"/>
            </a:endParaRPr>
          </a:p>
          <a:p>
            <a:pPr indent="0" lvl="0" marL="0" rtl="0" algn="l">
              <a:spcBef>
                <a:spcPts val="150"/>
              </a:spcBef>
              <a:spcAft>
                <a:spcPts val="0"/>
              </a:spcAft>
              <a:buNone/>
            </a:pPr>
            <a:r>
              <a:rPr lang="en-US" sz="1050">
                <a:solidFill>
                  <a:srgbClr val="475569"/>
                </a:solidFill>
                <a:latin typeface="Arial"/>
                <a:ea typeface="Arial"/>
                <a:cs typeface="Arial"/>
                <a:sym typeface="Arial"/>
              </a:rPr>
              <a:t>画面作業による目の疲れへの配慮</a:t>
            </a:r>
            <a:endParaRPr sz="1050">
              <a:solidFill>
                <a:srgbClr val="475569"/>
              </a:solidFill>
              <a:latin typeface="Arial"/>
              <a:ea typeface="Arial"/>
              <a:cs typeface="Arial"/>
              <a:sym typeface="Arial"/>
            </a:endParaRPr>
          </a:p>
          <a:p>
            <a:pPr indent="0" lvl="0" marL="0" rtl="0" algn="l">
              <a:spcBef>
                <a:spcPts val="0"/>
              </a:spcBef>
              <a:spcAft>
                <a:spcPts val="0"/>
              </a:spcAft>
              <a:buNone/>
            </a:pPr>
            <a:r>
              <a:rPr b="1" lang="en-US" sz="1100">
                <a:solidFill>
                  <a:srgbClr val="0284C7"/>
                </a:solidFill>
                <a:latin typeface="Arial"/>
                <a:ea typeface="Arial"/>
                <a:cs typeface="Arial"/>
                <a:sym typeface="Arial"/>
              </a:rPr>
              <a:t>💔 メンタルケア</a:t>
            </a:r>
            <a:endParaRPr b="1" sz="1100">
              <a:solidFill>
                <a:srgbClr val="0284C7"/>
              </a:solidFill>
              <a:latin typeface="Arial"/>
              <a:ea typeface="Arial"/>
              <a:cs typeface="Arial"/>
              <a:sym typeface="Arial"/>
            </a:endParaRPr>
          </a:p>
          <a:p>
            <a:pPr indent="0" lvl="0" marL="0" rtl="0" algn="l">
              <a:spcBef>
                <a:spcPts val="150"/>
              </a:spcBef>
              <a:spcAft>
                <a:spcPts val="0"/>
              </a:spcAft>
              <a:buNone/>
            </a:pPr>
            <a:r>
              <a:rPr lang="en-US" sz="1050">
                <a:solidFill>
                  <a:srgbClr val="475569"/>
                </a:solidFill>
                <a:latin typeface="Arial"/>
                <a:ea typeface="Arial"/>
                <a:cs typeface="Arial"/>
                <a:sym typeface="Arial"/>
              </a:rPr>
              <a:t>不快な画像が出たときの心のケア</a:t>
            </a:r>
            <a:endParaRPr sz="1050">
              <a:solidFill>
                <a:srgbClr val="475569"/>
              </a:solidFill>
              <a:latin typeface="Arial"/>
              <a:ea typeface="Arial"/>
              <a:cs typeface="Arial"/>
              <a:sym typeface="Arial"/>
            </a:endParaRPr>
          </a:p>
          <a:p>
            <a:pPr indent="0" lvl="0" marL="0" rtl="0" algn="l">
              <a:spcBef>
                <a:spcPts val="0"/>
              </a:spcBef>
              <a:spcAft>
                <a:spcPts val="0"/>
              </a:spcAft>
              <a:buNone/>
            </a:pPr>
            <a:r>
              <a:rPr b="1" lang="en-US" sz="1100">
                <a:solidFill>
                  <a:srgbClr val="0284C7"/>
                </a:solidFill>
                <a:latin typeface="Arial"/>
                <a:ea typeface="Arial"/>
                <a:cs typeface="Arial"/>
                <a:sym typeface="Arial"/>
              </a:rPr>
              <a:t>📖 スキル支援</a:t>
            </a:r>
            <a:endParaRPr b="1" sz="1100">
              <a:solidFill>
                <a:srgbClr val="0284C7"/>
              </a:solidFill>
              <a:latin typeface="Arial"/>
              <a:ea typeface="Arial"/>
              <a:cs typeface="Arial"/>
              <a:sym typeface="Arial"/>
            </a:endParaRPr>
          </a:p>
          <a:p>
            <a:pPr indent="0" lvl="0" marL="0" rtl="0" algn="l">
              <a:spcBef>
                <a:spcPts val="150"/>
              </a:spcBef>
              <a:spcAft>
                <a:spcPts val="0"/>
              </a:spcAft>
              <a:buNone/>
            </a:pPr>
            <a:r>
              <a:rPr lang="en-US" sz="1050">
                <a:solidFill>
                  <a:srgbClr val="475569"/>
                </a:solidFill>
                <a:latin typeface="Arial"/>
                <a:ea typeface="Arial"/>
                <a:cs typeface="Arial"/>
                <a:sym typeface="Arial"/>
              </a:rPr>
              <a:t>新しいツールの丁寧な研修</a:t>
            </a:r>
            <a:endParaRPr sz="1050">
              <a:solidFill>
                <a:srgbClr val="475569"/>
              </a:solidFill>
              <a:latin typeface="Arial"/>
              <a:ea typeface="Arial"/>
              <a:cs typeface="Arial"/>
              <a:sym typeface="Arial"/>
            </a:endParaRPr>
          </a:p>
          <a:p>
            <a:pPr indent="0" lvl="0" marL="0" rtl="0" algn="ctr">
              <a:spcBef>
                <a:spcPts val="0"/>
              </a:spcBef>
              <a:spcAft>
                <a:spcPts val="0"/>
              </a:spcAft>
              <a:buNone/>
            </a:pPr>
            <a:r>
              <a:rPr b="1" lang="en-US" sz="1100">
                <a:solidFill>
                  <a:srgbClr val="B45309"/>
                </a:solidFill>
                <a:latin typeface="Arial"/>
                <a:ea typeface="Arial"/>
                <a:cs typeface="Arial"/>
                <a:sym typeface="Arial"/>
              </a:rPr>
              <a:t>★「しんどい時は遠慮なく会社に伝えてOK！」</a:t>
            </a:r>
            <a:endParaRPr b="1" sz="1100">
              <a:solidFill>
                <a:srgbClr val="B45309"/>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0" name="Shape 320"/>
        <p:cNvGrpSpPr/>
        <p:nvPr/>
      </p:nvGrpSpPr>
      <p:grpSpPr>
        <a:xfrm>
          <a:off x="0" y="0"/>
          <a:ext cx="0" cy="0"/>
          <a:chOff x="0" y="0"/>
          <a:chExt cx="0" cy="0"/>
        </a:xfrm>
      </p:grpSpPr>
      <p:sp>
        <p:nvSpPr>
          <p:cNvPr id="321" name="Google Shape;321;p13"/>
          <p:cNvSpPr/>
          <p:nvPr/>
        </p:nvSpPr>
        <p:spPr>
          <a:xfrm>
            <a:off x="731520" y="4709160"/>
            <a:ext cx="5486400" cy="320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18096"/>
              </a:buClr>
              <a:buSzPts val="1200"/>
              <a:buFont typeface="Meiryo"/>
              <a:buNone/>
            </a:pPr>
            <a:r>
              <a:rPr b="0" i="0" lang="en-US" sz="1200" u="none" cap="none" strike="noStrike">
                <a:solidFill>
                  <a:srgbClr val="718096"/>
                </a:solidFill>
                <a:latin typeface="Meiryo"/>
                <a:ea typeface="Meiryo"/>
                <a:cs typeface="Meiryo"/>
                <a:sym typeface="Meiryo"/>
              </a:rPr>
              <a:t>第2部 労働契約</a:t>
            </a:r>
            <a:endParaRPr b="0" i="0" sz="1200" u="none" cap="none" strike="noStrike">
              <a:solidFill>
                <a:schemeClr val="dk1"/>
              </a:solidFill>
              <a:latin typeface="Calibri"/>
              <a:ea typeface="Calibri"/>
              <a:cs typeface="Calibri"/>
              <a:sym typeface="Calibri"/>
            </a:endParaRPr>
          </a:p>
        </p:txBody>
      </p:sp>
      <p:sp>
        <p:nvSpPr>
          <p:cNvPr id="322" name="Google Shape;322;p13"/>
          <p:cNvSpPr/>
          <p:nvPr/>
        </p:nvSpPr>
        <p:spPr>
          <a:xfrm>
            <a:off x="7315200" y="4709160"/>
            <a:ext cx="1097400" cy="3201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718096"/>
              </a:buClr>
              <a:buSzPts val="1200"/>
              <a:buFont typeface="Meiryo"/>
              <a:buNone/>
            </a:pPr>
            <a:r>
              <a:rPr b="0" i="0" lang="en-US" sz="1200" u="none" cap="none" strike="noStrike">
                <a:solidFill>
                  <a:srgbClr val="718096"/>
                </a:solidFill>
                <a:latin typeface="Meiryo"/>
                <a:ea typeface="Meiryo"/>
                <a:cs typeface="Meiryo"/>
                <a:sym typeface="Meiryo"/>
              </a:rPr>
              <a:t>13 / 30</a:t>
            </a:r>
            <a:endParaRPr b="0" i="0" sz="1200" u="none" cap="none" strike="noStrike">
              <a:solidFill>
                <a:schemeClr val="dk1"/>
              </a:solidFill>
              <a:latin typeface="Calibri"/>
              <a:ea typeface="Calibri"/>
              <a:cs typeface="Calibri"/>
              <a:sym typeface="Calibri"/>
            </a:endParaRPr>
          </a:p>
        </p:txBody>
      </p:sp>
      <p:sp>
        <p:nvSpPr>
          <p:cNvPr id="323" name="Google Shape;323;p13"/>
          <p:cNvSpPr/>
          <p:nvPr/>
        </p:nvSpPr>
        <p:spPr>
          <a:xfrm>
            <a:off x="731520" y="1047750"/>
            <a:ext cx="3695700" cy="2000100"/>
          </a:xfrm>
          <a:prstGeom prst="roundRect">
            <a:avLst>
              <a:gd fmla="val 7619" name="adj"/>
            </a:avLst>
          </a:prstGeom>
          <a:solidFill>
            <a:srgbClr val="F8FAFC"/>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4" name="Google Shape;324;p13"/>
          <p:cNvSpPr/>
          <p:nvPr/>
        </p:nvSpPr>
        <p:spPr>
          <a:xfrm>
            <a:off x="4716780" y="1047750"/>
            <a:ext cx="3695700" cy="2000100"/>
          </a:xfrm>
          <a:prstGeom prst="roundRect">
            <a:avLst>
              <a:gd fmla="val 7619" name="adj"/>
            </a:avLst>
          </a:prstGeom>
          <a:solidFill>
            <a:srgbClr val="FFF7ED"/>
          </a:solidFill>
          <a:ln cap="flat" cmpd="sng" w="19050">
            <a:solidFill>
              <a:srgbClr val="EA580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5" name="Google Shape;325;p13"/>
          <p:cNvSpPr/>
          <p:nvPr/>
        </p:nvSpPr>
        <p:spPr>
          <a:xfrm>
            <a:off x="731520" y="3238500"/>
            <a:ext cx="7680900" cy="1238400"/>
          </a:xfrm>
          <a:prstGeom prst="roundRect">
            <a:avLst>
              <a:gd fmla="val 12307" name="adj"/>
            </a:avLst>
          </a:prstGeom>
          <a:solidFill>
            <a:srgbClr val="EFF6FF"/>
          </a:solidFill>
          <a:ln cap="flat" cmpd="sng" w="19050">
            <a:solidFill>
              <a:srgbClr val="2563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6" name="Google Shape;326;p13"/>
          <p:cNvSpPr/>
          <p:nvPr/>
        </p:nvSpPr>
        <p:spPr>
          <a:xfrm>
            <a:off x="731520" y="381000"/>
            <a:ext cx="7680900" cy="476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2400">
                <a:solidFill>
                  <a:srgbClr val="1E293B"/>
                </a:solidFill>
                <a:latin typeface="Arial"/>
                <a:ea typeface="Arial"/>
                <a:cs typeface="Arial"/>
                <a:sym typeface="Arial"/>
              </a:rPr>
              <a:t>B型事業所の位置づけ ― 今の皆さんの安心な環境</a:t>
            </a:r>
            <a:endParaRPr b="1" sz="2400">
              <a:solidFill>
                <a:srgbClr val="1E293B"/>
              </a:solidFill>
              <a:latin typeface="Arial"/>
              <a:ea typeface="Arial"/>
              <a:cs typeface="Arial"/>
              <a:sym typeface="Arial"/>
            </a:endParaRPr>
          </a:p>
        </p:txBody>
      </p:sp>
      <p:sp>
        <p:nvSpPr>
          <p:cNvPr id="327" name="Google Shape;327;p13"/>
          <p:cNvSpPr/>
          <p:nvPr/>
        </p:nvSpPr>
        <p:spPr>
          <a:xfrm>
            <a:off x="914400" y="1162050"/>
            <a:ext cx="3330000" cy="342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800">
                <a:solidFill>
                  <a:srgbClr val="334155"/>
                </a:solidFill>
                <a:latin typeface="Arial"/>
                <a:ea typeface="Arial"/>
                <a:cs typeface="Arial"/>
                <a:sym typeface="Arial"/>
              </a:rPr>
              <a:t>🏢 A型事業所（雇用契約）</a:t>
            </a:r>
            <a:endParaRPr b="1" sz="1800">
              <a:solidFill>
                <a:srgbClr val="334155"/>
              </a:solidFill>
              <a:latin typeface="Arial"/>
              <a:ea typeface="Arial"/>
              <a:cs typeface="Arial"/>
              <a:sym typeface="Arial"/>
            </a:endParaRPr>
          </a:p>
        </p:txBody>
      </p:sp>
      <p:sp>
        <p:nvSpPr>
          <p:cNvPr id="328" name="Google Shape;328;p13"/>
          <p:cNvSpPr/>
          <p:nvPr/>
        </p:nvSpPr>
        <p:spPr>
          <a:xfrm>
            <a:off x="952500" y="1600200"/>
            <a:ext cx="3253800" cy="1285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US" sz="1400">
                <a:solidFill>
                  <a:srgbClr val="475569"/>
                </a:solidFill>
                <a:latin typeface="Arial"/>
                <a:ea typeface="Arial"/>
                <a:cs typeface="Arial"/>
                <a:sym typeface="Arial"/>
              </a:rPr>
              <a:t>・労働者として雇用契約を結ぶ</a:t>
            </a:r>
            <a:endParaRPr b="0" sz="1400">
              <a:solidFill>
                <a:srgbClr val="475569"/>
              </a:solidFill>
              <a:latin typeface="Arial"/>
              <a:ea typeface="Arial"/>
              <a:cs typeface="Arial"/>
              <a:sym typeface="Arial"/>
            </a:endParaRPr>
          </a:p>
          <a:p>
            <a:pPr indent="0" lvl="0" marL="0" rtl="0" algn="l">
              <a:spcBef>
                <a:spcPts val="0"/>
              </a:spcBef>
              <a:spcAft>
                <a:spcPts val="0"/>
              </a:spcAft>
              <a:buNone/>
            </a:pPr>
            <a:r>
              <a:rPr b="0" lang="en-US" sz="1400">
                <a:solidFill>
                  <a:srgbClr val="475569"/>
                </a:solidFill>
                <a:latin typeface="Arial"/>
                <a:ea typeface="Arial"/>
                <a:cs typeface="Arial"/>
                <a:sym typeface="Arial"/>
              </a:rPr>
              <a:t>・受け取るのは「賃金（給料）」</a:t>
            </a:r>
            <a:endParaRPr b="0" sz="1400">
              <a:solidFill>
                <a:srgbClr val="475569"/>
              </a:solidFill>
              <a:latin typeface="Arial"/>
              <a:ea typeface="Arial"/>
              <a:cs typeface="Arial"/>
              <a:sym typeface="Arial"/>
            </a:endParaRPr>
          </a:p>
          <a:p>
            <a:pPr indent="0" lvl="0" marL="0" rtl="0" algn="l">
              <a:spcBef>
                <a:spcPts val="0"/>
              </a:spcBef>
              <a:spcAft>
                <a:spcPts val="0"/>
              </a:spcAft>
              <a:buNone/>
            </a:pPr>
            <a:r>
              <a:rPr b="0" lang="en-US" sz="1400">
                <a:solidFill>
                  <a:srgbClr val="475569"/>
                </a:solidFill>
                <a:latin typeface="Arial"/>
                <a:ea typeface="Arial"/>
                <a:cs typeface="Arial"/>
                <a:sym typeface="Arial"/>
              </a:rPr>
              <a:t>・労働基準法・最低賃金法が適用</a:t>
            </a:r>
            <a:endParaRPr b="0" sz="1400">
              <a:solidFill>
                <a:srgbClr val="475569"/>
              </a:solidFill>
              <a:latin typeface="Arial"/>
              <a:ea typeface="Arial"/>
              <a:cs typeface="Arial"/>
              <a:sym typeface="Arial"/>
            </a:endParaRPr>
          </a:p>
        </p:txBody>
      </p:sp>
      <p:sp>
        <p:nvSpPr>
          <p:cNvPr id="329" name="Google Shape;329;p13"/>
          <p:cNvSpPr/>
          <p:nvPr/>
        </p:nvSpPr>
        <p:spPr>
          <a:xfrm>
            <a:off x="4899660" y="1162050"/>
            <a:ext cx="3330000" cy="342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800">
                <a:solidFill>
                  <a:srgbClr val="C2410C"/>
                </a:solidFill>
                <a:latin typeface="Arial"/>
                <a:ea typeface="Arial"/>
                <a:cs typeface="Arial"/>
                <a:sym typeface="Arial"/>
              </a:rPr>
              <a:t>🏡 B型事業所（利用契約）</a:t>
            </a:r>
            <a:endParaRPr b="1" sz="1800">
              <a:solidFill>
                <a:srgbClr val="C2410C"/>
              </a:solidFill>
              <a:latin typeface="Arial"/>
              <a:ea typeface="Arial"/>
              <a:cs typeface="Arial"/>
              <a:sym typeface="Arial"/>
            </a:endParaRPr>
          </a:p>
        </p:txBody>
      </p:sp>
      <p:sp>
        <p:nvSpPr>
          <p:cNvPr id="330" name="Google Shape;330;p13"/>
          <p:cNvSpPr/>
          <p:nvPr/>
        </p:nvSpPr>
        <p:spPr>
          <a:xfrm>
            <a:off x="4937760" y="1600200"/>
            <a:ext cx="3253800" cy="1285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US" sz="1400">
                <a:solidFill>
                  <a:srgbClr val="431407"/>
                </a:solidFill>
                <a:latin typeface="Arial"/>
                <a:ea typeface="Arial"/>
                <a:cs typeface="Arial"/>
                <a:sym typeface="Arial"/>
              </a:rPr>
              <a:t>・福祉サービスとしての利用契約</a:t>
            </a:r>
            <a:endParaRPr b="0" sz="1400">
              <a:solidFill>
                <a:srgbClr val="431407"/>
              </a:solidFill>
              <a:latin typeface="Arial"/>
              <a:ea typeface="Arial"/>
              <a:cs typeface="Arial"/>
              <a:sym typeface="Arial"/>
            </a:endParaRPr>
          </a:p>
          <a:p>
            <a:pPr indent="0" lvl="0" marL="0" rtl="0" algn="l">
              <a:spcBef>
                <a:spcPts val="0"/>
              </a:spcBef>
              <a:spcAft>
                <a:spcPts val="0"/>
              </a:spcAft>
              <a:buNone/>
            </a:pPr>
            <a:r>
              <a:rPr b="0" lang="en-US" sz="1400">
                <a:solidFill>
                  <a:srgbClr val="431407"/>
                </a:solidFill>
                <a:latin typeface="Arial"/>
                <a:ea typeface="Arial"/>
                <a:cs typeface="Arial"/>
                <a:sym typeface="Arial"/>
              </a:rPr>
              <a:t>・受け取るのは「工賃」</a:t>
            </a:r>
            <a:endParaRPr b="0" sz="1400">
              <a:solidFill>
                <a:srgbClr val="431407"/>
              </a:solidFill>
              <a:latin typeface="Arial"/>
              <a:ea typeface="Arial"/>
              <a:cs typeface="Arial"/>
              <a:sym typeface="Arial"/>
            </a:endParaRPr>
          </a:p>
          <a:p>
            <a:pPr indent="0" lvl="0" marL="0" rtl="0" algn="l">
              <a:spcBef>
                <a:spcPts val="0"/>
              </a:spcBef>
              <a:spcAft>
                <a:spcPts val="0"/>
              </a:spcAft>
              <a:buNone/>
            </a:pPr>
            <a:r>
              <a:rPr b="0" lang="en-US" sz="1400">
                <a:solidFill>
                  <a:srgbClr val="431407"/>
                </a:solidFill>
                <a:latin typeface="Arial"/>
                <a:ea typeface="Arial"/>
                <a:cs typeface="Arial"/>
                <a:sym typeface="Arial"/>
              </a:rPr>
              <a:t>・体調やペースに合わせて通所できる</a:t>
            </a:r>
            <a:endParaRPr b="0" sz="1400">
              <a:solidFill>
                <a:srgbClr val="431407"/>
              </a:solidFill>
              <a:latin typeface="Arial"/>
              <a:ea typeface="Arial"/>
              <a:cs typeface="Arial"/>
              <a:sym typeface="Arial"/>
            </a:endParaRPr>
          </a:p>
        </p:txBody>
      </p:sp>
      <p:sp>
        <p:nvSpPr>
          <p:cNvPr id="331" name="Google Shape;331;p13"/>
          <p:cNvSpPr/>
          <p:nvPr/>
        </p:nvSpPr>
        <p:spPr>
          <a:xfrm>
            <a:off x="914400" y="3333750"/>
            <a:ext cx="7315200" cy="1047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400">
                <a:solidFill>
                  <a:srgbClr val="1E40AF"/>
                </a:solidFill>
                <a:latin typeface="Arial"/>
                <a:ea typeface="Arial"/>
                <a:cs typeface="Arial"/>
                <a:sym typeface="Arial"/>
              </a:rPr>
              <a:t>🛡️ 実質的な安全配慮義務：事業所は利用者の安全と健康を守り支援する義務を負っています。</a:t>
            </a:r>
            <a:endParaRPr b="1" sz="1400">
              <a:solidFill>
                <a:srgbClr val="1E40AF"/>
              </a:solidFill>
              <a:latin typeface="Arial"/>
              <a:ea typeface="Arial"/>
              <a:cs typeface="Arial"/>
              <a:sym typeface="Arial"/>
            </a:endParaRPr>
          </a:p>
          <a:p>
            <a:pPr indent="0" lvl="0" marL="0" rtl="0" algn="ctr">
              <a:spcBef>
                <a:spcPts val="600"/>
              </a:spcBef>
              <a:spcAft>
                <a:spcPts val="0"/>
              </a:spcAft>
              <a:buNone/>
            </a:pPr>
            <a:r>
              <a:rPr b="1" lang="en-US" sz="1500">
                <a:solidFill>
                  <a:srgbClr val="1D4ED8"/>
                </a:solidFill>
                <a:latin typeface="Arial"/>
                <a:ea typeface="Arial"/>
                <a:cs typeface="Arial"/>
                <a:sym typeface="Arial"/>
              </a:rPr>
              <a:t>「保護されながら安心してスキルを伸ばせる、未来への大切なステップの場」！</a:t>
            </a:r>
            <a:endParaRPr b="1" sz="1500">
              <a:solidFill>
                <a:srgbClr val="1D4ED8"/>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6" name="Shape 336"/>
        <p:cNvGrpSpPr/>
        <p:nvPr/>
      </p:nvGrpSpPr>
      <p:grpSpPr>
        <a:xfrm>
          <a:off x="0" y="0"/>
          <a:ext cx="0" cy="0"/>
          <a:chOff x="0" y="0"/>
          <a:chExt cx="0" cy="0"/>
        </a:xfrm>
      </p:grpSpPr>
      <p:sp>
        <p:nvSpPr>
          <p:cNvPr id="337" name="Google Shape;337;p14"/>
          <p:cNvSpPr/>
          <p:nvPr/>
        </p:nvSpPr>
        <p:spPr>
          <a:xfrm>
            <a:off x="731520" y="4709160"/>
            <a:ext cx="54864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18096"/>
              </a:buClr>
              <a:buSzPts val="1200"/>
              <a:buFont typeface="Meiryo"/>
              <a:buNone/>
            </a:pPr>
            <a:r>
              <a:rPr b="0" i="0" lang="en-US" sz="1200" u="none" cap="none" strike="noStrike">
                <a:solidFill>
                  <a:srgbClr val="718096"/>
                </a:solidFill>
                <a:latin typeface="Meiryo"/>
                <a:ea typeface="Meiryo"/>
                <a:cs typeface="Meiryo"/>
                <a:sym typeface="Meiryo"/>
              </a:rPr>
              <a:t>第2部 労働契約</a:t>
            </a:r>
            <a:endParaRPr b="0" i="0" sz="1200" u="none" cap="none" strike="noStrike">
              <a:solidFill>
                <a:schemeClr val="dk1"/>
              </a:solidFill>
              <a:latin typeface="Calibri"/>
              <a:ea typeface="Calibri"/>
              <a:cs typeface="Calibri"/>
              <a:sym typeface="Calibri"/>
            </a:endParaRPr>
          </a:p>
        </p:txBody>
      </p:sp>
      <p:sp>
        <p:nvSpPr>
          <p:cNvPr id="338" name="Google Shape;338;p14"/>
          <p:cNvSpPr/>
          <p:nvPr/>
        </p:nvSpPr>
        <p:spPr>
          <a:xfrm>
            <a:off x="7315200" y="4709160"/>
            <a:ext cx="1097280" cy="32004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718096"/>
              </a:buClr>
              <a:buSzPts val="1200"/>
              <a:buFont typeface="Meiryo"/>
              <a:buNone/>
            </a:pPr>
            <a:r>
              <a:rPr b="0" i="0" lang="en-US" sz="1200" u="none" cap="none" strike="noStrike">
                <a:solidFill>
                  <a:srgbClr val="718096"/>
                </a:solidFill>
                <a:latin typeface="Meiryo"/>
                <a:ea typeface="Meiryo"/>
                <a:cs typeface="Meiryo"/>
                <a:sym typeface="Meiryo"/>
              </a:rPr>
              <a:t>14 / 30</a:t>
            </a:r>
            <a:endParaRPr b="0" i="0" sz="1200" u="none" cap="none" strike="noStrike">
              <a:solidFill>
                <a:schemeClr val="dk1"/>
              </a:solidFill>
              <a:latin typeface="Calibri"/>
              <a:ea typeface="Calibri"/>
              <a:cs typeface="Calibri"/>
              <a:sym typeface="Calibri"/>
            </a:endParaRPr>
          </a:p>
        </p:txBody>
      </p:sp>
      <p:sp>
        <p:nvSpPr>
          <p:cNvPr id="339" name="Google Shape;339;p14"/>
          <p:cNvSpPr/>
          <p:nvPr/>
        </p:nvSpPr>
        <p:spPr>
          <a:xfrm>
            <a:off x="731520" y="365760"/>
            <a:ext cx="768096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02C"/>
              </a:buClr>
              <a:buSzPts val="2400"/>
              <a:buFont typeface="Meiryo"/>
              <a:buNone/>
            </a:pPr>
            <a:r>
              <a:rPr b="1" i="0" lang="en-US" sz="2400" u="none" cap="none" strike="noStrike">
                <a:solidFill>
                  <a:srgbClr val="1A202C"/>
                </a:solidFill>
                <a:latin typeface="Meiryo"/>
                <a:ea typeface="Meiryo"/>
                <a:cs typeface="Meiryo"/>
                <a:sym typeface="Meiryo"/>
              </a:rPr>
              <a:t>【図4】B型事業所の利用契約の構造マップ</a:t>
            </a:r>
            <a:endParaRPr b="0" i="0" sz="2400" u="none" cap="none" strike="noStrike">
              <a:solidFill>
                <a:schemeClr val="dk1"/>
              </a:solidFill>
              <a:latin typeface="Calibri"/>
              <a:ea typeface="Calibri"/>
              <a:cs typeface="Calibri"/>
              <a:sym typeface="Calibri"/>
            </a:endParaRPr>
          </a:p>
        </p:txBody>
      </p:sp>
      <p:pic>
        <p:nvPicPr>
          <p:cNvPr descr="c:\Users\sugiy\.antigravity\練習用\fig4_riyou.png" id="340" name="Google Shape;340;p14"/>
          <p:cNvPicPr preferRelativeResize="0"/>
          <p:nvPr/>
        </p:nvPicPr>
        <p:blipFill rotWithShape="1">
          <a:blip r:embed="rId3">
            <a:alphaModFix/>
          </a:blip>
          <a:srcRect b="0" l="0" r="0" t="0"/>
          <a:stretch/>
        </p:blipFill>
        <p:spPr>
          <a:xfrm>
            <a:off x="731520" y="914400"/>
            <a:ext cx="7680960" cy="374904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5" name="Shape 345"/>
        <p:cNvGrpSpPr/>
        <p:nvPr/>
      </p:nvGrpSpPr>
      <p:grpSpPr>
        <a:xfrm>
          <a:off x="0" y="0"/>
          <a:ext cx="0" cy="0"/>
          <a:chOff x="0" y="0"/>
          <a:chExt cx="0" cy="0"/>
        </a:xfrm>
      </p:grpSpPr>
      <p:sp>
        <p:nvSpPr>
          <p:cNvPr id="346" name="Google Shape;346;p15"/>
          <p:cNvSpPr/>
          <p:nvPr/>
        </p:nvSpPr>
        <p:spPr>
          <a:xfrm>
            <a:off x="731520" y="4709160"/>
            <a:ext cx="54864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18096"/>
              </a:buClr>
              <a:buSzPts val="1200"/>
              <a:buFont typeface="Meiryo"/>
              <a:buNone/>
            </a:pPr>
            <a:r>
              <a:rPr b="0" i="0" lang="en-US" sz="1200" u="none" cap="none" strike="noStrike">
                <a:solidFill>
                  <a:srgbClr val="718096"/>
                </a:solidFill>
                <a:latin typeface="Meiryo"/>
                <a:ea typeface="Meiryo"/>
                <a:cs typeface="Meiryo"/>
                <a:sym typeface="Meiryo"/>
              </a:rPr>
              <a:t>第2部 労働契約</a:t>
            </a:r>
            <a:endParaRPr b="0" i="0" sz="1200" u="none" cap="none" strike="noStrike">
              <a:solidFill>
                <a:schemeClr val="dk1"/>
              </a:solidFill>
              <a:latin typeface="Calibri"/>
              <a:ea typeface="Calibri"/>
              <a:cs typeface="Calibri"/>
              <a:sym typeface="Calibri"/>
            </a:endParaRPr>
          </a:p>
        </p:txBody>
      </p:sp>
      <p:sp>
        <p:nvSpPr>
          <p:cNvPr id="347" name="Google Shape;347;p15"/>
          <p:cNvSpPr/>
          <p:nvPr/>
        </p:nvSpPr>
        <p:spPr>
          <a:xfrm>
            <a:off x="7315200" y="4709160"/>
            <a:ext cx="1097280" cy="32004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718096"/>
              </a:buClr>
              <a:buSzPts val="1200"/>
              <a:buFont typeface="Meiryo"/>
              <a:buNone/>
            </a:pPr>
            <a:r>
              <a:rPr b="0" i="0" lang="en-US" sz="1200" u="none" cap="none" strike="noStrike">
                <a:solidFill>
                  <a:srgbClr val="718096"/>
                </a:solidFill>
                <a:latin typeface="Meiryo"/>
                <a:ea typeface="Meiryo"/>
                <a:cs typeface="Meiryo"/>
                <a:sym typeface="Meiryo"/>
              </a:rPr>
              <a:t>15 / 30</a:t>
            </a:r>
            <a:endParaRPr b="0" i="0" sz="1200" u="none" cap="none" strike="noStrike">
              <a:solidFill>
                <a:schemeClr val="dk1"/>
              </a:solidFill>
              <a:latin typeface="Calibri"/>
              <a:ea typeface="Calibri"/>
              <a:cs typeface="Calibri"/>
              <a:sym typeface="Calibri"/>
            </a:endParaRPr>
          </a:p>
        </p:txBody>
      </p:sp>
      <p:sp>
        <p:nvSpPr>
          <p:cNvPr id="348" name="Google Shape;348;p15"/>
          <p:cNvSpPr/>
          <p:nvPr/>
        </p:nvSpPr>
        <p:spPr>
          <a:xfrm>
            <a:off x="731520" y="365760"/>
            <a:ext cx="768096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02C"/>
              </a:buClr>
              <a:buSzPts val="2400"/>
              <a:buFont typeface="Meiryo"/>
              <a:buNone/>
            </a:pPr>
            <a:r>
              <a:rPr b="1" i="0" lang="en-US" sz="2400" u="none" cap="none" strike="noStrike">
                <a:solidFill>
                  <a:srgbClr val="1A202C"/>
                </a:solidFill>
                <a:latin typeface="Meiryo"/>
                <a:ea typeface="Meiryo"/>
                <a:cs typeface="Meiryo"/>
                <a:sym typeface="Meiryo"/>
              </a:rPr>
              <a:t>【図5】労働契約と利用契約の比較表</a:t>
            </a:r>
            <a:endParaRPr b="0" i="0" sz="2400" u="none" cap="none" strike="noStrike">
              <a:solidFill>
                <a:schemeClr val="dk1"/>
              </a:solidFill>
              <a:latin typeface="Calibri"/>
              <a:ea typeface="Calibri"/>
              <a:cs typeface="Calibri"/>
              <a:sym typeface="Calibri"/>
            </a:endParaRPr>
          </a:p>
        </p:txBody>
      </p:sp>
      <p:pic>
        <p:nvPicPr>
          <p:cNvPr descr="c:\Users\sugiy\.antigravity\練習用\fig5_hikakuhyou.png" id="349" name="Google Shape;349;p15"/>
          <p:cNvPicPr preferRelativeResize="0"/>
          <p:nvPr/>
        </p:nvPicPr>
        <p:blipFill rotWithShape="1">
          <a:blip r:embed="rId3">
            <a:alphaModFix/>
          </a:blip>
          <a:srcRect b="0" l="0" r="0" t="0"/>
          <a:stretch/>
        </p:blipFill>
        <p:spPr>
          <a:xfrm>
            <a:off x="731520" y="914400"/>
            <a:ext cx="7680960" cy="374904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4" name="Shape 354"/>
        <p:cNvGrpSpPr/>
        <p:nvPr/>
      </p:nvGrpSpPr>
      <p:grpSpPr>
        <a:xfrm>
          <a:off x="0" y="0"/>
          <a:ext cx="0" cy="0"/>
          <a:chOff x="0" y="0"/>
          <a:chExt cx="0" cy="0"/>
        </a:xfrm>
      </p:grpSpPr>
      <p:sp>
        <p:nvSpPr>
          <p:cNvPr id="355" name="Google Shape;355;p16"/>
          <p:cNvSpPr/>
          <p:nvPr/>
        </p:nvSpPr>
        <p:spPr>
          <a:xfrm>
            <a:off x="731520" y="4709160"/>
            <a:ext cx="5486400" cy="320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18096"/>
              </a:buClr>
              <a:buSzPts val="1200"/>
              <a:buFont typeface="Meiryo"/>
              <a:buNone/>
            </a:pPr>
            <a:r>
              <a:rPr b="0" i="0" lang="en-US" sz="1200" u="none" cap="none" strike="noStrike">
                <a:solidFill>
                  <a:srgbClr val="718096"/>
                </a:solidFill>
                <a:latin typeface="Meiryo"/>
                <a:ea typeface="Meiryo"/>
                <a:cs typeface="Meiryo"/>
                <a:sym typeface="Meiryo"/>
              </a:rPr>
              <a:t>第3部 委託契約 ― 作品を納めるときの契約</a:t>
            </a:r>
            <a:endParaRPr b="0" i="0" sz="1200" u="none" cap="none" strike="noStrike">
              <a:solidFill>
                <a:schemeClr val="dk1"/>
              </a:solidFill>
              <a:latin typeface="Calibri"/>
              <a:ea typeface="Calibri"/>
              <a:cs typeface="Calibri"/>
              <a:sym typeface="Calibri"/>
            </a:endParaRPr>
          </a:p>
        </p:txBody>
      </p:sp>
      <p:sp>
        <p:nvSpPr>
          <p:cNvPr id="356" name="Google Shape;356;p16"/>
          <p:cNvSpPr/>
          <p:nvPr/>
        </p:nvSpPr>
        <p:spPr>
          <a:xfrm>
            <a:off x="7315200" y="4709160"/>
            <a:ext cx="1097400" cy="3201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718096"/>
              </a:buClr>
              <a:buSzPts val="1200"/>
              <a:buFont typeface="Meiryo"/>
              <a:buNone/>
            </a:pPr>
            <a:r>
              <a:rPr b="0" i="0" lang="en-US" sz="1200" u="none" cap="none" strike="noStrike">
                <a:solidFill>
                  <a:srgbClr val="718096"/>
                </a:solidFill>
                <a:latin typeface="Meiryo"/>
                <a:ea typeface="Meiryo"/>
                <a:cs typeface="Meiryo"/>
                <a:sym typeface="Meiryo"/>
              </a:rPr>
              <a:t>16 / 30</a:t>
            </a:r>
            <a:endParaRPr b="0" i="0" sz="1200" u="none" cap="none" strike="noStrike">
              <a:solidFill>
                <a:schemeClr val="dk1"/>
              </a:solidFill>
              <a:latin typeface="Calibri"/>
              <a:ea typeface="Calibri"/>
              <a:cs typeface="Calibri"/>
              <a:sym typeface="Calibri"/>
            </a:endParaRPr>
          </a:p>
        </p:txBody>
      </p:sp>
      <p:sp>
        <p:nvSpPr>
          <p:cNvPr id="357" name="Google Shape;357;p16"/>
          <p:cNvSpPr/>
          <p:nvPr/>
        </p:nvSpPr>
        <p:spPr>
          <a:xfrm>
            <a:off x="731520" y="457200"/>
            <a:ext cx="76809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02C"/>
              </a:buClr>
              <a:buSzPts val="2600"/>
              <a:buFont typeface="Meiryo"/>
              <a:buNone/>
            </a:pPr>
            <a:r>
              <a:rPr b="1" i="0" lang="en-US" sz="2600" u="none" cap="none" strike="noStrike">
                <a:solidFill>
                  <a:srgbClr val="1A202C"/>
                </a:solidFill>
                <a:latin typeface="Meiryo"/>
                <a:ea typeface="Meiryo"/>
                <a:cs typeface="Meiryo"/>
                <a:sym typeface="Meiryo"/>
              </a:rPr>
              <a:t>第3部 委託契約 ― 作品を納めるときの契約【クイズ】</a:t>
            </a:r>
            <a:endParaRPr b="0" i="0" sz="2600" u="none" cap="none" strike="noStrike">
              <a:solidFill>
                <a:schemeClr val="dk1"/>
              </a:solidFill>
              <a:latin typeface="Calibri"/>
              <a:ea typeface="Calibri"/>
              <a:cs typeface="Calibri"/>
              <a:sym typeface="Calibri"/>
            </a:endParaRPr>
          </a:p>
        </p:txBody>
      </p:sp>
      <p:sp>
        <p:nvSpPr>
          <p:cNvPr id="358" name="Google Shape;358;p16"/>
          <p:cNvSpPr/>
          <p:nvPr/>
        </p:nvSpPr>
        <p:spPr>
          <a:xfrm>
            <a:off x="731520" y="904875"/>
            <a:ext cx="7680900" cy="619200"/>
          </a:xfrm>
          <a:prstGeom prst="roundRect">
            <a:avLst>
              <a:gd fmla="val 18461" name="adj"/>
            </a:avLst>
          </a:prstGeom>
          <a:solidFill>
            <a:srgbClr val="F8FAFC"/>
          </a:solidFill>
          <a:ln cap="flat" cmpd="sng" w="19050">
            <a:solidFill>
              <a:srgbClr val="CBD5E1"/>
            </a:solidFill>
            <a:prstDash val="solid"/>
            <a:round/>
            <a:headEnd len="sm" w="sm" type="none"/>
            <a:tailEnd len="sm" w="sm" type="none"/>
          </a:ln>
        </p:spPr>
        <p:txBody>
          <a:bodyPr anchorCtr="0" anchor="ctr" bIns="0" lIns="190500" spcFirstLastPara="1" rIns="190500" wrap="square" tIns="0">
            <a:noAutofit/>
          </a:bodyPr>
          <a:lstStyle/>
          <a:p>
            <a:pPr indent="0" lvl="0" marL="0" rtl="0" algn="ctr">
              <a:spcBef>
                <a:spcPts val="0"/>
              </a:spcBef>
              <a:spcAft>
                <a:spcPts val="0"/>
              </a:spcAft>
              <a:buNone/>
            </a:pPr>
            <a:r>
              <a:rPr b="1" lang="en-US" sz="1500">
                <a:solidFill>
                  <a:srgbClr val="1E293B"/>
                </a:solidFill>
                <a:latin typeface="Arial"/>
                <a:ea typeface="Arial"/>
                <a:cs typeface="Arial"/>
                <a:sym typeface="Arial"/>
              </a:rPr>
              <a:t>❓ </a:t>
            </a:r>
            <a:r>
              <a:rPr b="1" lang="en-US" sz="1500">
                <a:solidFill>
                  <a:srgbClr val="2563EB"/>
                </a:solidFill>
                <a:latin typeface="Arial"/>
                <a:ea typeface="Arial"/>
                <a:cs typeface="Arial"/>
                <a:sym typeface="Arial"/>
              </a:rPr>
              <a:t>問い：</a:t>
            </a:r>
            <a:r>
              <a:rPr b="1" lang="en-US" sz="1500">
                <a:solidFill>
                  <a:srgbClr val="1E293B"/>
                </a:solidFill>
                <a:latin typeface="Arial"/>
                <a:ea typeface="Arial"/>
                <a:cs typeface="Arial"/>
                <a:sym typeface="Arial"/>
              </a:rPr>
              <a:t>企業から動画制作を頼まれたとき、企業は「作り方」まで細かく指示できるでしょうか？</a:t>
            </a:r>
            <a:endParaRPr b="1" sz="1500">
              <a:solidFill>
                <a:srgbClr val="1E293B"/>
              </a:solidFill>
              <a:latin typeface="Arial"/>
              <a:ea typeface="Arial"/>
              <a:cs typeface="Arial"/>
              <a:sym typeface="Arial"/>
            </a:endParaRPr>
          </a:p>
        </p:txBody>
      </p:sp>
      <p:sp>
        <p:nvSpPr>
          <p:cNvPr id="359" name="Google Shape;359;p16"/>
          <p:cNvSpPr/>
          <p:nvPr/>
        </p:nvSpPr>
        <p:spPr>
          <a:xfrm>
            <a:off x="731520" y="1638300"/>
            <a:ext cx="7680900" cy="571500"/>
          </a:xfrm>
          <a:prstGeom prst="roundRect">
            <a:avLst>
              <a:gd fmla="val 20000" name="adj"/>
            </a:avLst>
          </a:prstGeom>
          <a:solidFill>
            <a:srgbClr val="EFF6FF"/>
          </a:solidFill>
          <a:ln cap="flat" cmpd="sng" w="19050">
            <a:solidFill>
              <a:srgbClr val="2563EB"/>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US" sz="2000">
                <a:solidFill>
                  <a:srgbClr val="1D4ED8"/>
                </a:solidFill>
                <a:latin typeface="Arial"/>
                <a:ea typeface="Arial"/>
                <a:cs typeface="Arial"/>
                <a:sym typeface="Arial"/>
              </a:rPr>
              <a:t>👉 答え：</a:t>
            </a:r>
            <a:r>
              <a:rPr b="1" lang="en-US" sz="2000">
                <a:solidFill>
                  <a:srgbClr val="DC2626"/>
                </a:solidFill>
                <a:latin typeface="Arial"/>
                <a:ea typeface="Arial"/>
                <a:cs typeface="Arial"/>
                <a:sym typeface="Arial"/>
              </a:rPr>
              <a:t>「指示できない！」</a:t>
            </a:r>
            <a:r>
              <a:rPr b="1" lang="en-US" sz="2000">
                <a:solidFill>
                  <a:srgbClr val="1D4ED8"/>
                </a:solidFill>
                <a:latin typeface="Arial"/>
                <a:ea typeface="Arial"/>
                <a:cs typeface="Arial"/>
                <a:sym typeface="Arial"/>
              </a:rPr>
              <a:t>（指揮命令権なし ❌）</a:t>
            </a:r>
            <a:endParaRPr b="1" sz="2000">
              <a:solidFill>
                <a:srgbClr val="1D4ED8"/>
              </a:solidFill>
              <a:latin typeface="Arial"/>
              <a:ea typeface="Arial"/>
              <a:cs typeface="Arial"/>
              <a:sym typeface="Arial"/>
            </a:endParaRPr>
          </a:p>
        </p:txBody>
      </p:sp>
      <p:grpSp>
        <p:nvGrpSpPr>
          <p:cNvPr id="360" name="Google Shape;360;p16"/>
          <p:cNvGrpSpPr/>
          <p:nvPr/>
        </p:nvGrpSpPr>
        <p:grpSpPr>
          <a:xfrm>
            <a:off x="731520" y="2324100"/>
            <a:ext cx="2457600" cy="1447800"/>
            <a:chOff x="0" y="0"/>
            <a:chExt cx="2457600" cy="1447800"/>
          </a:xfrm>
        </p:grpSpPr>
        <p:sp>
          <p:nvSpPr>
            <p:cNvPr id="361" name="Google Shape;361;p16"/>
            <p:cNvSpPr/>
            <p:nvPr/>
          </p:nvSpPr>
          <p:spPr>
            <a:xfrm>
              <a:off x="0" y="0"/>
              <a:ext cx="2457600" cy="1447800"/>
            </a:xfrm>
            <a:prstGeom prst="roundRect">
              <a:avLst>
                <a:gd fmla="val 7894" name="adj"/>
              </a:avLst>
            </a:prstGeom>
            <a:solidFill>
              <a:srgbClr val="FFFFFF"/>
            </a:solidFill>
            <a:ln cap="flat" cmpd="sng" w="1905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2" name="Google Shape;362;p16"/>
            <p:cNvSpPr txBox="1"/>
            <p:nvPr/>
          </p:nvSpPr>
          <p:spPr>
            <a:xfrm>
              <a:off x="0" y="0"/>
              <a:ext cx="2457600" cy="1447800"/>
            </a:xfrm>
            <a:prstGeom prst="rect">
              <a:avLst/>
            </a:prstGeom>
            <a:noFill/>
            <a:ln>
              <a:noFill/>
            </a:ln>
          </p:spPr>
          <p:txBody>
            <a:bodyPr anchorCtr="0" anchor="t" bIns="152400" lIns="152400" spcFirstLastPara="1" rIns="152400" wrap="square" tIns="152400">
              <a:noAutofit/>
            </a:bodyPr>
            <a:lstStyle/>
            <a:p>
              <a:pPr indent="0" lvl="0" marL="0" rtl="0" algn="l">
                <a:spcBef>
                  <a:spcPts val="0"/>
                </a:spcBef>
                <a:spcAft>
                  <a:spcPts val="0"/>
                </a:spcAft>
                <a:buNone/>
              </a:pPr>
              <a:r>
                <a:rPr b="1" lang="en-US" sz="1300">
                  <a:solidFill>
                    <a:srgbClr val="1E293B"/>
                  </a:solidFill>
                  <a:latin typeface="Arial"/>
                  <a:ea typeface="Arial"/>
                  <a:cs typeface="Arial"/>
                  <a:sym typeface="Arial"/>
                </a:rPr>
                <a:t>1. 指揮命令権がない</a:t>
              </a:r>
              <a:endParaRPr b="1" sz="1300">
                <a:solidFill>
                  <a:srgbClr val="1E293B"/>
                </a:solidFill>
                <a:latin typeface="Arial"/>
                <a:ea typeface="Arial"/>
                <a:cs typeface="Arial"/>
                <a:sym typeface="Arial"/>
              </a:endParaRPr>
            </a:p>
            <a:p>
              <a:pPr indent="0" lvl="0" marL="0" rtl="0" algn="l">
                <a:spcBef>
                  <a:spcPts val="600"/>
                </a:spcBef>
                <a:spcAft>
                  <a:spcPts val="0"/>
                </a:spcAft>
                <a:buNone/>
              </a:pPr>
              <a:r>
                <a:rPr lang="en-US" sz="1100">
                  <a:solidFill>
                    <a:srgbClr val="334155"/>
                  </a:solidFill>
                  <a:latin typeface="Arial"/>
                  <a:ea typeface="Arial"/>
                  <a:cs typeface="Arial"/>
                  <a:sym typeface="Arial"/>
                </a:rPr>
                <a:t>労働契約との決定的な違い！頼む側に「指揮命令権」はありません。</a:t>
              </a:r>
              <a:endParaRPr sz="1100">
                <a:solidFill>
                  <a:srgbClr val="334155"/>
                </a:solidFill>
                <a:latin typeface="Arial"/>
                <a:ea typeface="Arial"/>
                <a:cs typeface="Arial"/>
                <a:sym typeface="Arial"/>
              </a:endParaRPr>
            </a:p>
          </p:txBody>
        </p:sp>
      </p:grpSp>
      <p:grpSp>
        <p:nvGrpSpPr>
          <p:cNvPr id="363" name="Google Shape;363;p16"/>
          <p:cNvGrpSpPr/>
          <p:nvPr/>
        </p:nvGrpSpPr>
        <p:grpSpPr>
          <a:xfrm>
            <a:off x="3343275" y="2324100"/>
            <a:ext cx="2457600" cy="1447800"/>
            <a:chOff x="0" y="0"/>
            <a:chExt cx="2457600" cy="1447800"/>
          </a:xfrm>
        </p:grpSpPr>
        <p:sp>
          <p:nvSpPr>
            <p:cNvPr id="364" name="Google Shape;364;p16"/>
            <p:cNvSpPr/>
            <p:nvPr/>
          </p:nvSpPr>
          <p:spPr>
            <a:xfrm>
              <a:off x="0" y="0"/>
              <a:ext cx="2457600" cy="1447800"/>
            </a:xfrm>
            <a:prstGeom prst="roundRect">
              <a:avLst>
                <a:gd fmla="val 7894" name="adj"/>
              </a:avLst>
            </a:prstGeom>
            <a:solidFill>
              <a:srgbClr val="FFFFFF"/>
            </a:solidFill>
            <a:ln cap="flat" cmpd="sng" w="1905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5" name="Google Shape;365;p16"/>
            <p:cNvSpPr txBox="1"/>
            <p:nvPr/>
          </p:nvSpPr>
          <p:spPr>
            <a:xfrm>
              <a:off x="0" y="0"/>
              <a:ext cx="2457600" cy="1447800"/>
            </a:xfrm>
            <a:prstGeom prst="rect">
              <a:avLst/>
            </a:prstGeom>
            <a:noFill/>
            <a:ln>
              <a:noFill/>
            </a:ln>
          </p:spPr>
          <p:txBody>
            <a:bodyPr anchorCtr="0" anchor="t" bIns="152400" lIns="152400" spcFirstLastPara="1" rIns="152400" wrap="square" tIns="152400">
              <a:noAutofit/>
            </a:bodyPr>
            <a:lstStyle/>
            <a:p>
              <a:pPr indent="0" lvl="0" marL="0" rtl="0" algn="l">
                <a:spcBef>
                  <a:spcPts val="0"/>
                </a:spcBef>
                <a:spcAft>
                  <a:spcPts val="0"/>
                </a:spcAft>
                <a:buNone/>
              </a:pPr>
              <a:r>
                <a:rPr b="1" lang="en-US" sz="1300">
                  <a:solidFill>
                    <a:srgbClr val="1E293B"/>
                  </a:solidFill>
                  <a:latin typeface="Arial"/>
                  <a:ea typeface="Arial"/>
                  <a:cs typeface="Arial"/>
                  <a:sym typeface="Arial"/>
                </a:rPr>
                <a:t>2. 完成結果を求める</a:t>
              </a:r>
              <a:endParaRPr b="1" sz="1300">
                <a:solidFill>
                  <a:srgbClr val="1E293B"/>
                </a:solidFill>
                <a:latin typeface="Arial"/>
                <a:ea typeface="Arial"/>
                <a:cs typeface="Arial"/>
                <a:sym typeface="Arial"/>
              </a:endParaRPr>
            </a:p>
            <a:p>
              <a:pPr indent="0" lvl="0" marL="0" rtl="0" algn="l">
                <a:spcBef>
                  <a:spcPts val="600"/>
                </a:spcBef>
                <a:spcAft>
                  <a:spcPts val="0"/>
                </a:spcAft>
                <a:buNone/>
              </a:pPr>
              <a:r>
                <a:rPr lang="en-US" sz="1100">
                  <a:solidFill>
                    <a:srgbClr val="334155"/>
                  </a:solidFill>
                  <a:latin typeface="Arial"/>
                  <a:ea typeface="Arial"/>
                  <a:cs typeface="Arial"/>
                  <a:sym typeface="Arial"/>
                </a:rPr>
                <a:t>求めるのは「完成した結果（作品）」。やり方は受ける側に任せるのが原則です。</a:t>
              </a:r>
              <a:endParaRPr sz="1100">
                <a:solidFill>
                  <a:srgbClr val="334155"/>
                </a:solidFill>
                <a:latin typeface="Arial"/>
                <a:ea typeface="Arial"/>
                <a:cs typeface="Arial"/>
                <a:sym typeface="Arial"/>
              </a:endParaRPr>
            </a:p>
          </p:txBody>
        </p:sp>
      </p:grpSp>
      <p:grpSp>
        <p:nvGrpSpPr>
          <p:cNvPr id="366" name="Google Shape;366;p16"/>
          <p:cNvGrpSpPr/>
          <p:nvPr/>
        </p:nvGrpSpPr>
        <p:grpSpPr>
          <a:xfrm>
            <a:off x="5955030" y="2324100"/>
            <a:ext cx="2457600" cy="1447800"/>
            <a:chOff x="0" y="0"/>
            <a:chExt cx="2457600" cy="1447800"/>
          </a:xfrm>
        </p:grpSpPr>
        <p:sp>
          <p:nvSpPr>
            <p:cNvPr id="367" name="Google Shape;367;p16"/>
            <p:cNvSpPr/>
            <p:nvPr/>
          </p:nvSpPr>
          <p:spPr>
            <a:xfrm>
              <a:off x="0" y="0"/>
              <a:ext cx="2457600" cy="1447800"/>
            </a:xfrm>
            <a:prstGeom prst="roundRect">
              <a:avLst>
                <a:gd fmla="val 7894" name="adj"/>
              </a:avLst>
            </a:prstGeom>
            <a:solidFill>
              <a:srgbClr val="FFFFFF"/>
            </a:solidFill>
            <a:ln cap="flat" cmpd="sng" w="1905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8" name="Google Shape;368;p16"/>
            <p:cNvSpPr txBox="1"/>
            <p:nvPr/>
          </p:nvSpPr>
          <p:spPr>
            <a:xfrm>
              <a:off x="0" y="0"/>
              <a:ext cx="2457600" cy="1447800"/>
            </a:xfrm>
            <a:prstGeom prst="rect">
              <a:avLst/>
            </a:prstGeom>
            <a:noFill/>
            <a:ln>
              <a:noFill/>
            </a:ln>
          </p:spPr>
          <p:txBody>
            <a:bodyPr anchorCtr="0" anchor="t" bIns="152400" lIns="152400" spcFirstLastPara="1" rIns="152400" wrap="square" tIns="152400">
              <a:noAutofit/>
            </a:bodyPr>
            <a:lstStyle/>
            <a:p>
              <a:pPr indent="0" lvl="0" marL="0" rtl="0" algn="l">
                <a:spcBef>
                  <a:spcPts val="0"/>
                </a:spcBef>
                <a:spcAft>
                  <a:spcPts val="0"/>
                </a:spcAft>
                <a:buNone/>
              </a:pPr>
              <a:r>
                <a:rPr b="1" lang="en-US" sz="1300">
                  <a:solidFill>
                    <a:srgbClr val="1E293B"/>
                  </a:solidFill>
                  <a:latin typeface="Arial"/>
                  <a:ea typeface="Arial"/>
                  <a:cs typeface="Arial"/>
                  <a:sym typeface="Arial"/>
                </a:rPr>
                <a:t>3. 成果物で勝負</a:t>
              </a:r>
              <a:endParaRPr b="1" sz="1300">
                <a:solidFill>
                  <a:srgbClr val="1E293B"/>
                </a:solidFill>
                <a:latin typeface="Arial"/>
                <a:ea typeface="Arial"/>
                <a:cs typeface="Arial"/>
                <a:sym typeface="Arial"/>
              </a:endParaRPr>
            </a:p>
            <a:p>
              <a:pPr indent="0" lvl="0" marL="0" rtl="0" algn="l">
                <a:spcBef>
                  <a:spcPts val="600"/>
                </a:spcBef>
                <a:spcAft>
                  <a:spcPts val="0"/>
                </a:spcAft>
                <a:buNone/>
              </a:pPr>
              <a:r>
                <a:rPr lang="en-US" sz="1100">
                  <a:solidFill>
                    <a:srgbClr val="334155"/>
                  </a:solidFill>
                  <a:latin typeface="Arial"/>
                  <a:ea typeface="Arial"/>
                  <a:cs typeface="Arial"/>
                  <a:sym typeface="Arial"/>
                </a:rPr>
                <a:t>プロとして信頼して任され、作られた成果物の品質で勝負する契約です。</a:t>
              </a:r>
              <a:endParaRPr sz="1100">
                <a:solidFill>
                  <a:srgbClr val="334155"/>
                </a:solidFill>
                <a:latin typeface="Arial"/>
                <a:ea typeface="Arial"/>
                <a:cs typeface="Arial"/>
                <a:sym typeface="Arial"/>
              </a:endParaRPr>
            </a:p>
          </p:txBody>
        </p:sp>
      </p:grpSp>
      <p:grpSp>
        <p:nvGrpSpPr>
          <p:cNvPr id="369" name="Google Shape;369;p16"/>
          <p:cNvGrpSpPr/>
          <p:nvPr/>
        </p:nvGrpSpPr>
        <p:grpSpPr>
          <a:xfrm>
            <a:off x="731520" y="3886200"/>
            <a:ext cx="7680900" cy="552600"/>
            <a:chOff x="0" y="0"/>
            <a:chExt cx="7680900" cy="552600"/>
          </a:xfrm>
        </p:grpSpPr>
        <p:sp>
          <p:nvSpPr>
            <p:cNvPr id="370" name="Google Shape;370;p16"/>
            <p:cNvSpPr/>
            <p:nvPr/>
          </p:nvSpPr>
          <p:spPr>
            <a:xfrm>
              <a:off x="0" y="0"/>
              <a:ext cx="7680900" cy="552600"/>
            </a:xfrm>
            <a:prstGeom prst="roundRect">
              <a:avLst>
                <a:gd fmla="val 20689" name="adj"/>
              </a:avLst>
            </a:prstGeom>
            <a:solidFill>
              <a:srgbClr val="FEF3C7"/>
            </a:solidFill>
            <a:ln cap="flat" cmpd="sng" w="19050">
              <a:solidFill>
                <a:srgbClr val="F59E0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1" name="Google Shape;371;p16"/>
            <p:cNvSpPr txBox="1"/>
            <p:nvPr/>
          </p:nvSpPr>
          <p:spPr>
            <a:xfrm>
              <a:off x="0" y="0"/>
              <a:ext cx="7680900" cy="552600"/>
            </a:xfrm>
            <a:prstGeom prst="rect">
              <a:avLst/>
            </a:prstGeom>
            <a:noFill/>
            <a:ln>
              <a:noFill/>
            </a:ln>
          </p:spPr>
          <p:txBody>
            <a:bodyPr anchorCtr="0" anchor="ctr" bIns="0" lIns="152400" spcFirstLastPara="1" rIns="152400" wrap="square" tIns="0">
              <a:noAutofit/>
            </a:bodyPr>
            <a:lstStyle/>
            <a:p>
              <a:pPr indent="0" lvl="0" marL="0" rtl="0" algn="ctr">
                <a:spcBef>
                  <a:spcPts val="0"/>
                </a:spcBef>
                <a:spcAft>
                  <a:spcPts val="0"/>
                </a:spcAft>
                <a:buNone/>
              </a:pPr>
              <a:r>
                <a:rPr b="1" lang="en-US" sz="1300">
                  <a:solidFill>
                    <a:srgbClr val="92400E"/>
                  </a:solidFill>
                  <a:latin typeface="Arial"/>
                  <a:ea typeface="Arial"/>
                  <a:cs typeface="Arial"/>
                  <a:sym typeface="Arial"/>
                </a:rPr>
                <a:t>★ 皆さんが事業所で制作している仕事は、まさにこのプロの現場です！</a:t>
              </a:r>
              <a:endParaRPr b="1" sz="1300">
                <a:solidFill>
                  <a:srgbClr val="92400E"/>
                </a:solidFill>
                <a:latin typeface="Arial"/>
                <a:ea typeface="Arial"/>
                <a:cs typeface="Arial"/>
                <a:sym typeface="Arial"/>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6" name="Shape 376"/>
        <p:cNvGrpSpPr/>
        <p:nvPr/>
      </p:nvGrpSpPr>
      <p:grpSpPr>
        <a:xfrm>
          <a:off x="0" y="0"/>
          <a:ext cx="0" cy="0"/>
          <a:chOff x="0" y="0"/>
          <a:chExt cx="0" cy="0"/>
        </a:xfrm>
      </p:grpSpPr>
      <p:sp>
        <p:nvSpPr>
          <p:cNvPr id="377" name="Google Shape;377;p17"/>
          <p:cNvSpPr/>
          <p:nvPr/>
        </p:nvSpPr>
        <p:spPr>
          <a:xfrm>
            <a:off x="731520" y="4709160"/>
            <a:ext cx="5486400" cy="320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18096"/>
              </a:buClr>
              <a:buSzPts val="1200"/>
              <a:buFont typeface="Meiryo"/>
              <a:buNone/>
            </a:pPr>
            <a:r>
              <a:rPr b="0" i="0" lang="en-US" sz="1200" u="none" cap="none" strike="noStrike">
                <a:solidFill>
                  <a:srgbClr val="718096"/>
                </a:solidFill>
                <a:latin typeface="Meiryo"/>
                <a:ea typeface="Meiryo"/>
                <a:cs typeface="Meiryo"/>
                <a:sym typeface="Meiryo"/>
              </a:rPr>
              <a:t>第3部 委託契約 ― 作品を納めるときの契約</a:t>
            </a:r>
            <a:endParaRPr b="0" i="0" sz="1200" u="none" cap="none" strike="noStrike">
              <a:solidFill>
                <a:schemeClr val="dk1"/>
              </a:solidFill>
              <a:latin typeface="Calibri"/>
              <a:ea typeface="Calibri"/>
              <a:cs typeface="Calibri"/>
              <a:sym typeface="Calibri"/>
            </a:endParaRPr>
          </a:p>
        </p:txBody>
      </p:sp>
      <p:sp>
        <p:nvSpPr>
          <p:cNvPr id="378" name="Google Shape;378;p17"/>
          <p:cNvSpPr/>
          <p:nvPr/>
        </p:nvSpPr>
        <p:spPr>
          <a:xfrm>
            <a:off x="7315200" y="4709160"/>
            <a:ext cx="1097400" cy="3201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718096"/>
              </a:buClr>
              <a:buSzPts val="1200"/>
              <a:buFont typeface="Meiryo"/>
              <a:buNone/>
            </a:pPr>
            <a:r>
              <a:rPr b="0" i="0" lang="en-US" sz="1200" u="none" cap="none" strike="noStrike">
                <a:solidFill>
                  <a:srgbClr val="718096"/>
                </a:solidFill>
                <a:latin typeface="Meiryo"/>
                <a:ea typeface="Meiryo"/>
                <a:cs typeface="Meiryo"/>
                <a:sym typeface="Meiryo"/>
              </a:rPr>
              <a:t>17 / 30</a:t>
            </a:r>
            <a:endParaRPr b="0" i="0" sz="1200" u="none" cap="none" strike="noStrike">
              <a:solidFill>
                <a:schemeClr val="dk1"/>
              </a:solidFill>
              <a:latin typeface="Calibri"/>
              <a:ea typeface="Calibri"/>
              <a:cs typeface="Calibri"/>
              <a:sym typeface="Calibri"/>
            </a:endParaRPr>
          </a:p>
        </p:txBody>
      </p:sp>
      <p:sp>
        <p:nvSpPr>
          <p:cNvPr id="379" name="Google Shape;379;p17"/>
          <p:cNvSpPr/>
          <p:nvPr/>
        </p:nvSpPr>
        <p:spPr>
          <a:xfrm>
            <a:off x="731520" y="457200"/>
            <a:ext cx="76809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02C"/>
              </a:buClr>
              <a:buSzPts val="2600"/>
              <a:buFont typeface="Meiryo"/>
              <a:buNone/>
            </a:pPr>
            <a:r>
              <a:rPr b="1" i="0" lang="en-US" sz="2600" u="none" cap="none" strike="noStrike">
                <a:solidFill>
                  <a:srgbClr val="1A202C"/>
                </a:solidFill>
                <a:latin typeface="Meiryo"/>
                <a:ea typeface="Meiryo"/>
                <a:cs typeface="Meiryo"/>
                <a:sym typeface="Meiryo"/>
              </a:rPr>
              <a:t>委託契約の2つの型 ― 請負と準委任</a:t>
            </a:r>
            <a:endParaRPr b="0" i="0" sz="2600" u="none" cap="none" strike="noStrike">
              <a:solidFill>
                <a:schemeClr val="dk1"/>
              </a:solidFill>
              <a:latin typeface="Calibri"/>
              <a:ea typeface="Calibri"/>
              <a:cs typeface="Calibri"/>
              <a:sym typeface="Calibri"/>
            </a:endParaRPr>
          </a:p>
        </p:txBody>
      </p:sp>
      <p:sp>
        <p:nvSpPr>
          <p:cNvPr id="380" name="Google Shape;380;p17"/>
          <p:cNvSpPr/>
          <p:nvPr/>
        </p:nvSpPr>
        <p:spPr>
          <a:xfrm>
            <a:off x="731520" y="1095375"/>
            <a:ext cx="3695700" cy="2333700"/>
          </a:xfrm>
          <a:prstGeom prst="roundRect">
            <a:avLst>
              <a:gd fmla="val 6530" name="adj"/>
            </a:avLst>
          </a:prstGeom>
          <a:solidFill>
            <a:srgbClr val="EFF6FF"/>
          </a:solidFill>
          <a:ln cap="flat" cmpd="sng" w="19050">
            <a:solidFill>
              <a:srgbClr val="2563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1" name="Google Shape;381;p17"/>
          <p:cNvSpPr/>
          <p:nvPr/>
        </p:nvSpPr>
        <p:spPr>
          <a:xfrm>
            <a:off x="883920" y="1209675"/>
            <a:ext cx="3390900" cy="342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800">
                <a:solidFill>
                  <a:srgbClr val="1D4ED8"/>
                </a:solidFill>
                <a:latin typeface="Arial"/>
                <a:ea typeface="Arial"/>
                <a:cs typeface="Arial"/>
                <a:sym typeface="Arial"/>
              </a:rPr>
              <a:t>🎬 ① 請負（うけおい）</a:t>
            </a:r>
            <a:endParaRPr b="1" sz="1800">
              <a:solidFill>
                <a:srgbClr val="1D4ED8"/>
              </a:solidFill>
              <a:latin typeface="Arial"/>
              <a:ea typeface="Arial"/>
              <a:cs typeface="Arial"/>
              <a:sym typeface="Arial"/>
            </a:endParaRPr>
          </a:p>
        </p:txBody>
      </p:sp>
      <p:sp>
        <p:nvSpPr>
          <p:cNvPr id="382" name="Google Shape;382;p17"/>
          <p:cNvSpPr/>
          <p:nvPr/>
        </p:nvSpPr>
        <p:spPr>
          <a:xfrm>
            <a:off x="883920" y="1600200"/>
            <a:ext cx="3390900" cy="1714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1300">
                <a:solidFill>
                  <a:srgbClr val="1E3A8A"/>
                </a:solidFill>
                <a:latin typeface="Arial"/>
                <a:ea typeface="Arial"/>
                <a:cs typeface="Arial"/>
                <a:sym typeface="Arial"/>
              </a:rPr>
              <a:t>成果物を完成させて納める契約</a:t>
            </a:r>
            <a:endParaRPr b="1" sz="1300">
              <a:solidFill>
                <a:srgbClr val="1E3A8A"/>
              </a:solidFill>
              <a:latin typeface="Arial"/>
              <a:ea typeface="Arial"/>
              <a:cs typeface="Arial"/>
              <a:sym typeface="Arial"/>
            </a:endParaRPr>
          </a:p>
          <a:p>
            <a:pPr indent="-304800" lvl="0" marL="457200" rtl="0" algn="l">
              <a:spcBef>
                <a:spcPts val="600"/>
              </a:spcBef>
              <a:spcAft>
                <a:spcPts val="0"/>
              </a:spcAft>
              <a:buClr>
                <a:srgbClr val="1D4ED8"/>
              </a:buClr>
              <a:buSzPts val="1200"/>
              <a:buFont typeface="Arial"/>
              <a:buChar char="●"/>
            </a:pPr>
            <a:r>
              <a:rPr b="1" lang="en-US" sz="1200">
                <a:solidFill>
                  <a:srgbClr val="DC2626"/>
                </a:solidFill>
                <a:latin typeface="Arial"/>
                <a:ea typeface="Arial"/>
                <a:cs typeface="Arial"/>
                <a:sym typeface="Arial"/>
              </a:rPr>
              <a:t>「完成」が支払いの条件！</a:t>
            </a:r>
            <a:endParaRPr b="0" sz="1200">
              <a:solidFill>
                <a:srgbClr val="1E293B"/>
              </a:solidFill>
              <a:latin typeface="Arial"/>
              <a:ea typeface="Arial"/>
              <a:cs typeface="Arial"/>
              <a:sym typeface="Arial"/>
            </a:endParaRPr>
          </a:p>
          <a:p>
            <a:pPr indent="-304800" lvl="0" marL="457200" rtl="0" algn="l">
              <a:spcBef>
                <a:spcPts val="450"/>
              </a:spcBef>
              <a:spcAft>
                <a:spcPts val="0"/>
              </a:spcAft>
              <a:buClr>
                <a:srgbClr val="1D4ED8"/>
              </a:buClr>
              <a:buSzPts val="1200"/>
              <a:buFont typeface="Arial"/>
              <a:buChar char="●"/>
            </a:pPr>
            <a:r>
              <a:rPr b="0" lang="en-US" sz="1200">
                <a:solidFill>
                  <a:srgbClr val="1E293B"/>
                </a:solidFill>
                <a:latin typeface="Arial"/>
                <a:ea typeface="Arial"/>
                <a:cs typeface="Arial"/>
                <a:sym typeface="Arial"/>
              </a:rPr>
              <a:t>画像や動画などの作品を納品する</a:t>
            </a:r>
            <a:endParaRPr b="0" sz="1200">
              <a:solidFill>
                <a:srgbClr val="1E293B"/>
              </a:solidFill>
              <a:latin typeface="Arial"/>
              <a:ea typeface="Arial"/>
              <a:cs typeface="Arial"/>
              <a:sym typeface="Arial"/>
            </a:endParaRPr>
          </a:p>
          <a:p>
            <a:pPr indent="-304800" lvl="0" marL="457200" rtl="0" algn="l">
              <a:spcBef>
                <a:spcPts val="450"/>
              </a:spcBef>
              <a:spcAft>
                <a:spcPts val="0"/>
              </a:spcAft>
              <a:buClr>
                <a:srgbClr val="1D4ED8"/>
              </a:buClr>
              <a:buSzPts val="1200"/>
              <a:buFont typeface="Arial"/>
              <a:buChar char="●"/>
            </a:pPr>
            <a:r>
              <a:rPr b="1" lang="en-US" sz="1200">
                <a:solidFill>
                  <a:srgbClr val="1D4ED8"/>
                </a:solidFill>
                <a:latin typeface="Arial"/>
                <a:ea typeface="Arial"/>
                <a:cs typeface="Arial"/>
                <a:sym typeface="Arial"/>
              </a:rPr>
              <a:t>★ 事業所が受けるのはコレ！</a:t>
            </a:r>
            <a:br>
              <a:rPr b="1" lang="en-US" sz="1200">
                <a:solidFill>
                  <a:srgbClr val="1D4ED8"/>
                </a:solidFill>
                <a:latin typeface="Arial"/>
                <a:ea typeface="Arial"/>
                <a:cs typeface="Arial"/>
                <a:sym typeface="Arial"/>
              </a:rPr>
            </a:br>
            <a:r>
              <a:rPr b="0" lang="en-US" sz="1100">
                <a:solidFill>
                  <a:srgbClr val="334155"/>
                </a:solidFill>
                <a:latin typeface="Arial"/>
                <a:ea typeface="Arial"/>
                <a:cs typeface="Arial"/>
                <a:sym typeface="Arial"/>
              </a:rPr>
              <a:t>皆さんはその履行を担っています。</a:t>
            </a:r>
            <a:endParaRPr b="1" sz="1200">
              <a:solidFill>
                <a:srgbClr val="1D4ED8"/>
              </a:solidFill>
              <a:latin typeface="Arial"/>
              <a:ea typeface="Arial"/>
              <a:cs typeface="Arial"/>
              <a:sym typeface="Arial"/>
            </a:endParaRPr>
          </a:p>
        </p:txBody>
      </p:sp>
      <p:sp>
        <p:nvSpPr>
          <p:cNvPr id="383" name="Google Shape;383;p17"/>
          <p:cNvSpPr/>
          <p:nvPr/>
        </p:nvSpPr>
        <p:spPr>
          <a:xfrm>
            <a:off x="4716780" y="1095375"/>
            <a:ext cx="3695700" cy="2333700"/>
          </a:xfrm>
          <a:prstGeom prst="roundRect">
            <a:avLst>
              <a:gd fmla="val 6530" name="adj"/>
            </a:avLst>
          </a:prstGeom>
          <a:solidFill>
            <a:srgbClr val="F8FAFC"/>
          </a:solidFill>
          <a:ln cap="flat" cmpd="sng" w="19050">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4" name="Google Shape;384;p17"/>
          <p:cNvSpPr/>
          <p:nvPr/>
        </p:nvSpPr>
        <p:spPr>
          <a:xfrm>
            <a:off x="4869180" y="1209675"/>
            <a:ext cx="3390900" cy="342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800">
                <a:solidFill>
                  <a:srgbClr val="334155"/>
                </a:solidFill>
                <a:latin typeface="Arial"/>
                <a:ea typeface="Arial"/>
                <a:cs typeface="Arial"/>
                <a:sym typeface="Arial"/>
              </a:rPr>
              <a:t>📋 ② 準委任（じゅんいにん）</a:t>
            </a:r>
            <a:endParaRPr b="1" sz="1800">
              <a:solidFill>
                <a:srgbClr val="334155"/>
              </a:solidFill>
              <a:latin typeface="Arial"/>
              <a:ea typeface="Arial"/>
              <a:cs typeface="Arial"/>
              <a:sym typeface="Arial"/>
            </a:endParaRPr>
          </a:p>
        </p:txBody>
      </p:sp>
      <p:sp>
        <p:nvSpPr>
          <p:cNvPr id="385" name="Google Shape;385;p17"/>
          <p:cNvSpPr/>
          <p:nvPr/>
        </p:nvSpPr>
        <p:spPr>
          <a:xfrm>
            <a:off x="4869180" y="1600200"/>
            <a:ext cx="3390900" cy="1714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1300">
                <a:solidFill>
                  <a:srgbClr val="475569"/>
                </a:solidFill>
                <a:latin typeface="Arial"/>
                <a:ea typeface="Arial"/>
                <a:cs typeface="Arial"/>
                <a:sym typeface="Arial"/>
              </a:rPr>
              <a:t>作業そのものを提供する契約</a:t>
            </a:r>
            <a:endParaRPr b="1" sz="1300">
              <a:solidFill>
                <a:srgbClr val="475569"/>
              </a:solidFill>
              <a:latin typeface="Arial"/>
              <a:ea typeface="Arial"/>
              <a:cs typeface="Arial"/>
              <a:sym typeface="Arial"/>
            </a:endParaRPr>
          </a:p>
          <a:p>
            <a:pPr indent="-304800" lvl="0" marL="457200" rtl="0" algn="l">
              <a:spcBef>
                <a:spcPts val="600"/>
              </a:spcBef>
              <a:spcAft>
                <a:spcPts val="0"/>
              </a:spcAft>
              <a:buClr>
                <a:srgbClr val="1E293B"/>
              </a:buClr>
              <a:buSzPts val="1200"/>
              <a:buFont typeface="Arial"/>
              <a:buChar char="●"/>
            </a:pPr>
            <a:r>
              <a:rPr b="0" lang="en-US" sz="1200">
                <a:solidFill>
                  <a:srgbClr val="1E293B"/>
                </a:solidFill>
                <a:latin typeface="Arial"/>
                <a:ea typeface="Arial"/>
                <a:cs typeface="Arial"/>
                <a:sym typeface="Arial"/>
              </a:rPr>
              <a:t>「完成」は条件ではない</a:t>
            </a:r>
            <a:endParaRPr b="0" sz="1200">
              <a:solidFill>
                <a:srgbClr val="1E293B"/>
              </a:solidFill>
              <a:latin typeface="Arial"/>
              <a:ea typeface="Arial"/>
              <a:cs typeface="Arial"/>
              <a:sym typeface="Arial"/>
            </a:endParaRPr>
          </a:p>
          <a:p>
            <a:pPr indent="-304800" lvl="0" marL="457200" rtl="0" algn="l">
              <a:spcBef>
                <a:spcPts val="450"/>
              </a:spcBef>
              <a:spcAft>
                <a:spcPts val="0"/>
              </a:spcAft>
              <a:buClr>
                <a:srgbClr val="1E293B"/>
              </a:buClr>
              <a:buSzPts val="1200"/>
              <a:buFont typeface="Arial"/>
              <a:buChar char="●"/>
            </a:pPr>
            <a:r>
              <a:rPr b="0" lang="en-US" sz="1200">
                <a:solidFill>
                  <a:srgbClr val="1E293B"/>
                </a:solidFill>
                <a:latin typeface="Arial"/>
                <a:ea typeface="Arial"/>
                <a:cs typeface="Arial"/>
                <a:sym typeface="Arial"/>
              </a:rPr>
              <a:t>事務処理や相談などを行う</a:t>
            </a:r>
            <a:endParaRPr b="0" sz="1200">
              <a:solidFill>
                <a:srgbClr val="1E293B"/>
              </a:solidFill>
              <a:latin typeface="Arial"/>
              <a:ea typeface="Arial"/>
              <a:cs typeface="Arial"/>
              <a:sym typeface="Arial"/>
            </a:endParaRPr>
          </a:p>
          <a:p>
            <a:pPr indent="-304800" lvl="0" marL="457200" rtl="0" algn="l">
              <a:spcBef>
                <a:spcPts val="450"/>
              </a:spcBef>
              <a:spcAft>
                <a:spcPts val="0"/>
              </a:spcAft>
              <a:buClr>
                <a:srgbClr val="1E293B"/>
              </a:buClr>
              <a:buSzPts val="1200"/>
              <a:buFont typeface="Arial"/>
              <a:buChar char="●"/>
            </a:pPr>
            <a:r>
              <a:rPr b="0" lang="en-US" sz="1200">
                <a:solidFill>
                  <a:srgbClr val="1E293B"/>
                </a:solidFill>
                <a:latin typeface="Arial"/>
                <a:ea typeface="Arial"/>
                <a:cs typeface="Arial"/>
                <a:sym typeface="Arial"/>
              </a:rPr>
              <a:t>作業した時間や労力への対価</a:t>
            </a:r>
            <a:endParaRPr b="0" sz="1200">
              <a:solidFill>
                <a:srgbClr val="1E293B"/>
              </a:solidFill>
              <a:latin typeface="Arial"/>
              <a:ea typeface="Arial"/>
              <a:cs typeface="Arial"/>
              <a:sym typeface="Arial"/>
            </a:endParaRPr>
          </a:p>
        </p:txBody>
      </p:sp>
      <p:sp>
        <p:nvSpPr>
          <p:cNvPr id="386" name="Google Shape;386;p17"/>
          <p:cNvSpPr/>
          <p:nvPr/>
        </p:nvSpPr>
        <p:spPr>
          <a:xfrm>
            <a:off x="731520" y="3619500"/>
            <a:ext cx="7680900" cy="876300"/>
          </a:xfrm>
          <a:prstGeom prst="roundRect">
            <a:avLst>
              <a:gd fmla="val 13043" name="adj"/>
            </a:avLst>
          </a:prstGeom>
          <a:solidFill>
            <a:srgbClr val="FEF3C7"/>
          </a:solidFill>
          <a:ln cap="flat" cmpd="sng" w="19050">
            <a:solidFill>
              <a:srgbClr val="F59E0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7" name="Google Shape;387;p17"/>
          <p:cNvSpPr/>
          <p:nvPr/>
        </p:nvSpPr>
        <p:spPr>
          <a:xfrm>
            <a:off x="914400" y="3695700"/>
            <a:ext cx="7315200" cy="723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350">
                <a:solidFill>
                  <a:srgbClr val="92400E"/>
                </a:solidFill>
                <a:latin typeface="Arial"/>
                <a:ea typeface="Arial"/>
                <a:cs typeface="Arial"/>
                <a:sym typeface="Arial"/>
              </a:rPr>
              <a:t>🌟 皆さんの日々の画像・動画制作は、企業の「請負契約」を立派に完遂させています！</a:t>
            </a:r>
            <a:endParaRPr b="1" sz="1350">
              <a:solidFill>
                <a:srgbClr val="92400E"/>
              </a:solidFill>
              <a:latin typeface="Arial"/>
              <a:ea typeface="Arial"/>
              <a:cs typeface="Arial"/>
              <a:sym typeface="Arial"/>
            </a:endParaRPr>
          </a:p>
          <a:p>
            <a:pPr indent="0" lvl="0" marL="0" rtl="0" algn="ctr">
              <a:spcBef>
                <a:spcPts val="300"/>
              </a:spcBef>
              <a:spcAft>
                <a:spcPts val="0"/>
              </a:spcAft>
              <a:buNone/>
            </a:pPr>
            <a:r>
              <a:rPr b="0" lang="en-US" sz="1200">
                <a:solidFill>
                  <a:srgbClr val="B45309"/>
                </a:solidFill>
                <a:latin typeface="Arial"/>
                <a:ea typeface="Arial"/>
                <a:cs typeface="Arial"/>
                <a:sym typeface="Arial"/>
              </a:rPr>
              <a:t>プロのデザイナーやエンジニアと全く同じ仕事のサイクルを、すでにここで実践中！</a:t>
            </a:r>
            <a:endParaRPr b="0" sz="1200">
              <a:solidFill>
                <a:srgbClr val="B45309"/>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2" name="Shape 392"/>
        <p:cNvGrpSpPr/>
        <p:nvPr/>
      </p:nvGrpSpPr>
      <p:grpSpPr>
        <a:xfrm>
          <a:off x="0" y="0"/>
          <a:ext cx="0" cy="0"/>
          <a:chOff x="0" y="0"/>
          <a:chExt cx="0" cy="0"/>
        </a:xfrm>
      </p:grpSpPr>
      <p:sp>
        <p:nvSpPr>
          <p:cNvPr id="393" name="Google Shape;393;p18"/>
          <p:cNvSpPr/>
          <p:nvPr/>
        </p:nvSpPr>
        <p:spPr>
          <a:xfrm>
            <a:off x="731520" y="4709160"/>
            <a:ext cx="54864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18096"/>
              </a:buClr>
              <a:buSzPts val="1200"/>
              <a:buFont typeface="Meiryo"/>
              <a:buNone/>
            </a:pPr>
            <a:r>
              <a:rPr b="0" i="0" lang="en-US" sz="1200" u="none" cap="none" strike="noStrike">
                <a:solidFill>
                  <a:srgbClr val="718096"/>
                </a:solidFill>
                <a:latin typeface="Meiryo"/>
                <a:ea typeface="Meiryo"/>
                <a:cs typeface="Meiryo"/>
                <a:sym typeface="Meiryo"/>
              </a:rPr>
              <a:t>第3部 委託契約 ― 作品を納めるときの契約</a:t>
            </a:r>
            <a:endParaRPr b="0" i="0" sz="1200" u="none" cap="none" strike="noStrike">
              <a:solidFill>
                <a:schemeClr val="dk1"/>
              </a:solidFill>
              <a:latin typeface="Calibri"/>
              <a:ea typeface="Calibri"/>
              <a:cs typeface="Calibri"/>
              <a:sym typeface="Calibri"/>
            </a:endParaRPr>
          </a:p>
        </p:txBody>
      </p:sp>
      <p:sp>
        <p:nvSpPr>
          <p:cNvPr id="394" name="Google Shape;394;p18"/>
          <p:cNvSpPr/>
          <p:nvPr/>
        </p:nvSpPr>
        <p:spPr>
          <a:xfrm>
            <a:off x="7315200" y="4709160"/>
            <a:ext cx="1097280" cy="32004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718096"/>
              </a:buClr>
              <a:buSzPts val="1200"/>
              <a:buFont typeface="Meiryo"/>
              <a:buNone/>
            </a:pPr>
            <a:r>
              <a:rPr b="0" i="0" lang="en-US" sz="1200" u="none" cap="none" strike="noStrike">
                <a:solidFill>
                  <a:srgbClr val="718096"/>
                </a:solidFill>
                <a:latin typeface="Meiryo"/>
                <a:ea typeface="Meiryo"/>
                <a:cs typeface="Meiryo"/>
                <a:sym typeface="Meiryo"/>
              </a:rPr>
              <a:t>18 / 30</a:t>
            </a:r>
            <a:endParaRPr b="0" i="0" sz="1200" u="none" cap="none" strike="noStrike">
              <a:solidFill>
                <a:schemeClr val="dk1"/>
              </a:solidFill>
              <a:latin typeface="Calibri"/>
              <a:ea typeface="Calibri"/>
              <a:cs typeface="Calibri"/>
              <a:sym typeface="Calibri"/>
            </a:endParaRPr>
          </a:p>
        </p:txBody>
      </p:sp>
      <p:sp>
        <p:nvSpPr>
          <p:cNvPr id="395" name="Google Shape;395;p18"/>
          <p:cNvSpPr/>
          <p:nvPr/>
        </p:nvSpPr>
        <p:spPr>
          <a:xfrm>
            <a:off x="731520" y="365760"/>
            <a:ext cx="768096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02C"/>
              </a:buClr>
              <a:buSzPts val="2400"/>
              <a:buFont typeface="Meiryo"/>
              <a:buNone/>
            </a:pPr>
            <a:r>
              <a:rPr b="1" i="0" lang="en-US" sz="2400" u="none" cap="none" strike="noStrike">
                <a:solidFill>
                  <a:srgbClr val="1A202C"/>
                </a:solidFill>
                <a:latin typeface="Meiryo"/>
                <a:ea typeface="Meiryo"/>
                <a:cs typeface="Meiryo"/>
                <a:sym typeface="Meiryo"/>
              </a:rPr>
              <a:t>【図3】委託契約（請負）の構造マップ</a:t>
            </a:r>
            <a:endParaRPr b="0" i="0" sz="2400" u="none" cap="none" strike="noStrike">
              <a:solidFill>
                <a:schemeClr val="dk1"/>
              </a:solidFill>
              <a:latin typeface="Calibri"/>
              <a:ea typeface="Calibri"/>
              <a:cs typeface="Calibri"/>
              <a:sym typeface="Calibri"/>
            </a:endParaRPr>
          </a:p>
        </p:txBody>
      </p:sp>
      <p:pic>
        <p:nvPicPr>
          <p:cNvPr descr="c:\Users\sugiy\.antigravity\練習用\fig3_itaku.png" id="396" name="Google Shape;396;p18"/>
          <p:cNvPicPr preferRelativeResize="0"/>
          <p:nvPr/>
        </p:nvPicPr>
        <p:blipFill rotWithShape="1">
          <a:blip r:embed="rId3">
            <a:alphaModFix/>
          </a:blip>
          <a:srcRect b="0" l="0" r="0" t="0"/>
          <a:stretch/>
        </p:blipFill>
        <p:spPr>
          <a:xfrm>
            <a:off x="731520" y="914400"/>
            <a:ext cx="7680960" cy="374904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1" name="Shape 401"/>
        <p:cNvGrpSpPr/>
        <p:nvPr/>
      </p:nvGrpSpPr>
      <p:grpSpPr>
        <a:xfrm>
          <a:off x="0" y="0"/>
          <a:ext cx="0" cy="0"/>
          <a:chOff x="0" y="0"/>
          <a:chExt cx="0" cy="0"/>
        </a:xfrm>
      </p:grpSpPr>
      <p:sp>
        <p:nvSpPr>
          <p:cNvPr id="402" name="Google Shape;402;p19"/>
          <p:cNvSpPr/>
          <p:nvPr/>
        </p:nvSpPr>
        <p:spPr>
          <a:xfrm>
            <a:off x="731520" y="4709160"/>
            <a:ext cx="5486400" cy="320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18096"/>
              </a:buClr>
              <a:buSzPts val="1200"/>
              <a:buFont typeface="Meiryo"/>
              <a:buNone/>
            </a:pPr>
            <a:r>
              <a:rPr b="0" i="0" lang="en-US" sz="1200" u="none" cap="none" strike="noStrike">
                <a:solidFill>
                  <a:srgbClr val="718096"/>
                </a:solidFill>
                <a:latin typeface="Meiryo"/>
                <a:ea typeface="Meiryo"/>
                <a:cs typeface="Meiryo"/>
                <a:sym typeface="Meiryo"/>
              </a:rPr>
              <a:t>第3部 委託契約 ― 作品を納めるときの契約</a:t>
            </a:r>
            <a:endParaRPr b="0" i="0" sz="1200" u="none" cap="none" strike="noStrike">
              <a:solidFill>
                <a:schemeClr val="dk1"/>
              </a:solidFill>
              <a:latin typeface="Calibri"/>
              <a:ea typeface="Calibri"/>
              <a:cs typeface="Calibri"/>
              <a:sym typeface="Calibri"/>
            </a:endParaRPr>
          </a:p>
        </p:txBody>
      </p:sp>
      <p:sp>
        <p:nvSpPr>
          <p:cNvPr id="403" name="Google Shape;403;p19"/>
          <p:cNvSpPr/>
          <p:nvPr/>
        </p:nvSpPr>
        <p:spPr>
          <a:xfrm>
            <a:off x="7315200" y="4709160"/>
            <a:ext cx="1097400" cy="3201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718096"/>
              </a:buClr>
              <a:buSzPts val="1200"/>
              <a:buFont typeface="Meiryo"/>
              <a:buNone/>
            </a:pPr>
            <a:r>
              <a:rPr b="0" i="0" lang="en-US" sz="1200" u="none" cap="none" strike="noStrike">
                <a:solidFill>
                  <a:srgbClr val="718096"/>
                </a:solidFill>
                <a:latin typeface="Meiryo"/>
                <a:ea typeface="Meiryo"/>
                <a:cs typeface="Meiryo"/>
                <a:sym typeface="Meiryo"/>
              </a:rPr>
              <a:t>19 / 30</a:t>
            </a:r>
            <a:endParaRPr b="0" i="0" sz="1200" u="none" cap="none" strike="noStrike">
              <a:solidFill>
                <a:schemeClr val="dk1"/>
              </a:solidFill>
              <a:latin typeface="Calibri"/>
              <a:ea typeface="Calibri"/>
              <a:cs typeface="Calibri"/>
              <a:sym typeface="Calibri"/>
            </a:endParaRPr>
          </a:p>
        </p:txBody>
      </p:sp>
      <p:grpSp>
        <p:nvGrpSpPr>
          <p:cNvPr id="404" name="Google Shape;404;p19"/>
          <p:cNvGrpSpPr/>
          <p:nvPr/>
        </p:nvGrpSpPr>
        <p:grpSpPr>
          <a:xfrm>
            <a:off x="809625" y="1095375"/>
            <a:ext cx="2381400" cy="1190700"/>
            <a:chOff x="0" y="0"/>
            <a:chExt cx="2381400" cy="1190700"/>
          </a:xfrm>
        </p:grpSpPr>
        <p:sp>
          <p:nvSpPr>
            <p:cNvPr id="405" name="Google Shape;405;p19"/>
            <p:cNvSpPr/>
            <p:nvPr/>
          </p:nvSpPr>
          <p:spPr>
            <a:xfrm>
              <a:off x="0" y="0"/>
              <a:ext cx="2381400" cy="1190700"/>
            </a:xfrm>
            <a:prstGeom prst="roundRect">
              <a:avLst>
                <a:gd fmla="val 9600"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6" name="Google Shape;406;p19"/>
            <p:cNvSpPr/>
            <p:nvPr/>
          </p:nvSpPr>
          <p:spPr>
            <a:xfrm>
              <a:off x="0" y="0"/>
              <a:ext cx="2381400" cy="38100"/>
            </a:xfrm>
            <a:prstGeom prst="roundRect">
              <a:avLst>
                <a:gd fmla="val 5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7" name="Google Shape;407;p19"/>
            <p:cNvSpPr txBox="1"/>
            <p:nvPr/>
          </p:nvSpPr>
          <p:spPr>
            <a:xfrm>
              <a:off x="0" y="0"/>
              <a:ext cx="2381400" cy="1190700"/>
            </a:xfrm>
            <a:prstGeom prst="rect">
              <a:avLst/>
            </a:prstGeom>
            <a:noFill/>
            <a:ln>
              <a:noFill/>
            </a:ln>
          </p:spPr>
          <p:txBody>
            <a:bodyPr anchorCtr="0" anchor="ctr" bIns="152400" lIns="152400" spcFirstLastPara="1" rIns="152400" wrap="square" tIns="152400">
              <a:noAutofit/>
            </a:bodyPr>
            <a:lstStyle/>
            <a:p>
              <a:pPr indent="0" lvl="0" marL="0" rtl="0" algn="l">
                <a:spcBef>
                  <a:spcPts val="0"/>
                </a:spcBef>
                <a:spcAft>
                  <a:spcPts val="0"/>
                </a:spcAft>
                <a:buNone/>
              </a:pPr>
              <a:r>
                <a:rPr b="1" lang="en-US" sz="1100">
                  <a:solidFill>
                    <a:srgbClr val="2563EB"/>
                  </a:solidFill>
                  <a:latin typeface="Arial"/>
                  <a:ea typeface="Arial"/>
                  <a:cs typeface="Arial"/>
                  <a:sym typeface="Arial"/>
                </a:rPr>
                <a:t>CHECK 01</a:t>
              </a:r>
              <a:endParaRPr>
                <a:latin typeface="Arial"/>
                <a:ea typeface="Arial"/>
                <a:cs typeface="Arial"/>
                <a:sym typeface="Arial"/>
              </a:endParaRPr>
            </a:p>
            <a:p>
              <a:pPr indent="0" lvl="0" marL="0" rtl="0" algn="l">
                <a:spcBef>
                  <a:spcPts val="0"/>
                </a:spcBef>
                <a:spcAft>
                  <a:spcPts val="0"/>
                </a:spcAft>
                <a:buNone/>
              </a:pPr>
              <a:r>
                <a:rPr b="1" lang="en-US" sz="1500">
                  <a:solidFill>
                    <a:srgbClr val="1E293B"/>
                  </a:solidFill>
                  <a:latin typeface="Arial"/>
                  <a:ea typeface="Arial"/>
                  <a:cs typeface="Arial"/>
                  <a:sym typeface="Arial"/>
                </a:rPr>
                <a:t>仕様</a:t>
              </a:r>
              <a:endParaRPr b="1" sz="1500">
                <a:solidFill>
                  <a:srgbClr val="1E293B"/>
                </a:solidFill>
                <a:latin typeface="Arial"/>
                <a:ea typeface="Arial"/>
                <a:cs typeface="Arial"/>
                <a:sym typeface="Arial"/>
              </a:endParaRPr>
            </a:p>
            <a:p>
              <a:pPr indent="0" lvl="0" marL="0" rtl="0" algn="l">
                <a:spcBef>
                  <a:spcPts val="0"/>
                </a:spcBef>
                <a:spcAft>
                  <a:spcPts val="0"/>
                </a:spcAft>
                <a:buNone/>
              </a:pPr>
              <a:r>
                <a:rPr lang="en-US" sz="1050">
                  <a:solidFill>
                    <a:srgbClr val="64748B"/>
                  </a:solidFill>
                  <a:latin typeface="Arial"/>
                  <a:ea typeface="Arial"/>
                  <a:cs typeface="Arial"/>
                  <a:sym typeface="Arial"/>
                </a:rPr>
                <a:t>サイズ・尺・用途など</a:t>
              </a:r>
              <a:endParaRPr sz="1050">
                <a:solidFill>
                  <a:srgbClr val="64748B"/>
                </a:solidFill>
                <a:latin typeface="Arial"/>
                <a:ea typeface="Arial"/>
                <a:cs typeface="Arial"/>
                <a:sym typeface="Arial"/>
              </a:endParaRPr>
            </a:p>
          </p:txBody>
        </p:sp>
      </p:grpSp>
      <p:grpSp>
        <p:nvGrpSpPr>
          <p:cNvPr id="408" name="Google Shape;408;p19"/>
          <p:cNvGrpSpPr/>
          <p:nvPr/>
        </p:nvGrpSpPr>
        <p:grpSpPr>
          <a:xfrm>
            <a:off x="3381375" y="1095375"/>
            <a:ext cx="2381400" cy="1190700"/>
            <a:chOff x="0" y="0"/>
            <a:chExt cx="2381400" cy="1190700"/>
          </a:xfrm>
        </p:grpSpPr>
        <p:sp>
          <p:nvSpPr>
            <p:cNvPr id="409" name="Google Shape;409;p19"/>
            <p:cNvSpPr/>
            <p:nvPr/>
          </p:nvSpPr>
          <p:spPr>
            <a:xfrm>
              <a:off x="0" y="0"/>
              <a:ext cx="2381400" cy="1190700"/>
            </a:xfrm>
            <a:prstGeom prst="roundRect">
              <a:avLst>
                <a:gd fmla="val 9600"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0" name="Google Shape;410;p19"/>
            <p:cNvSpPr/>
            <p:nvPr/>
          </p:nvSpPr>
          <p:spPr>
            <a:xfrm>
              <a:off x="0" y="0"/>
              <a:ext cx="2381400" cy="38100"/>
            </a:xfrm>
            <a:prstGeom prst="roundRect">
              <a:avLst>
                <a:gd fmla="val 5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1" name="Google Shape;411;p19"/>
            <p:cNvSpPr txBox="1"/>
            <p:nvPr/>
          </p:nvSpPr>
          <p:spPr>
            <a:xfrm>
              <a:off x="0" y="0"/>
              <a:ext cx="2381400" cy="1190700"/>
            </a:xfrm>
            <a:prstGeom prst="rect">
              <a:avLst/>
            </a:prstGeom>
            <a:noFill/>
            <a:ln>
              <a:noFill/>
            </a:ln>
          </p:spPr>
          <p:txBody>
            <a:bodyPr anchorCtr="0" anchor="ctr" bIns="152400" lIns="152400" spcFirstLastPara="1" rIns="152400" wrap="square" tIns="152400">
              <a:noAutofit/>
            </a:bodyPr>
            <a:lstStyle/>
            <a:p>
              <a:pPr indent="0" lvl="0" marL="0" rtl="0" algn="l">
                <a:spcBef>
                  <a:spcPts val="0"/>
                </a:spcBef>
                <a:spcAft>
                  <a:spcPts val="0"/>
                </a:spcAft>
                <a:buNone/>
              </a:pPr>
              <a:r>
                <a:rPr b="1" lang="en-US" sz="1100">
                  <a:solidFill>
                    <a:srgbClr val="2563EB"/>
                  </a:solidFill>
                  <a:latin typeface="Arial"/>
                  <a:ea typeface="Arial"/>
                  <a:cs typeface="Arial"/>
                  <a:sym typeface="Arial"/>
                </a:rPr>
                <a:t>CHECK 02</a:t>
              </a:r>
              <a:endParaRPr>
                <a:latin typeface="Arial"/>
                <a:ea typeface="Arial"/>
                <a:cs typeface="Arial"/>
                <a:sym typeface="Arial"/>
              </a:endParaRPr>
            </a:p>
            <a:p>
              <a:pPr indent="0" lvl="0" marL="0" rtl="0" algn="l">
                <a:spcBef>
                  <a:spcPts val="0"/>
                </a:spcBef>
                <a:spcAft>
                  <a:spcPts val="0"/>
                </a:spcAft>
                <a:buNone/>
              </a:pPr>
              <a:r>
                <a:rPr b="1" lang="en-US" sz="1500">
                  <a:solidFill>
                    <a:srgbClr val="1E293B"/>
                  </a:solidFill>
                  <a:latin typeface="Arial"/>
                  <a:ea typeface="Arial"/>
                  <a:cs typeface="Arial"/>
                  <a:sym typeface="Arial"/>
                </a:rPr>
                <a:t>納期</a:t>
              </a:r>
              <a:endParaRPr b="1" sz="1500">
                <a:solidFill>
                  <a:srgbClr val="1E293B"/>
                </a:solidFill>
                <a:latin typeface="Arial"/>
                <a:ea typeface="Arial"/>
                <a:cs typeface="Arial"/>
                <a:sym typeface="Arial"/>
              </a:endParaRPr>
            </a:p>
            <a:p>
              <a:pPr indent="0" lvl="0" marL="0" rtl="0" algn="l">
                <a:spcBef>
                  <a:spcPts val="0"/>
                </a:spcBef>
                <a:spcAft>
                  <a:spcPts val="0"/>
                </a:spcAft>
                <a:buNone/>
              </a:pPr>
              <a:r>
                <a:rPr lang="en-US" sz="1050">
                  <a:solidFill>
                    <a:srgbClr val="64748B"/>
                  </a:solidFill>
                  <a:latin typeface="Arial"/>
                  <a:ea typeface="Arial"/>
                  <a:cs typeface="Arial"/>
                  <a:sym typeface="Arial"/>
                </a:rPr>
                <a:t>いつまでに納めるか</a:t>
              </a:r>
              <a:endParaRPr sz="1050">
                <a:solidFill>
                  <a:srgbClr val="64748B"/>
                </a:solidFill>
                <a:latin typeface="Arial"/>
                <a:ea typeface="Arial"/>
                <a:cs typeface="Arial"/>
                <a:sym typeface="Arial"/>
              </a:endParaRPr>
            </a:p>
          </p:txBody>
        </p:sp>
      </p:grpSp>
      <p:grpSp>
        <p:nvGrpSpPr>
          <p:cNvPr id="412" name="Google Shape;412;p19"/>
          <p:cNvGrpSpPr/>
          <p:nvPr/>
        </p:nvGrpSpPr>
        <p:grpSpPr>
          <a:xfrm>
            <a:off x="5953125" y="1095375"/>
            <a:ext cx="2381400" cy="1190700"/>
            <a:chOff x="0" y="0"/>
            <a:chExt cx="2381400" cy="1190700"/>
          </a:xfrm>
        </p:grpSpPr>
        <p:sp>
          <p:nvSpPr>
            <p:cNvPr id="413" name="Google Shape;413;p19"/>
            <p:cNvSpPr/>
            <p:nvPr/>
          </p:nvSpPr>
          <p:spPr>
            <a:xfrm>
              <a:off x="0" y="0"/>
              <a:ext cx="2381400" cy="1190700"/>
            </a:xfrm>
            <a:prstGeom prst="roundRect">
              <a:avLst>
                <a:gd fmla="val 9600"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4" name="Google Shape;414;p19"/>
            <p:cNvSpPr/>
            <p:nvPr/>
          </p:nvSpPr>
          <p:spPr>
            <a:xfrm>
              <a:off x="0" y="0"/>
              <a:ext cx="2381400" cy="38100"/>
            </a:xfrm>
            <a:prstGeom prst="roundRect">
              <a:avLst>
                <a:gd fmla="val 5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5" name="Google Shape;415;p19"/>
            <p:cNvSpPr txBox="1"/>
            <p:nvPr/>
          </p:nvSpPr>
          <p:spPr>
            <a:xfrm>
              <a:off x="0" y="0"/>
              <a:ext cx="2381400" cy="1190700"/>
            </a:xfrm>
            <a:prstGeom prst="rect">
              <a:avLst/>
            </a:prstGeom>
            <a:noFill/>
            <a:ln>
              <a:noFill/>
            </a:ln>
          </p:spPr>
          <p:txBody>
            <a:bodyPr anchorCtr="0" anchor="ctr" bIns="152400" lIns="152400" spcFirstLastPara="1" rIns="152400" wrap="square" tIns="152400">
              <a:noAutofit/>
            </a:bodyPr>
            <a:lstStyle/>
            <a:p>
              <a:pPr indent="0" lvl="0" marL="0" rtl="0" algn="l">
                <a:spcBef>
                  <a:spcPts val="0"/>
                </a:spcBef>
                <a:spcAft>
                  <a:spcPts val="0"/>
                </a:spcAft>
                <a:buNone/>
              </a:pPr>
              <a:r>
                <a:rPr b="1" lang="en-US" sz="1100">
                  <a:solidFill>
                    <a:srgbClr val="2563EB"/>
                  </a:solidFill>
                  <a:latin typeface="Arial"/>
                  <a:ea typeface="Arial"/>
                  <a:cs typeface="Arial"/>
                  <a:sym typeface="Arial"/>
                </a:rPr>
                <a:t>CHECK 03</a:t>
              </a:r>
              <a:endParaRPr>
                <a:latin typeface="Arial"/>
                <a:ea typeface="Arial"/>
                <a:cs typeface="Arial"/>
                <a:sym typeface="Arial"/>
              </a:endParaRPr>
            </a:p>
            <a:p>
              <a:pPr indent="0" lvl="0" marL="0" rtl="0" algn="l">
                <a:spcBef>
                  <a:spcPts val="0"/>
                </a:spcBef>
                <a:spcAft>
                  <a:spcPts val="0"/>
                </a:spcAft>
                <a:buNone/>
              </a:pPr>
              <a:r>
                <a:rPr b="1" lang="en-US" sz="1500">
                  <a:solidFill>
                    <a:srgbClr val="1E293B"/>
                  </a:solidFill>
                  <a:latin typeface="Arial"/>
                  <a:ea typeface="Arial"/>
                  <a:cs typeface="Arial"/>
                  <a:sym typeface="Arial"/>
                </a:rPr>
                <a:t>無料修正の回数</a:t>
              </a:r>
              <a:endParaRPr b="1" sz="1500">
                <a:solidFill>
                  <a:srgbClr val="1E293B"/>
                </a:solidFill>
                <a:latin typeface="Arial"/>
                <a:ea typeface="Arial"/>
                <a:cs typeface="Arial"/>
                <a:sym typeface="Arial"/>
              </a:endParaRPr>
            </a:p>
            <a:p>
              <a:pPr indent="0" lvl="0" marL="0" rtl="0" algn="l">
                <a:spcBef>
                  <a:spcPts val="0"/>
                </a:spcBef>
                <a:spcAft>
                  <a:spcPts val="0"/>
                </a:spcAft>
                <a:buNone/>
              </a:pPr>
              <a:r>
                <a:rPr lang="en-US" sz="1050">
                  <a:solidFill>
                    <a:srgbClr val="64748B"/>
                  </a:solidFill>
                  <a:latin typeface="Arial"/>
                  <a:ea typeface="Arial"/>
                  <a:cs typeface="Arial"/>
                  <a:sym typeface="Arial"/>
                </a:rPr>
                <a:t>何回まで対応可能か</a:t>
              </a:r>
              <a:endParaRPr sz="1050">
                <a:solidFill>
                  <a:srgbClr val="64748B"/>
                </a:solidFill>
                <a:latin typeface="Arial"/>
                <a:ea typeface="Arial"/>
                <a:cs typeface="Arial"/>
                <a:sym typeface="Arial"/>
              </a:endParaRPr>
            </a:p>
          </p:txBody>
        </p:sp>
      </p:grpSp>
      <p:grpSp>
        <p:nvGrpSpPr>
          <p:cNvPr id="416" name="Google Shape;416;p19"/>
          <p:cNvGrpSpPr/>
          <p:nvPr/>
        </p:nvGrpSpPr>
        <p:grpSpPr>
          <a:xfrm>
            <a:off x="809625" y="2428875"/>
            <a:ext cx="2381400" cy="1190700"/>
            <a:chOff x="0" y="0"/>
            <a:chExt cx="2381400" cy="1190700"/>
          </a:xfrm>
        </p:grpSpPr>
        <p:sp>
          <p:nvSpPr>
            <p:cNvPr id="417" name="Google Shape;417;p19"/>
            <p:cNvSpPr/>
            <p:nvPr/>
          </p:nvSpPr>
          <p:spPr>
            <a:xfrm>
              <a:off x="0" y="0"/>
              <a:ext cx="2381400" cy="1190700"/>
            </a:xfrm>
            <a:prstGeom prst="roundRect">
              <a:avLst>
                <a:gd fmla="val 9600"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8" name="Google Shape;418;p19"/>
            <p:cNvSpPr/>
            <p:nvPr/>
          </p:nvSpPr>
          <p:spPr>
            <a:xfrm>
              <a:off x="0" y="0"/>
              <a:ext cx="2381400" cy="38100"/>
            </a:xfrm>
            <a:prstGeom prst="roundRect">
              <a:avLst>
                <a:gd fmla="val 50000" name="adj"/>
              </a:avLst>
            </a:prstGeom>
            <a:solidFill>
              <a:srgbClr val="0D94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9" name="Google Shape;419;p19"/>
            <p:cNvSpPr txBox="1"/>
            <p:nvPr/>
          </p:nvSpPr>
          <p:spPr>
            <a:xfrm>
              <a:off x="0" y="0"/>
              <a:ext cx="2381400" cy="1190700"/>
            </a:xfrm>
            <a:prstGeom prst="rect">
              <a:avLst/>
            </a:prstGeom>
            <a:noFill/>
            <a:ln>
              <a:noFill/>
            </a:ln>
          </p:spPr>
          <p:txBody>
            <a:bodyPr anchorCtr="0" anchor="ctr" bIns="152400" lIns="152400" spcFirstLastPara="1" rIns="152400" wrap="square" tIns="152400">
              <a:noAutofit/>
            </a:bodyPr>
            <a:lstStyle/>
            <a:p>
              <a:pPr indent="0" lvl="0" marL="0" rtl="0" algn="l">
                <a:spcBef>
                  <a:spcPts val="0"/>
                </a:spcBef>
                <a:spcAft>
                  <a:spcPts val="0"/>
                </a:spcAft>
                <a:buNone/>
              </a:pPr>
              <a:r>
                <a:rPr b="1" lang="en-US" sz="1100">
                  <a:solidFill>
                    <a:srgbClr val="0D9488"/>
                  </a:solidFill>
                  <a:latin typeface="Arial"/>
                  <a:ea typeface="Arial"/>
                  <a:cs typeface="Arial"/>
                  <a:sym typeface="Arial"/>
                </a:rPr>
                <a:t>CHECK 04</a:t>
              </a:r>
              <a:endParaRPr>
                <a:latin typeface="Arial"/>
                <a:ea typeface="Arial"/>
                <a:cs typeface="Arial"/>
                <a:sym typeface="Arial"/>
              </a:endParaRPr>
            </a:p>
            <a:p>
              <a:pPr indent="0" lvl="0" marL="0" rtl="0" algn="l">
                <a:spcBef>
                  <a:spcPts val="0"/>
                </a:spcBef>
                <a:spcAft>
                  <a:spcPts val="0"/>
                </a:spcAft>
                <a:buNone/>
              </a:pPr>
              <a:r>
                <a:rPr b="1" lang="en-US" sz="1500">
                  <a:solidFill>
                    <a:srgbClr val="1E293B"/>
                  </a:solidFill>
                  <a:latin typeface="Arial"/>
                  <a:ea typeface="Arial"/>
                  <a:cs typeface="Arial"/>
                  <a:sym typeface="Arial"/>
                </a:rPr>
                <a:t>権利の帰属</a:t>
              </a:r>
              <a:endParaRPr b="1" sz="1500">
                <a:solidFill>
                  <a:srgbClr val="1E293B"/>
                </a:solidFill>
                <a:latin typeface="Arial"/>
                <a:ea typeface="Arial"/>
                <a:cs typeface="Arial"/>
                <a:sym typeface="Arial"/>
              </a:endParaRPr>
            </a:p>
            <a:p>
              <a:pPr indent="0" lvl="0" marL="0" rtl="0" algn="l">
                <a:spcBef>
                  <a:spcPts val="0"/>
                </a:spcBef>
                <a:spcAft>
                  <a:spcPts val="0"/>
                </a:spcAft>
                <a:buNone/>
              </a:pPr>
              <a:r>
                <a:rPr lang="en-US" sz="1050">
                  <a:solidFill>
                    <a:srgbClr val="64748B"/>
                  </a:solidFill>
                  <a:latin typeface="Arial"/>
                  <a:ea typeface="Arial"/>
                  <a:cs typeface="Arial"/>
                  <a:sym typeface="Arial"/>
                </a:rPr>
                <a:t>著作権は誰に移転するか</a:t>
              </a:r>
              <a:endParaRPr sz="1050">
                <a:solidFill>
                  <a:srgbClr val="64748B"/>
                </a:solidFill>
                <a:latin typeface="Arial"/>
                <a:ea typeface="Arial"/>
                <a:cs typeface="Arial"/>
                <a:sym typeface="Arial"/>
              </a:endParaRPr>
            </a:p>
          </p:txBody>
        </p:sp>
      </p:grpSp>
      <p:grpSp>
        <p:nvGrpSpPr>
          <p:cNvPr id="420" name="Google Shape;420;p19"/>
          <p:cNvGrpSpPr/>
          <p:nvPr/>
        </p:nvGrpSpPr>
        <p:grpSpPr>
          <a:xfrm>
            <a:off x="3381375" y="2428875"/>
            <a:ext cx="2381400" cy="1190700"/>
            <a:chOff x="0" y="0"/>
            <a:chExt cx="2381400" cy="1190700"/>
          </a:xfrm>
        </p:grpSpPr>
        <p:sp>
          <p:nvSpPr>
            <p:cNvPr id="421" name="Google Shape;421;p19"/>
            <p:cNvSpPr/>
            <p:nvPr/>
          </p:nvSpPr>
          <p:spPr>
            <a:xfrm>
              <a:off x="0" y="0"/>
              <a:ext cx="2381400" cy="1190700"/>
            </a:xfrm>
            <a:prstGeom prst="roundRect">
              <a:avLst>
                <a:gd fmla="val 9600"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2" name="Google Shape;422;p19"/>
            <p:cNvSpPr/>
            <p:nvPr/>
          </p:nvSpPr>
          <p:spPr>
            <a:xfrm>
              <a:off x="0" y="0"/>
              <a:ext cx="2381400" cy="38100"/>
            </a:xfrm>
            <a:prstGeom prst="roundRect">
              <a:avLst>
                <a:gd fmla="val 50000" name="adj"/>
              </a:avLst>
            </a:prstGeom>
            <a:solidFill>
              <a:srgbClr val="0D94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3" name="Google Shape;423;p19"/>
            <p:cNvSpPr txBox="1"/>
            <p:nvPr/>
          </p:nvSpPr>
          <p:spPr>
            <a:xfrm>
              <a:off x="0" y="0"/>
              <a:ext cx="2381400" cy="1190700"/>
            </a:xfrm>
            <a:prstGeom prst="rect">
              <a:avLst/>
            </a:prstGeom>
            <a:noFill/>
            <a:ln>
              <a:noFill/>
            </a:ln>
          </p:spPr>
          <p:txBody>
            <a:bodyPr anchorCtr="0" anchor="ctr" bIns="152400" lIns="152400" spcFirstLastPara="1" rIns="152400" wrap="square" tIns="152400">
              <a:noAutofit/>
            </a:bodyPr>
            <a:lstStyle/>
            <a:p>
              <a:pPr indent="0" lvl="0" marL="0" rtl="0" algn="l">
                <a:spcBef>
                  <a:spcPts val="0"/>
                </a:spcBef>
                <a:spcAft>
                  <a:spcPts val="0"/>
                </a:spcAft>
                <a:buNone/>
              </a:pPr>
              <a:r>
                <a:rPr b="1" lang="en-US" sz="1100">
                  <a:solidFill>
                    <a:srgbClr val="0D9488"/>
                  </a:solidFill>
                  <a:latin typeface="Arial"/>
                  <a:ea typeface="Arial"/>
                  <a:cs typeface="Arial"/>
                  <a:sym typeface="Arial"/>
                </a:rPr>
                <a:t>CHECK 05</a:t>
              </a:r>
              <a:endParaRPr>
                <a:latin typeface="Arial"/>
                <a:ea typeface="Arial"/>
                <a:cs typeface="Arial"/>
                <a:sym typeface="Arial"/>
              </a:endParaRPr>
            </a:p>
            <a:p>
              <a:pPr indent="0" lvl="0" marL="0" rtl="0" algn="l">
                <a:spcBef>
                  <a:spcPts val="0"/>
                </a:spcBef>
                <a:spcAft>
                  <a:spcPts val="0"/>
                </a:spcAft>
                <a:buNone/>
              </a:pPr>
              <a:r>
                <a:rPr b="1" lang="en-US" sz="1500">
                  <a:solidFill>
                    <a:srgbClr val="1E293B"/>
                  </a:solidFill>
                  <a:latin typeface="Arial"/>
                  <a:ea typeface="Arial"/>
                  <a:cs typeface="Arial"/>
                  <a:sym typeface="Arial"/>
                </a:rPr>
                <a:t>AI使用の開示</a:t>
              </a:r>
              <a:endParaRPr b="1" sz="1500">
                <a:solidFill>
                  <a:srgbClr val="1E293B"/>
                </a:solidFill>
                <a:latin typeface="Arial"/>
                <a:ea typeface="Arial"/>
                <a:cs typeface="Arial"/>
                <a:sym typeface="Arial"/>
              </a:endParaRPr>
            </a:p>
            <a:p>
              <a:pPr indent="0" lvl="0" marL="0" rtl="0" algn="l">
                <a:spcBef>
                  <a:spcPts val="0"/>
                </a:spcBef>
                <a:spcAft>
                  <a:spcPts val="0"/>
                </a:spcAft>
                <a:buNone/>
              </a:pPr>
              <a:r>
                <a:rPr lang="en-US" sz="1050">
                  <a:solidFill>
                    <a:srgbClr val="64748B"/>
                  </a:solidFill>
                  <a:latin typeface="Arial"/>
                  <a:ea typeface="Arial"/>
                  <a:cs typeface="Arial"/>
                  <a:sym typeface="Arial"/>
                </a:rPr>
                <a:t>隠さず利用状況を伝える</a:t>
              </a:r>
              <a:endParaRPr sz="1050">
                <a:solidFill>
                  <a:srgbClr val="64748B"/>
                </a:solidFill>
                <a:latin typeface="Arial"/>
                <a:ea typeface="Arial"/>
                <a:cs typeface="Arial"/>
                <a:sym typeface="Arial"/>
              </a:endParaRPr>
            </a:p>
          </p:txBody>
        </p:sp>
      </p:grpSp>
      <p:grpSp>
        <p:nvGrpSpPr>
          <p:cNvPr id="424" name="Google Shape;424;p19"/>
          <p:cNvGrpSpPr/>
          <p:nvPr/>
        </p:nvGrpSpPr>
        <p:grpSpPr>
          <a:xfrm>
            <a:off x="5953125" y="2428875"/>
            <a:ext cx="2381400" cy="1190700"/>
            <a:chOff x="0" y="0"/>
            <a:chExt cx="2381400" cy="1190700"/>
          </a:xfrm>
        </p:grpSpPr>
        <p:sp>
          <p:nvSpPr>
            <p:cNvPr id="425" name="Google Shape;425;p19"/>
            <p:cNvSpPr/>
            <p:nvPr/>
          </p:nvSpPr>
          <p:spPr>
            <a:xfrm>
              <a:off x="0" y="0"/>
              <a:ext cx="2381400" cy="1190700"/>
            </a:xfrm>
            <a:prstGeom prst="roundRect">
              <a:avLst>
                <a:gd fmla="val 9600"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6" name="Google Shape;426;p19"/>
            <p:cNvSpPr/>
            <p:nvPr/>
          </p:nvSpPr>
          <p:spPr>
            <a:xfrm>
              <a:off x="0" y="0"/>
              <a:ext cx="2381400" cy="38100"/>
            </a:xfrm>
            <a:prstGeom prst="roundRect">
              <a:avLst>
                <a:gd fmla="val 50000" name="adj"/>
              </a:avLst>
            </a:prstGeom>
            <a:solidFill>
              <a:srgbClr val="0D94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7" name="Google Shape;427;p19"/>
            <p:cNvSpPr txBox="1"/>
            <p:nvPr/>
          </p:nvSpPr>
          <p:spPr>
            <a:xfrm>
              <a:off x="0" y="0"/>
              <a:ext cx="2381400" cy="1190700"/>
            </a:xfrm>
            <a:prstGeom prst="rect">
              <a:avLst/>
            </a:prstGeom>
            <a:noFill/>
            <a:ln>
              <a:noFill/>
            </a:ln>
          </p:spPr>
          <p:txBody>
            <a:bodyPr anchorCtr="0" anchor="ctr" bIns="152400" lIns="152400" spcFirstLastPara="1" rIns="152400" wrap="square" tIns="152400">
              <a:noAutofit/>
            </a:bodyPr>
            <a:lstStyle/>
            <a:p>
              <a:pPr indent="0" lvl="0" marL="0" rtl="0" algn="l">
                <a:spcBef>
                  <a:spcPts val="0"/>
                </a:spcBef>
                <a:spcAft>
                  <a:spcPts val="0"/>
                </a:spcAft>
                <a:buNone/>
              </a:pPr>
              <a:r>
                <a:rPr b="1" lang="en-US" sz="1100">
                  <a:solidFill>
                    <a:srgbClr val="0D9488"/>
                  </a:solidFill>
                  <a:latin typeface="Arial"/>
                  <a:ea typeface="Arial"/>
                  <a:cs typeface="Arial"/>
                  <a:sym typeface="Arial"/>
                </a:rPr>
                <a:t>CHECK 06</a:t>
              </a:r>
              <a:endParaRPr>
                <a:latin typeface="Arial"/>
                <a:ea typeface="Arial"/>
                <a:cs typeface="Arial"/>
                <a:sym typeface="Arial"/>
              </a:endParaRPr>
            </a:p>
            <a:p>
              <a:pPr indent="0" lvl="0" marL="0" rtl="0" algn="l">
                <a:spcBef>
                  <a:spcPts val="0"/>
                </a:spcBef>
                <a:spcAft>
                  <a:spcPts val="0"/>
                </a:spcAft>
                <a:buNone/>
              </a:pPr>
              <a:r>
                <a:rPr b="1" lang="en-US" sz="1500">
                  <a:solidFill>
                    <a:srgbClr val="1E293B"/>
                  </a:solidFill>
                  <a:latin typeface="Arial"/>
                  <a:ea typeface="Arial"/>
                  <a:cs typeface="Arial"/>
                  <a:sym typeface="Arial"/>
                </a:rPr>
                <a:t>権利非侵害保証</a:t>
              </a:r>
              <a:endParaRPr b="1" sz="1500">
                <a:solidFill>
                  <a:srgbClr val="1E293B"/>
                </a:solidFill>
                <a:latin typeface="Arial"/>
                <a:ea typeface="Arial"/>
                <a:cs typeface="Arial"/>
                <a:sym typeface="Arial"/>
              </a:endParaRPr>
            </a:p>
            <a:p>
              <a:pPr indent="0" lvl="0" marL="0" rtl="0" algn="l">
                <a:spcBef>
                  <a:spcPts val="0"/>
                </a:spcBef>
                <a:spcAft>
                  <a:spcPts val="0"/>
                </a:spcAft>
                <a:buNone/>
              </a:pPr>
              <a:r>
                <a:rPr lang="en-US" sz="1050">
                  <a:solidFill>
                    <a:srgbClr val="64748B"/>
                  </a:solidFill>
                  <a:latin typeface="Arial"/>
                  <a:ea typeface="Arial"/>
                  <a:cs typeface="Arial"/>
                  <a:sym typeface="Arial"/>
                </a:rPr>
                <a:t>他者の権利を侵害しない約束</a:t>
              </a:r>
              <a:endParaRPr sz="1050">
                <a:solidFill>
                  <a:srgbClr val="64748B"/>
                </a:solidFill>
                <a:latin typeface="Arial"/>
                <a:ea typeface="Arial"/>
                <a:cs typeface="Arial"/>
                <a:sym typeface="Arial"/>
              </a:endParaRPr>
            </a:p>
          </p:txBody>
        </p:sp>
      </p:grpSp>
      <p:grpSp>
        <p:nvGrpSpPr>
          <p:cNvPr id="428" name="Google Shape;428;p19"/>
          <p:cNvGrpSpPr/>
          <p:nvPr/>
        </p:nvGrpSpPr>
        <p:grpSpPr>
          <a:xfrm>
            <a:off x="809625" y="3790950"/>
            <a:ext cx="7524900" cy="685800"/>
            <a:chOff x="0" y="0"/>
            <a:chExt cx="7524900" cy="685800"/>
          </a:xfrm>
        </p:grpSpPr>
        <p:sp>
          <p:nvSpPr>
            <p:cNvPr id="429" name="Google Shape;429;p19"/>
            <p:cNvSpPr/>
            <p:nvPr/>
          </p:nvSpPr>
          <p:spPr>
            <a:xfrm>
              <a:off x="0" y="0"/>
              <a:ext cx="7524900" cy="685800"/>
            </a:xfrm>
            <a:prstGeom prst="roundRect">
              <a:avLst>
                <a:gd fmla="val 16666" name="adj"/>
              </a:avLst>
            </a:prstGeom>
            <a:solidFill>
              <a:srgbClr val="EFF6FF"/>
            </a:solidFill>
            <a:ln cap="flat" cmpd="sng" w="14300">
              <a:solidFill>
                <a:srgbClr val="BFDB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0" name="Google Shape;430;p19"/>
            <p:cNvSpPr txBox="1"/>
            <p:nvPr/>
          </p:nvSpPr>
          <p:spPr>
            <a:xfrm>
              <a:off x="0" y="0"/>
              <a:ext cx="7524900" cy="685800"/>
            </a:xfrm>
            <a:prstGeom prst="rect">
              <a:avLst/>
            </a:prstGeom>
            <a:noFill/>
            <a:ln>
              <a:noFill/>
            </a:ln>
          </p:spPr>
          <p:txBody>
            <a:bodyPr anchorCtr="0" anchor="t" bIns="0" lIns="228600" spcFirstLastPara="1" rIns="228600" wrap="square" tIns="0">
              <a:noAutofit/>
            </a:bodyPr>
            <a:lstStyle/>
            <a:p>
              <a:pPr indent="0" lvl="0" marL="0" rtl="0" algn="ctr">
                <a:spcBef>
                  <a:spcPts val="0"/>
                </a:spcBef>
                <a:spcAft>
                  <a:spcPts val="0"/>
                </a:spcAft>
                <a:buNone/>
              </a:pPr>
              <a:r>
                <a:rPr lang="en-US" sz="2200">
                  <a:latin typeface="Arial"/>
                  <a:ea typeface="Arial"/>
                  <a:cs typeface="Arial"/>
                  <a:sym typeface="Arial"/>
                </a:rPr>
                <a:t>🛡️</a:t>
              </a:r>
              <a:r>
                <a:rPr b="1" lang="en-US" sz="1350">
                  <a:solidFill>
                    <a:srgbClr val="1E40AF"/>
                  </a:solidFill>
                  <a:latin typeface="Arial"/>
                  <a:ea typeface="Arial"/>
                  <a:cs typeface="Arial"/>
                  <a:sym typeface="Arial"/>
                </a:rPr>
                <a:t>契約書は自分たちを縛るものではなく、無理な要求から身を守る</a:t>
              </a:r>
              <a:r>
                <a:rPr b="1" lang="en-US" sz="1350">
                  <a:solidFill>
                    <a:srgbClr val="2563EB"/>
                  </a:solidFill>
                  <a:latin typeface="Arial"/>
                  <a:ea typeface="Arial"/>
                  <a:cs typeface="Arial"/>
                  <a:sym typeface="Arial"/>
                </a:rPr>
                <a:t>「防具（盾）」</a:t>
              </a:r>
              <a:r>
                <a:rPr b="1" lang="en-US" sz="1350">
                  <a:solidFill>
                    <a:srgbClr val="1E40AF"/>
                  </a:solidFill>
                  <a:latin typeface="Arial"/>
                  <a:ea typeface="Arial"/>
                  <a:cs typeface="Arial"/>
                  <a:sym typeface="Arial"/>
                </a:rPr>
                <a:t>です！</a:t>
              </a:r>
              <a:endParaRPr>
                <a:latin typeface="Arial"/>
                <a:ea typeface="Arial"/>
                <a:cs typeface="Arial"/>
                <a:sym typeface="Arial"/>
              </a:endParaRPr>
            </a:p>
          </p:txBody>
        </p:sp>
      </p:grpSp>
      <p:sp>
        <p:nvSpPr>
          <p:cNvPr id="431" name="Google Shape;431;p19"/>
          <p:cNvSpPr/>
          <p:nvPr/>
        </p:nvSpPr>
        <p:spPr>
          <a:xfrm>
            <a:off x="809625" y="400050"/>
            <a:ext cx="7524900" cy="533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2400">
                <a:solidFill>
                  <a:srgbClr val="0F172A"/>
                </a:solidFill>
                <a:latin typeface="Arial"/>
                <a:ea typeface="Arial"/>
                <a:cs typeface="Arial"/>
                <a:sym typeface="Arial"/>
              </a:rPr>
              <a:t>契約書で決められている内容 ― </a:t>
            </a:r>
            <a:r>
              <a:rPr b="1" lang="en-US" sz="2400">
                <a:solidFill>
                  <a:srgbClr val="2563EB"/>
                </a:solidFill>
                <a:latin typeface="Arial"/>
                <a:ea typeface="Arial"/>
                <a:cs typeface="Arial"/>
                <a:sym typeface="Arial"/>
              </a:rPr>
              <a:t>6つのチェックリスト</a:t>
            </a:r>
            <a:endParaRPr b="1" sz="2400">
              <a:solidFill>
                <a:srgbClr val="0F172A"/>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6" name="Shape 436"/>
        <p:cNvGrpSpPr/>
        <p:nvPr/>
      </p:nvGrpSpPr>
      <p:grpSpPr>
        <a:xfrm>
          <a:off x="0" y="0"/>
          <a:ext cx="0" cy="0"/>
          <a:chOff x="0" y="0"/>
          <a:chExt cx="0" cy="0"/>
        </a:xfrm>
      </p:grpSpPr>
      <p:sp>
        <p:nvSpPr>
          <p:cNvPr id="437" name="Google Shape;437;p20"/>
          <p:cNvSpPr/>
          <p:nvPr/>
        </p:nvSpPr>
        <p:spPr>
          <a:xfrm>
            <a:off x="731520" y="4709160"/>
            <a:ext cx="5486400" cy="320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18096"/>
              </a:buClr>
              <a:buSzPts val="1200"/>
              <a:buFont typeface="Meiryo"/>
              <a:buNone/>
            </a:pPr>
            <a:r>
              <a:rPr b="0" i="0" lang="en-US" sz="1200" u="none" cap="none" strike="noStrike">
                <a:solidFill>
                  <a:srgbClr val="718096"/>
                </a:solidFill>
                <a:latin typeface="Meiryo"/>
                <a:ea typeface="Meiryo"/>
                <a:cs typeface="Meiryo"/>
                <a:sym typeface="Meiryo"/>
              </a:rPr>
              <a:t>第3部 委託契約 ― 作品を納めるときの契約</a:t>
            </a:r>
            <a:endParaRPr b="0" i="0" sz="1200" u="none" cap="none" strike="noStrike">
              <a:solidFill>
                <a:schemeClr val="dk1"/>
              </a:solidFill>
              <a:latin typeface="Calibri"/>
              <a:ea typeface="Calibri"/>
              <a:cs typeface="Calibri"/>
              <a:sym typeface="Calibri"/>
            </a:endParaRPr>
          </a:p>
        </p:txBody>
      </p:sp>
      <p:sp>
        <p:nvSpPr>
          <p:cNvPr id="438" name="Google Shape;438;p20"/>
          <p:cNvSpPr/>
          <p:nvPr/>
        </p:nvSpPr>
        <p:spPr>
          <a:xfrm>
            <a:off x="7315200" y="4709160"/>
            <a:ext cx="1097400" cy="3201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718096"/>
              </a:buClr>
              <a:buSzPts val="1200"/>
              <a:buFont typeface="Meiryo"/>
              <a:buNone/>
            </a:pPr>
            <a:r>
              <a:rPr b="0" i="0" lang="en-US" sz="1200" u="none" cap="none" strike="noStrike">
                <a:solidFill>
                  <a:srgbClr val="718096"/>
                </a:solidFill>
                <a:latin typeface="Meiryo"/>
                <a:ea typeface="Meiryo"/>
                <a:cs typeface="Meiryo"/>
                <a:sym typeface="Meiryo"/>
              </a:rPr>
              <a:t>20 / 30</a:t>
            </a:r>
            <a:endParaRPr b="0" i="0" sz="1200" u="none" cap="none" strike="noStrike">
              <a:solidFill>
                <a:schemeClr val="dk1"/>
              </a:solidFill>
              <a:latin typeface="Calibri"/>
              <a:ea typeface="Calibri"/>
              <a:cs typeface="Calibri"/>
              <a:sym typeface="Calibri"/>
            </a:endParaRPr>
          </a:p>
        </p:txBody>
      </p:sp>
      <p:sp>
        <p:nvSpPr>
          <p:cNvPr id="439" name="Google Shape;439;p20"/>
          <p:cNvSpPr/>
          <p:nvPr/>
        </p:nvSpPr>
        <p:spPr>
          <a:xfrm>
            <a:off x="731520" y="457200"/>
            <a:ext cx="76809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02C"/>
              </a:buClr>
              <a:buSzPts val="2600"/>
              <a:buFont typeface="Meiryo"/>
              <a:buNone/>
            </a:pPr>
            <a:r>
              <a:rPr b="1" i="0" lang="en-US" sz="2600" u="none" cap="none" strike="noStrike">
                <a:solidFill>
                  <a:srgbClr val="1A202C"/>
                </a:solidFill>
                <a:latin typeface="Meiryo"/>
                <a:ea typeface="Meiryo"/>
                <a:cs typeface="Meiryo"/>
                <a:sym typeface="Meiryo"/>
              </a:rPr>
              <a:t>達成できなかったら？ ― 役割分担と安心のチーム</a:t>
            </a:r>
            <a:endParaRPr b="0" i="0" sz="2600" u="none" cap="none" strike="noStrike">
              <a:solidFill>
                <a:schemeClr val="dk1"/>
              </a:solidFill>
              <a:latin typeface="Calibri"/>
              <a:ea typeface="Calibri"/>
              <a:cs typeface="Calibri"/>
              <a:sym typeface="Calibri"/>
            </a:endParaRPr>
          </a:p>
        </p:txBody>
      </p:sp>
      <p:sp>
        <p:nvSpPr>
          <p:cNvPr id="440" name="Google Shape;440;p20"/>
          <p:cNvSpPr/>
          <p:nvPr/>
        </p:nvSpPr>
        <p:spPr>
          <a:xfrm>
            <a:off x="731520" y="1181100"/>
            <a:ext cx="3695700" cy="3314700"/>
          </a:xfrm>
          <a:prstGeom prst="roundRect">
            <a:avLst>
              <a:gd fmla="val 4597" name="adj"/>
            </a:avLst>
          </a:prstGeom>
          <a:solidFill>
            <a:srgbClr val="FFF5F5"/>
          </a:solidFill>
          <a:ln cap="flat" cmpd="sng" w="19050">
            <a:solidFill>
              <a:srgbClr val="EF444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1" name="Google Shape;441;p20"/>
          <p:cNvSpPr/>
          <p:nvPr/>
        </p:nvSpPr>
        <p:spPr>
          <a:xfrm>
            <a:off x="876300" y="1333500"/>
            <a:ext cx="34062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800">
                <a:solidFill>
                  <a:srgbClr val="DC2626"/>
                </a:solidFill>
                <a:latin typeface="Arial"/>
                <a:ea typeface="Arial"/>
                <a:cs typeface="Arial"/>
                <a:sym typeface="Arial"/>
              </a:rPr>
              <a:t>⚠️ 債務不履行のリスク</a:t>
            </a:r>
            <a:endParaRPr b="1" sz="1800">
              <a:solidFill>
                <a:srgbClr val="DC2626"/>
              </a:solidFill>
              <a:latin typeface="Arial"/>
              <a:ea typeface="Arial"/>
              <a:cs typeface="Arial"/>
              <a:sym typeface="Arial"/>
            </a:endParaRPr>
          </a:p>
        </p:txBody>
      </p:sp>
      <p:sp>
        <p:nvSpPr>
          <p:cNvPr id="442" name="Google Shape;442;p20"/>
          <p:cNvSpPr/>
          <p:nvPr/>
        </p:nvSpPr>
        <p:spPr>
          <a:xfrm>
            <a:off x="933450" y="1809750"/>
            <a:ext cx="3291900" cy="24957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1250">
                <a:solidFill>
                  <a:srgbClr val="1E293B"/>
                </a:solidFill>
                <a:latin typeface="Arial"/>
                <a:ea typeface="Arial"/>
                <a:cs typeface="Arial"/>
                <a:sym typeface="Arial"/>
              </a:rPr>
              <a:t>・納期遅れ／仕様違い／修正超過</a:t>
            </a:r>
            <a:endParaRPr b="1" sz="1250">
              <a:solidFill>
                <a:srgbClr val="1E293B"/>
              </a:solidFill>
              <a:latin typeface="Arial"/>
              <a:ea typeface="Arial"/>
              <a:cs typeface="Arial"/>
              <a:sym typeface="Arial"/>
            </a:endParaRPr>
          </a:p>
          <a:p>
            <a:pPr indent="0" lvl="0" marL="0" rtl="0" algn="l">
              <a:spcBef>
                <a:spcPts val="300"/>
              </a:spcBef>
              <a:spcAft>
                <a:spcPts val="0"/>
              </a:spcAft>
              <a:buNone/>
            </a:pPr>
            <a:r>
              <a:rPr b="1" lang="en-US" sz="1250">
                <a:solidFill>
                  <a:srgbClr val="DC2626"/>
                </a:solidFill>
                <a:latin typeface="Arial"/>
                <a:ea typeface="Arial"/>
                <a:cs typeface="Arial"/>
                <a:sym typeface="Arial"/>
              </a:rPr>
              <a:t>➔「債務不履行」</a:t>
            </a:r>
            <a:endParaRPr b="1" sz="1250">
              <a:solidFill>
                <a:srgbClr val="DC2626"/>
              </a:solidFill>
              <a:latin typeface="Arial"/>
              <a:ea typeface="Arial"/>
              <a:cs typeface="Arial"/>
              <a:sym typeface="Arial"/>
            </a:endParaRPr>
          </a:p>
          <a:p>
            <a:pPr indent="0" lvl="0" marL="0" rtl="0" algn="l">
              <a:spcBef>
                <a:spcPts val="1200"/>
              </a:spcBef>
              <a:spcAft>
                <a:spcPts val="0"/>
              </a:spcAft>
              <a:buNone/>
            </a:pPr>
            <a:r>
              <a:rPr b="0" lang="en-US" sz="1250">
                <a:solidFill>
                  <a:srgbClr val="1E293B"/>
                </a:solidFill>
                <a:latin typeface="Arial"/>
                <a:ea typeface="Arial"/>
                <a:cs typeface="Arial"/>
                <a:sym typeface="Arial"/>
              </a:rPr>
              <a:t>・損害賠償請求や契約解除のリスク</a:t>
            </a:r>
            <a:endParaRPr b="0" sz="1250">
              <a:solidFill>
                <a:srgbClr val="1E293B"/>
              </a:solidFill>
              <a:latin typeface="Arial"/>
              <a:ea typeface="Arial"/>
              <a:cs typeface="Arial"/>
              <a:sym typeface="Arial"/>
            </a:endParaRPr>
          </a:p>
          <a:p>
            <a:pPr indent="0" lvl="0" marL="0" rtl="0" algn="ctr">
              <a:spcBef>
                <a:spcPts val="1500"/>
              </a:spcBef>
              <a:spcAft>
                <a:spcPts val="0"/>
              </a:spcAft>
              <a:buNone/>
            </a:pPr>
            <a:r>
              <a:rPr b="1" lang="en-US" sz="1150">
                <a:solidFill>
                  <a:srgbClr val="991B1B"/>
                </a:solidFill>
                <a:latin typeface="Arial"/>
                <a:ea typeface="Arial"/>
                <a:cs typeface="Arial"/>
                <a:sym typeface="Arial"/>
              </a:rPr>
              <a:t>❌「AIで作ったから」は理由にならない</a:t>
            </a:r>
            <a:br>
              <a:rPr b="1" lang="en-US" sz="1150">
                <a:solidFill>
                  <a:srgbClr val="991B1B"/>
                </a:solidFill>
                <a:latin typeface="Arial"/>
                <a:ea typeface="Arial"/>
                <a:cs typeface="Arial"/>
                <a:sym typeface="Arial"/>
              </a:rPr>
            </a:br>
            <a:r>
              <a:rPr b="0" lang="en-US" sz="1050">
                <a:solidFill>
                  <a:srgbClr val="B91C1C"/>
                </a:solidFill>
                <a:latin typeface="Arial"/>
                <a:ea typeface="Arial"/>
                <a:cs typeface="Arial"/>
                <a:sym typeface="Arial"/>
              </a:rPr>
              <a:t>約束は人間が守るもの！</a:t>
            </a:r>
            <a:endParaRPr b="1" sz="1150">
              <a:solidFill>
                <a:srgbClr val="991B1B"/>
              </a:solidFill>
              <a:latin typeface="Arial"/>
              <a:ea typeface="Arial"/>
              <a:cs typeface="Arial"/>
              <a:sym typeface="Arial"/>
            </a:endParaRPr>
          </a:p>
        </p:txBody>
      </p:sp>
      <p:sp>
        <p:nvSpPr>
          <p:cNvPr id="443" name="Google Shape;443;p20"/>
          <p:cNvSpPr/>
          <p:nvPr/>
        </p:nvSpPr>
        <p:spPr>
          <a:xfrm>
            <a:off x="4716780" y="1181100"/>
            <a:ext cx="3695700" cy="3314700"/>
          </a:xfrm>
          <a:prstGeom prst="roundRect">
            <a:avLst>
              <a:gd fmla="val 4597" name="adj"/>
            </a:avLst>
          </a:prstGeom>
          <a:solidFill>
            <a:srgbClr val="EFF6FF"/>
          </a:solidFill>
          <a:ln cap="flat" cmpd="sng" w="19050">
            <a:solidFill>
              <a:srgbClr val="3B82F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4" name="Google Shape;444;p20"/>
          <p:cNvSpPr/>
          <p:nvPr/>
        </p:nvSpPr>
        <p:spPr>
          <a:xfrm>
            <a:off x="4857750" y="1333500"/>
            <a:ext cx="34062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800">
                <a:solidFill>
                  <a:srgbClr val="2563EB"/>
                </a:solidFill>
                <a:latin typeface="Arial"/>
                <a:ea typeface="Arial"/>
                <a:cs typeface="Arial"/>
                <a:sym typeface="Arial"/>
              </a:rPr>
              <a:t>🛡️ だから事業所がある！</a:t>
            </a:r>
            <a:endParaRPr b="1" sz="1800">
              <a:solidFill>
                <a:srgbClr val="2563EB"/>
              </a:solidFill>
              <a:latin typeface="Arial"/>
              <a:ea typeface="Arial"/>
              <a:cs typeface="Arial"/>
              <a:sym typeface="Arial"/>
            </a:endParaRPr>
          </a:p>
        </p:txBody>
      </p:sp>
      <p:sp>
        <p:nvSpPr>
          <p:cNvPr id="445" name="Google Shape;445;p20"/>
          <p:cNvSpPr/>
          <p:nvPr/>
        </p:nvSpPr>
        <p:spPr>
          <a:xfrm>
            <a:off x="4914900" y="1809750"/>
            <a:ext cx="3291900" cy="24957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1250">
                <a:solidFill>
                  <a:srgbClr val="1E293B"/>
                </a:solidFill>
                <a:latin typeface="Arial"/>
                <a:ea typeface="Arial"/>
                <a:cs typeface="Arial"/>
                <a:sym typeface="Arial"/>
              </a:rPr>
              <a:t>・利用者が一人で法的責任を負わない</a:t>
            </a:r>
            <a:endParaRPr b="1" sz="1250">
              <a:solidFill>
                <a:srgbClr val="1E293B"/>
              </a:solidFill>
              <a:latin typeface="Arial"/>
              <a:ea typeface="Arial"/>
              <a:cs typeface="Arial"/>
              <a:sym typeface="Arial"/>
            </a:endParaRPr>
          </a:p>
          <a:p>
            <a:pPr indent="0" lvl="0" marL="0" rtl="0" algn="l">
              <a:spcBef>
                <a:spcPts val="1050"/>
              </a:spcBef>
              <a:spcAft>
                <a:spcPts val="0"/>
              </a:spcAft>
              <a:buNone/>
            </a:pPr>
            <a:r>
              <a:rPr b="0" lang="en-US" sz="1250">
                <a:solidFill>
                  <a:srgbClr val="1E293B"/>
                </a:solidFill>
                <a:latin typeface="Arial"/>
                <a:ea typeface="Arial"/>
                <a:cs typeface="Arial"/>
                <a:sym typeface="Arial"/>
              </a:rPr>
              <a:t>・事業所が企業としっかり契約書を結び、納期や仕様を管理・調整している</a:t>
            </a:r>
            <a:endParaRPr b="0" sz="1250">
              <a:solidFill>
                <a:srgbClr val="1E293B"/>
              </a:solidFill>
              <a:latin typeface="Arial"/>
              <a:ea typeface="Arial"/>
              <a:cs typeface="Arial"/>
              <a:sym typeface="Arial"/>
            </a:endParaRPr>
          </a:p>
          <a:p>
            <a:pPr indent="0" lvl="0" marL="0" rtl="0" algn="ctr">
              <a:spcBef>
                <a:spcPts val="1500"/>
              </a:spcBef>
              <a:spcAft>
                <a:spcPts val="0"/>
              </a:spcAft>
              <a:buNone/>
            </a:pPr>
            <a:r>
              <a:rPr b="1" lang="en-US" sz="1150">
                <a:solidFill>
                  <a:srgbClr val="1E40AF"/>
                </a:solidFill>
                <a:latin typeface="Arial"/>
                <a:ea typeface="Arial"/>
                <a:cs typeface="Arial"/>
                <a:sym typeface="Arial"/>
              </a:rPr>
              <a:t>👉 皆さんは守られた環境の中で、</a:t>
            </a:r>
            <a:br>
              <a:rPr b="1" lang="en-US" sz="1150">
                <a:solidFill>
                  <a:srgbClr val="1E40AF"/>
                </a:solidFill>
                <a:latin typeface="Arial"/>
                <a:ea typeface="Arial"/>
                <a:cs typeface="Arial"/>
                <a:sym typeface="Arial"/>
              </a:rPr>
            </a:br>
            <a:r>
              <a:rPr b="1" lang="en-US" sz="1150">
                <a:solidFill>
                  <a:srgbClr val="1D4ED8"/>
                </a:solidFill>
                <a:latin typeface="Arial"/>
                <a:ea typeface="Arial"/>
                <a:cs typeface="Arial"/>
                <a:sym typeface="Arial"/>
              </a:rPr>
              <a:t>安心して制作に集中できます！</a:t>
            </a:r>
            <a:endParaRPr b="1" sz="1150">
              <a:solidFill>
                <a:srgbClr val="1E40AF"/>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0" name="Shape 450"/>
        <p:cNvGrpSpPr/>
        <p:nvPr/>
      </p:nvGrpSpPr>
      <p:grpSpPr>
        <a:xfrm>
          <a:off x="0" y="0"/>
          <a:ext cx="0" cy="0"/>
          <a:chOff x="0" y="0"/>
          <a:chExt cx="0" cy="0"/>
        </a:xfrm>
      </p:grpSpPr>
      <p:sp>
        <p:nvSpPr>
          <p:cNvPr id="451" name="Google Shape;451;p21"/>
          <p:cNvSpPr/>
          <p:nvPr/>
        </p:nvSpPr>
        <p:spPr>
          <a:xfrm>
            <a:off x="731520" y="4709160"/>
            <a:ext cx="5486400" cy="320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18096"/>
              </a:buClr>
              <a:buSzPts val="1200"/>
              <a:buFont typeface="Meiryo"/>
              <a:buNone/>
            </a:pPr>
            <a:r>
              <a:rPr b="0" i="0" lang="en-US" sz="1200" u="none" cap="none" strike="noStrike">
                <a:solidFill>
                  <a:srgbClr val="718096"/>
                </a:solidFill>
                <a:latin typeface="Meiryo"/>
                <a:ea typeface="Meiryo"/>
                <a:cs typeface="Meiryo"/>
                <a:sym typeface="Meiryo"/>
              </a:rPr>
              <a:t>第3部 委託契約 ― 作品を納めるときの契約</a:t>
            </a:r>
            <a:endParaRPr b="0" i="0" sz="1200" u="none" cap="none" strike="noStrike">
              <a:solidFill>
                <a:schemeClr val="dk1"/>
              </a:solidFill>
              <a:latin typeface="Calibri"/>
              <a:ea typeface="Calibri"/>
              <a:cs typeface="Calibri"/>
              <a:sym typeface="Calibri"/>
            </a:endParaRPr>
          </a:p>
        </p:txBody>
      </p:sp>
      <p:sp>
        <p:nvSpPr>
          <p:cNvPr id="452" name="Google Shape;452;p21"/>
          <p:cNvSpPr/>
          <p:nvPr/>
        </p:nvSpPr>
        <p:spPr>
          <a:xfrm>
            <a:off x="7315200" y="4709160"/>
            <a:ext cx="1097400" cy="3201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718096"/>
              </a:buClr>
              <a:buSzPts val="1200"/>
              <a:buFont typeface="Meiryo"/>
              <a:buNone/>
            </a:pPr>
            <a:r>
              <a:rPr b="0" i="0" lang="en-US" sz="1200" u="none" cap="none" strike="noStrike">
                <a:solidFill>
                  <a:srgbClr val="718096"/>
                </a:solidFill>
                <a:latin typeface="Meiryo"/>
                <a:ea typeface="Meiryo"/>
                <a:cs typeface="Meiryo"/>
                <a:sym typeface="Meiryo"/>
              </a:rPr>
              <a:t>21 / 30</a:t>
            </a:r>
            <a:endParaRPr b="0" i="0" sz="1200" u="none" cap="none" strike="noStrike">
              <a:solidFill>
                <a:schemeClr val="dk1"/>
              </a:solidFill>
              <a:latin typeface="Calibri"/>
              <a:ea typeface="Calibri"/>
              <a:cs typeface="Calibri"/>
              <a:sym typeface="Calibri"/>
            </a:endParaRPr>
          </a:p>
        </p:txBody>
      </p:sp>
      <p:sp>
        <p:nvSpPr>
          <p:cNvPr id="453" name="Google Shape;453;p21"/>
          <p:cNvSpPr/>
          <p:nvPr/>
        </p:nvSpPr>
        <p:spPr>
          <a:xfrm>
            <a:off x="731520" y="457200"/>
            <a:ext cx="76809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02C"/>
              </a:buClr>
              <a:buSzPts val="2600"/>
              <a:buFont typeface="Meiryo"/>
              <a:buNone/>
            </a:pPr>
            <a:r>
              <a:rPr b="1" i="0" lang="en-US" sz="2600" u="none" cap="none" strike="noStrike">
                <a:solidFill>
                  <a:srgbClr val="1A202C"/>
                </a:solidFill>
                <a:latin typeface="Meiryo"/>
                <a:ea typeface="Meiryo"/>
                <a:cs typeface="Meiryo"/>
                <a:sym typeface="Meiryo"/>
              </a:rPr>
              <a:t>仕事の流れ（履行フロー）と知っておきたい「偽装請負」</a:t>
            </a:r>
            <a:endParaRPr b="0" i="0" sz="2600" u="none" cap="none" strike="noStrike">
              <a:solidFill>
                <a:schemeClr val="dk1"/>
              </a:solidFill>
              <a:latin typeface="Calibri"/>
              <a:ea typeface="Calibri"/>
              <a:cs typeface="Calibri"/>
              <a:sym typeface="Calibri"/>
            </a:endParaRPr>
          </a:p>
        </p:txBody>
      </p:sp>
      <p:sp>
        <p:nvSpPr>
          <p:cNvPr id="454" name="Google Shape;454;p21"/>
          <p:cNvSpPr/>
          <p:nvPr/>
        </p:nvSpPr>
        <p:spPr>
          <a:xfrm>
            <a:off x="731520" y="1047750"/>
            <a:ext cx="7680900" cy="1143000"/>
          </a:xfrm>
          <a:prstGeom prst="roundRect">
            <a:avLst>
              <a:gd fmla="val 13333" name="adj"/>
            </a:avLst>
          </a:prstGeom>
          <a:solidFill>
            <a:srgbClr val="EFF6FF"/>
          </a:solidFill>
          <a:ln cap="flat" cmpd="sng" w="19050">
            <a:solidFill>
              <a:srgbClr val="2563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5" name="Google Shape;455;p21"/>
          <p:cNvSpPr/>
          <p:nvPr/>
        </p:nvSpPr>
        <p:spPr>
          <a:xfrm>
            <a:off x="914400" y="1123950"/>
            <a:ext cx="7315200" cy="266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400">
                <a:solidFill>
                  <a:srgbClr val="1E40AF"/>
                </a:solidFill>
                <a:latin typeface="Arial"/>
                <a:ea typeface="Arial"/>
                <a:cs typeface="Arial"/>
                <a:sym typeface="Arial"/>
              </a:rPr>
              <a:t>🏁 履行の流れ（ビジネスの一連のサイクル）</a:t>
            </a:r>
            <a:endParaRPr b="1" sz="1400">
              <a:solidFill>
                <a:srgbClr val="1E40AF"/>
              </a:solidFill>
              <a:latin typeface="Arial"/>
              <a:ea typeface="Arial"/>
              <a:cs typeface="Arial"/>
              <a:sym typeface="Arial"/>
            </a:endParaRPr>
          </a:p>
        </p:txBody>
      </p:sp>
      <p:grpSp>
        <p:nvGrpSpPr>
          <p:cNvPr id="456" name="Google Shape;456;p21"/>
          <p:cNvGrpSpPr/>
          <p:nvPr/>
        </p:nvGrpSpPr>
        <p:grpSpPr>
          <a:xfrm>
            <a:off x="876300" y="1428750"/>
            <a:ext cx="7391400" cy="619200"/>
            <a:chOff x="0" y="0"/>
            <a:chExt cx="7391400" cy="619200"/>
          </a:xfrm>
        </p:grpSpPr>
        <p:grpSp>
          <p:nvGrpSpPr>
            <p:cNvPr id="457" name="Google Shape;457;p21"/>
            <p:cNvGrpSpPr/>
            <p:nvPr/>
          </p:nvGrpSpPr>
          <p:grpSpPr>
            <a:xfrm>
              <a:off x="0" y="0"/>
              <a:ext cx="1124100" cy="619200"/>
              <a:chOff x="0" y="0"/>
              <a:chExt cx="1124100" cy="619200"/>
            </a:xfrm>
          </p:grpSpPr>
          <p:sp>
            <p:nvSpPr>
              <p:cNvPr id="458" name="Google Shape;458;p21"/>
              <p:cNvSpPr/>
              <p:nvPr/>
            </p:nvSpPr>
            <p:spPr>
              <a:xfrm>
                <a:off x="0" y="0"/>
                <a:ext cx="1124100" cy="619200"/>
              </a:xfrm>
              <a:prstGeom prst="roundRect">
                <a:avLst>
                  <a:gd fmla="val 15384" name="adj"/>
                </a:avLst>
              </a:prstGeom>
              <a:solidFill>
                <a:srgbClr val="FFFFFF"/>
              </a:solidFill>
              <a:ln cap="flat" cmpd="sng" w="14300">
                <a:solidFill>
                  <a:srgbClr val="BFDB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9" name="Google Shape;459;p21"/>
              <p:cNvSpPr txBox="1"/>
              <p:nvPr/>
            </p:nvSpPr>
            <p:spPr>
              <a:xfrm>
                <a:off x="0" y="0"/>
                <a:ext cx="1124100" cy="619200"/>
              </a:xfrm>
              <a:prstGeom prst="rect">
                <a:avLst/>
              </a:prstGeom>
              <a:noFill/>
              <a:ln>
                <a:noFill/>
              </a:ln>
            </p:spPr>
            <p:txBody>
              <a:bodyPr anchorCtr="0" anchor="ctr" bIns="38100" lIns="38100" spcFirstLastPara="1" rIns="38100" wrap="square" tIns="38100">
                <a:noAutofit/>
              </a:bodyPr>
              <a:lstStyle/>
              <a:p>
                <a:pPr indent="0" lvl="0" marL="0" rtl="0" algn="ctr">
                  <a:spcBef>
                    <a:spcPts val="0"/>
                  </a:spcBef>
                  <a:spcAft>
                    <a:spcPts val="0"/>
                  </a:spcAft>
                  <a:buNone/>
                </a:pPr>
                <a:r>
                  <a:rPr b="1" lang="en-US" sz="900">
                    <a:solidFill>
                      <a:srgbClr val="2563EB"/>
                    </a:solidFill>
                    <a:latin typeface="Arial"/>
                    <a:ea typeface="Arial"/>
                    <a:cs typeface="Arial"/>
                    <a:sym typeface="Arial"/>
                  </a:rPr>
                  <a:t>STEP 01</a:t>
                </a:r>
                <a:endParaRPr b="1" sz="900">
                  <a:solidFill>
                    <a:srgbClr val="2563EB"/>
                  </a:solidFill>
                  <a:latin typeface="Arial"/>
                  <a:ea typeface="Arial"/>
                  <a:cs typeface="Arial"/>
                  <a:sym typeface="Arial"/>
                </a:endParaRPr>
              </a:p>
              <a:p>
                <a:pPr indent="0" lvl="0" marL="0" rtl="0" algn="ctr">
                  <a:spcBef>
                    <a:spcPts val="150"/>
                  </a:spcBef>
                  <a:spcAft>
                    <a:spcPts val="0"/>
                  </a:spcAft>
                  <a:buNone/>
                </a:pPr>
                <a:r>
                  <a:rPr b="1" lang="en-US" sz="1000">
                    <a:solidFill>
                      <a:srgbClr val="1E293B"/>
                    </a:solidFill>
                    <a:latin typeface="Arial"/>
                    <a:ea typeface="Arial"/>
                    <a:cs typeface="Arial"/>
                    <a:sym typeface="Arial"/>
                  </a:rPr>
                  <a:t>①契約書確認</a:t>
                </a:r>
                <a:endParaRPr b="1" sz="1000">
                  <a:solidFill>
                    <a:srgbClr val="1E293B"/>
                  </a:solidFill>
                  <a:latin typeface="Arial"/>
                  <a:ea typeface="Arial"/>
                  <a:cs typeface="Arial"/>
                  <a:sym typeface="Arial"/>
                </a:endParaRPr>
              </a:p>
            </p:txBody>
          </p:sp>
        </p:grpSp>
        <p:sp>
          <p:nvSpPr>
            <p:cNvPr id="460" name="Google Shape;460;p21"/>
            <p:cNvSpPr txBox="1"/>
            <p:nvPr/>
          </p:nvSpPr>
          <p:spPr>
            <a:xfrm>
              <a:off x="1139895" y="255270"/>
              <a:ext cx="82500" cy="215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578">
                  <a:solidFill>
                    <a:srgbClr val="2563EB"/>
                  </a:solidFill>
                  <a:latin typeface="Arial"/>
                  <a:ea typeface="Arial"/>
                  <a:cs typeface="Arial"/>
                  <a:sym typeface="Arial"/>
                </a:rPr>
                <a:t>➔</a:t>
              </a:r>
              <a:endParaRPr b="1" sz="578">
                <a:solidFill>
                  <a:srgbClr val="2563EB"/>
                </a:solidFill>
                <a:latin typeface="Arial"/>
                <a:ea typeface="Arial"/>
                <a:cs typeface="Arial"/>
                <a:sym typeface="Arial"/>
              </a:endParaRPr>
            </a:p>
          </p:txBody>
        </p:sp>
        <p:grpSp>
          <p:nvGrpSpPr>
            <p:cNvPr id="461" name="Google Shape;461;p21"/>
            <p:cNvGrpSpPr/>
            <p:nvPr/>
          </p:nvGrpSpPr>
          <p:grpSpPr>
            <a:xfrm>
              <a:off x="1295400" y="0"/>
              <a:ext cx="1124100" cy="619200"/>
              <a:chOff x="0" y="0"/>
              <a:chExt cx="1124100" cy="619200"/>
            </a:xfrm>
          </p:grpSpPr>
          <p:sp>
            <p:nvSpPr>
              <p:cNvPr id="462" name="Google Shape;462;p21"/>
              <p:cNvSpPr/>
              <p:nvPr/>
            </p:nvSpPr>
            <p:spPr>
              <a:xfrm>
                <a:off x="0" y="0"/>
                <a:ext cx="1124100" cy="619200"/>
              </a:xfrm>
              <a:prstGeom prst="roundRect">
                <a:avLst>
                  <a:gd fmla="val 15384" name="adj"/>
                </a:avLst>
              </a:prstGeom>
              <a:solidFill>
                <a:srgbClr val="FFFFFF"/>
              </a:solidFill>
              <a:ln cap="flat" cmpd="sng" w="14300">
                <a:solidFill>
                  <a:srgbClr val="BFDB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3" name="Google Shape;463;p21"/>
              <p:cNvSpPr txBox="1"/>
              <p:nvPr/>
            </p:nvSpPr>
            <p:spPr>
              <a:xfrm>
                <a:off x="0" y="0"/>
                <a:ext cx="1124100" cy="619200"/>
              </a:xfrm>
              <a:prstGeom prst="rect">
                <a:avLst/>
              </a:prstGeom>
              <a:noFill/>
              <a:ln>
                <a:noFill/>
              </a:ln>
            </p:spPr>
            <p:txBody>
              <a:bodyPr anchorCtr="0" anchor="ctr" bIns="38100" lIns="38100" spcFirstLastPara="1" rIns="38100" wrap="square" tIns="38100">
                <a:noAutofit/>
              </a:bodyPr>
              <a:lstStyle/>
              <a:p>
                <a:pPr indent="0" lvl="0" marL="0" rtl="0" algn="ctr">
                  <a:spcBef>
                    <a:spcPts val="0"/>
                  </a:spcBef>
                  <a:spcAft>
                    <a:spcPts val="0"/>
                  </a:spcAft>
                  <a:buNone/>
                </a:pPr>
                <a:r>
                  <a:rPr b="1" lang="en-US" sz="900">
                    <a:solidFill>
                      <a:srgbClr val="2563EB"/>
                    </a:solidFill>
                    <a:latin typeface="Arial"/>
                    <a:ea typeface="Arial"/>
                    <a:cs typeface="Arial"/>
                    <a:sym typeface="Arial"/>
                  </a:rPr>
                  <a:t>STEP 02</a:t>
                </a:r>
                <a:endParaRPr b="1" sz="900">
                  <a:solidFill>
                    <a:srgbClr val="2563EB"/>
                  </a:solidFill>
                  <a:latin typeface="Arial"/>
                  <a:ea typeface="Arial"/>
                  <a:cs typeface="Arial"/>
                  <a:sym typeface="Arial"/>
                </a:endParaRPr>
              </a:p>
              <a:p>
                <a:pPr indent="0" lvl="0" marL="0" rtl="0" algn="ctr">
                  <a:spcBef>
                    <a:spcPts val="150"/>
                  </a:spcBef>
                  <a:spcAft>
                    <a:spcPts val="0"/>
                  </a:spcAft>
                  <a:buNone/>
                </a:pPr>
                <a:r>
                  <a:rPr b="1" lang="en-US" sz="1000">
                    <a:solidFill>
                      <a:srgbClr val="1E293B"/>
                    </a:solidFill>
                    <a:latin typeface="Arial"/>
                    <a:ea typeface="Arial"/>
                    <a:cs typeface="Arial"/>
                    <a:sym typeface="Arial"/>
                  </a:rPr>
                  <a:t>②制作</a:t>
                </a:r>
                <a:endParaRPr b="1" sz="1000">
                  <a:solidFill>
                    <a:srgbClr val="1E293B"/>
                  </a:solidFill>
                  <a:latin typeface="Arial"/>
                  <a:ea typeface="Arial"/>
                  <a:cs typeface="Arial"/>
                  <a:sym typeface="Arial"/>
                </a:endParaRPr>
              </a:p>
            </p:txBody>
          </p:sp>
        </p:grpSp>
        <p:sp>
          <p:nvSpPr>
            <p:cNvPr id="464" name="Google Shape;464;p21"/>
            <p:cNvSpPr txBox="1"/>
            <p:nvPr/>
          </p:nvSpPr>
          <p:spPr>
            <a:xfrm>
              <a:off x="2435295" y="255270"/>
              <a:ext cx="82500" cy="215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578">
                  <a:solidFill>
                    <a:srgbClr val="2563EB"/>
                  </a:solidFill>
                  <a:latin typeface="Arial"/>
                  <a:ea typeface="Arial"/>
                  <a:cs typeface="Arial"/>
                  <a:sym typeface="Arial"/>
                </a:rPr>
                <a:t>➔</a:t>
              </a:r>
              <a:endParaRPr b="1" sz="578">
                <a:solidFill>
                  <a:srgbClr val="2563EB"/>
                </a:solidFill>
                <a:latin typeface="Arial"/>
                <a:ea typeface="Arial"/>
                <a:cs typeface="Arial"/>
                <a:sym typeface="Arial"/>
              </a:endParaRPr>
            </a:p>
          </p:txBody>
        </p:sp>
        <p:grpSp>
          <p:nvGrpSpPr>
            <p:cNvPr id="465" name="Google Shape;465;p21"/>
            <p:cNvGrpSpPr/>
            <p:nvPr/>
          </p:nvGrpSpPr>
          <p:grpSpPr>
            <a:xfrm>
              <a:off x="2590800" y="0"/>
              <a:ext cx="1124100" cy="619200"/>
              <a:chOff x="0" y="0"/>
              <a:chExt cx="1124100" cy="619200"/>
            </a:xfrm>
          </p:grpSpPr>
          <p:sp>
            <p:nvSpPr>
              <p:cNvPr id="466" name="Google Shape;466;p21"/>
              <p:cNvSpPr/>
              <p:nvPr/>
            </p:nvSpPr>
            <p:spPr>
              <a:xfrm>
                <a:off x="0" y="0"/>
                <a:ext cx="1124100" cy="619200"/>
              </a:xfrm>
              <a:prstGeom prst="roundRect">
                <a:avLst>
                  <a:gd fmla="val 15384" name="adj"/>
                </a:avLst>
              </a:prstGeom>
              <a:solidFill>
                <a:srgbClr val="FFFFFF"/>
              </a:solidFill>
              <a:ln cap="flat" cmpd="sng" w="14300">
                <a:solidFill>
                  <a:srgbClr val="BFDB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7" name="Google Shape;467;p21"/>
              <p:cNvSpPr txBox="1"/>
              <p:nvPr/>
            </p:nvSpPr>
            <p:spPr>
              <a:xfrm>
                <a:off x="0" y="0"/>
                <a:ext cx="1124100" cy="619200"/>
              </a:xfrm>
              <a:prstGeom prst="rect">
                <a:avLst/>
              </a:prstGeom>
              <a:noFill/>
              <a:ln>
                <a:noFill/>
              </a:ln>
            </p:spPr>
            <p:txBody>
              <a:bodyPr anchorCtr="0" anchor="ctr" bIns="38100" lIns="38100" spcFirstLastPara="1" rIns="38100" wrap="square" tIns="38100">
                <a:noAutofit/>
              </a:bodyPr>
              <a:lstStyle/>
              <a:p>
                <a:pPr indent="0" lvl="0" marL="0" rtl="0" algn="ctr">
                  <a:spcBef>
                    <a:spcPts val="0"/>
                  </a:spcBef>
                  <a:spcAft>
                    <a:spcPts val="0"/>
                  </a:spcAft>
                  <a:buNone/>
                </a:pPr>
                <a:r>
                  <a:rPr b="1" lang="en-US" sz="900">
                    <a:solidFill>
                      <a:srgbClr val="2563EB"/>
                    </a:solidFill>
                    <a:latin typeface="Arial"/>
                    <a:ea typeface="Arial"/>
                    <a:cs typeface="Arial"/>
                    <a:sym typeface="Arial"/>
                  </a:rPr>
                  <a:t>STEP 03</a:t>
                </a:r>
                <a:endParaRPr b="1" sz="900">
                  <a:solidFill>
                    <a:srgbClr val="2563EB"/>
                  </a:solidFill>
                  <a:latin typeface="Arial"/>
                  <a:ea typeface="Arial"/>
                  <a:cs typeface="Arial"/>
                  <a:sym typeface="Arial"/>
                </a:endParaRPr>
              </a:p>
              <a:p>
                <a:pPr indent="0" lvl="0" marL="0" rtl="0" algn="ctr">
                  <a:spcBef>
                    <a:spcPts val="150"/>
                  </a:spcBef>
                  <a:spcAft>
                    <a:spcPts val="0"/>
                  </a:spcAft>
                  <a:buNone/>
                </a:pPr>
                <a:r>
                  <a:rPr b="1" lang="en-US" sz="1000">
                    <a:solidFill>
                      <a:srgbClr val="1E293B"/>
                    </a:solidFill>
                    <a:latin typeface="Arial"/>
                    <a:ea typeface="Arial"/>
                    <a:cs typeface="Arial"/>
                    <a:sym typeface="Arial"/>
                  </a:rPr>
                  <a:t>③納品</a:t>
                </a:r>
                <a:endParaRPr b="1" sz="1000">
                  <a:solidFill>
                    <a:srgbClr val="1E293B"/>
                  </a:solidFill>
                  <a:latin typeface="Arial"/>
                  <a:ea typeface="Arial"/>
                  <a:cs typeface="Arial"/>
                  <a:sym typeface="Arial"/>
                </a:endParaRPr>
              </a:p>
            </p:txBody>
          </p:sp>
        </p:grpSp>
        <p:sp>
          <p:nvSpPr>
            <p:cNvPr id="468" name="Google Shape;468;p21"/>
            <p:cNvSpPr txBox="1"/>
            <p:nvPr/>
          </p:nvSpPr>
          <p:spPr>
            <a:xfrm>
              <a:off x="3730695" y="255270"/>
              <a:ext cx="82500" cy="215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578">
                  <a:solidFill>
                    <a:srgbClr val="2563EB"/>
                  </a:solidFill>
                  <a:latin typeface="Arial"/>
                  <a:ea typeface="Arial"/>
                  <a:cs typeface="Arial"/>
                  <a:sym typeface="Arial"/>
                </a:rPr>
                <a:t>➔</a:t>
              </a:r>
              <a:endParaRPr b="1" sz="578">
                <a:solidFill>
                  <a:srgbClr val="2563EB"/>
                </a:solidFill>
                <a:latin typeface="Arial"/>
                <a:ea typeface="Arial"/>
                <a:cs typeface="Arial"/>
                <a:sym typeface="Arial"/>
              </a:endParaRPr>
            </a:p>
          </p:txBody>
        </p:sp>
        <p:grpSp>
          <p:nvGrpSpPr>
            <p:cNvPr id="469" name="Google Shape;469;p21"/>
            <p:cNvGrpSpPr/>
            <p:nvPr/>
          </p:nvGrpSpPr>
          <p:grpSpPr>
            <a:xfrm>
              <a:off x="3886200" y="0"/>
              <a:ext cx="1124100" cy="619200"/>
              <a:chOff x="0" y="0"/>
              <a:chExt cx="1124100" cy="619200"/>
            </a:xfrm>
          </p:grpSpPr>
          <p:sp>
            <p:nvSpPr>
              <p:cNvPr id="470" name="Google Shape;470;p21"/>
              <p:cNvSpPr/>
              <p:nvPr/>
            </p:nvSpPr>
            <p:spPr>
              <a:xfrm>
                <a:off x="0" y="0"/>
                <a:ext cx="1124100" cy="619200"/>
              </a:xfrm>
              <a:prstGeom prst="roundRect">
                <a:avLst>
                  <a:gd fmla="val 15384" name="adj"/>
                </a:avLst>
              </a:prstGeom>
              <a:solidFill>
                <a:srgbClr val="FFFFFF"/>
              </a:solidFill>
              <a:ln cap="flat" cmpd="sng" w="14300">
                <a:solidFill>
                  <a:srgbClr val="BFDB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1" name="Google Shape;471;p21"/>
              <p:cNvSpPr txBox="1"/>
              <p:nvPr/>
            </p:nvSpPr>
            <p:spPr>
              <a:xfrm>
                <a:off x="0" y="0"/>
                <a:ext cx="1124100" cy="619200"/>
              </a:xfrm>
              <a:prstGeom prst="rect">
                <a:avLst/>
              </a:prstGeom>
              <a:noFill/>
              <a:ln>
                <a:noFill/>
              </a:ln>
            </p:spPr>
            <p:txBody>
              <a:bodyPr anchorCtr="0" anchor="ctr" bIns="38100" lIns="38100" spcFirstLastPara="1" rIns="38100" wrap="square" tIns="38100">
                <a:noAutofit/>
              </a:bodyPr>
              <a:lstStyle/>
              <a:p>
                <a:pPr indent="0" lvl="0" marL="0" rtl="0" algn="ctr">
                  <a:spcBef>
                    <a:spcPts val="0"/>
                  </a:spcBef>
                  <a:spcAft>
                    <a:spcPts val="0"/>
                  </a:spcAft>
                  <a:buNone/>
                </a:pPr>
                <a:r>
                  <a:rPr b="1" lang="en-US" sz="900">
                    <a:solidFill>
                      <a:srgbClr val="2563EB"/>
                    </a:solidFill>
                    <a:latin typeface="Arial"/>
                    <a:ea typeface="Arial"/>
                    <a:cs typeface="Arial"/>
                    <a:sym typeface="Arial"/>
                  </a:rPr>
                  <a:t>STEP 04</a:t>
                </a:r>
                <a:endParaRPr b="1" sz="900">
                  <a:solidFill>
                    <a:srgbClr val="2563EB"/>
                  </a:solidFill>
                  <a:latin typeface="Arial"/>
                  <a:ea typeface="Arial"/>
                  <a:cs typeface="Arial"/>
                  <a:sym typeface="Arial"/>
                </a:endParaRPr>
              </a:p>
              <a:p>
                <a:pPr indent="0" lvl="0" marL="0" rtl="0" algn="ctr">
                  <a:spcBef>
                    <a:spcPts val="150"/>
                  </a:spcBef>
                  <a:spcAft>
                    <a:spcPts val="0"/>
                  </a:spcAft>
                  <a:buNone/>
                </a:pPr>
                <a:r>
                  <a:rPr b="1" lang="en-US" sz="1000">
                    <a:solidFill>
                      <a:srgbClr val="1E293B"/>
                    </a:solidFill>
                    <a:latin typeface="Arial"/>
                    <a:ea typeface="Arial"/>
                    <a:cs typeface="Arial"/>
                    <a:sym typeface="Arial"/>
                  </a:rPr>
                  <a:t>④検収</a:t>
                </a:r>
                <a:r>
                  <a:rPr b="0" lang="en-US" sz="800">
                    <a:solidFill>
                      <a:srgbClr val="1E293B"/>
                    </a:solidFill>
                    <a:latin typeface="Arial"/>
                    <a:ea typeface="Arial"/>
                    <a:cs typeface="Arial"/>
                    <a:sym typeface="Arial"/>
                  </a:rPr>
                  <a:t>（チェック）</a:t>
                </a:r>
                <a:endParaRPr b="1" sz="1000">
                  <a:solidFill>
                    <a:srgbClr val="1E293B"/>
                  </a:solidFill>
                  <a:latin typeface="Arial"/>
                  <a:ea typeface="Arial"/>
                  <a:cs typeface="Arial"/>
                  <a:sym typeface="Arial"/>
                </a:endParaRPr>
              </a:p>
            </p:txBody>
          </p:sp>
        </p:grpSp>
        <p:sp>
          <p:nvSpPr>
            <p:cNvPr id="472" name="Google Shape;472;p21"/>
            <p:cNvSpPr txBox="1"/>
            <p:nvPr/>
          </p:nvSpPr>
          <p:spPr>
            <a:xfrm>
              <a:off x="5026095" y="255270"/>
              <a:ext cx="82500" cy="215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578">
                  <a:solidFill>
                    <a:srgbClr val="2563EB"/>
                  </a:solidFill>
                  <a:latin typeface="Arial"/>
                  <a:ea typeface="Arial"/>
                  <a:cs typeface="Arial"/>
                  <a:sym typeface="Arial"/>
                </a:rPr>
                <a:t>➔</a:t>
              </a:r>
              <a:endParaRPr b="1" sz="578">
                <a:solidFill>
                  <a:srgbClr val="2563EB"/>
                </a:solidFill>
                <a:latin typeface="Arial"/>
                <a:ea typeface="Arial"/>
                <a:cs typeface="Arial"/>
                <a:sym typeface="Arial"/>
              </a:endParaRPr>
            </a:p>
          </p:txBody>
        </p:sp>
        <p:grpSp>
          <p:nvGrpSpPr>
            <p:cNvPr id="473" name="Google Shape;473;p21"/>
            <p:cNvGrpSpPr/>
            <p:nvPr/>
          </p:nvGrpSpPr>
          <p:grpSpPr>
            <a:xfrm>
              <a:off x="5181600" y="0"/>
              <a:ext cx="1124100" cy="619200"/>
              <a:chOff x="0" y="0"/>
              <a:chExt cx="1124100" cy="619200"/>
            </a:xfrm>
          </p:grpSpPr>
          <p:sp>
            <p:nvSpPr>
              <p:cNvPr id="474" name="Google Shape;474;p21"/>
              <p:cNvSpPr/>
              <p:nvPr/>
            </p:nvSpPr>
            <p:spPr>
              <a:xfrm>
                <a:off x="0" y="0"/>
                <a:ext cx="1124100" cy="619200"/>
              </a:xfrm>
              <a:prstGeom prst="roundRect">
                <a:avLst>
                  <a:gd fmla="val 15384" name="adj"/>
                </a:avLst>
              </a:prstGeom>
              <a:solidFill>
                <a:srgbClr val="FFFFFF"/>
              </a:solidFill>
              <a:ln cap="flat" cmpd="sng" w="14300">
                <a:solidFill>
                  <a:srgbClr val="BFDB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5" name="Google Shape;475;p21"/>
              <p:cNvSpPr txBox="1"/>
              <p:nvPr/>
            </p:nvSpPr>
            <p:spPr>
              <a:xfrm>
                <a:off x="0" y="0"/>
                <a:ext cx="1124100" cy="619200"/>
              </a:xfrm>
              <a:prstGeom prst="rect">
                <a:avLst/>
              </a:prstGeom>
              <a:noFill/>
              <a:ln>
                <a:noFill/>
              </a:ln>
            </p:spPr>
            <p:txBody>
              <a:bodyPr anchorCtr="0" anchor="ctr" bIns="38100" lIns="38100" spcFirstLastPara="1" rIns="38100" wrap="square" tIns="38100">
                <a:noAutofit/>
              </a:bodyPr>
              <a:lstStyle/>
              <a:p>
                <a:pPr indent="0" lvl="0" marL="0" rtl="0" algn="ctr">
                  <a:spcBef>
                    <a:spcPts val="0"/>
                  </a:spcBef>
                  <a:spcAft>
                    <a:spcPts val="0"/>
                  </a:spcAft>
                  <a:buNone/>
                </a:pPr>
                <a:r>
                  <a:rPr b="1" lang="en-US" sz="900">
                    <a:solidFill>
                      <a:srgbClr val="2563EB"/>
                    </a:solidFill>
                    <a:latin typeface="Arial"/>
                    <a:ea typeface="Arial"/>
                    <a:cs typeface="Arial"/>
                    <a:sym typeface="Arial"/>
                  </a:rPr>
                  <a:t>STEP 05</a:t>
                </a:r>
                <a:endParaRPr b="1" sz="900">
                  <a:solidFill>
                    <a:srgbClr val="2563EB"/>
                  </a:solidFill>
                  <a:latin typeface="Arial"/>
                  <a:ea typeface="Arial"/>
                  <a:cs typeface="Arial"/>
                  <a:sym typeface="Arial"/>
                </a:endParaRPr>
              </a:p>
              <a:p>
                <a:pPr indent="0" lvl="0" marL="0" rtl="0" algn="ctr">
                  <a:spcBef>
                    <a:spcPts val="150"/>
                  </a:spcBef>
                  <a:spcAft>
                    <a:spcPts val="0"/>
                  </a:spcAft>
                  <a:buNone/>
                </a:pPr>
                <a:r>
                  <a:rPr b="1" lang="en-US" sz="1000">
                    <a:solidFill>
                      <a:srgbClr val="1E293B"/>
                    </a:solidFill>
                    <a:latin typeface="Arial"/>
                    <a:ea typeface="Arial"/>
                    <a:cs typeface="Arial"/>
                    <a:sym typeface="Arial"/>
                  </a:rPr>
                  <a:t>⑤報酬支払</a:t>
                </a:r>
                <a:endParaRPr b="1" sz="1000">
                  <a:solidFill>
                    <a:srgbClr val="1E293B"/>
                  </a:solidFill>
                  <a:latin typeface="Arial"/>
                  <a:ea typeface="Arial"/>
                  <a:cs typeface="Arial"/>
                  <a:sym typeface="Arial"/>
                </a:endParaRPr>
              </a:p>
            </p:txBody>
          </p:sp>
        </p:grpSp>
        <p:sp>
          <p:nvSpPr>
            <p:cNvPr id="476" name="Google Shape;476;p21"/>
            <p:cNvSpPr txBox="1"/>
            <p:nvPr/>
          </p:nvSpPr>
          <p:spPr>
            <a:xfrm>
              <a:off x="6321495" y="255270"/>
              <a:ext cx="82500" cy="215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578">
                  <a:solidFill>
                    <a:srgbClr val="2563EB"/>
                  </a:solidFill>
                  <a:latin typeface="Arial"/>
                  <a:ea typeface="Arial"/>
                  <a:cs typeface="Arial"/>
                  <a:sym typeface="Arial"/>
                </a:rPr>
                <a:t>➔</a:t>
              </a:r>
              <a:endParaRPr b="1" sz="578">
                <a:solidFill>
                  <a:srgbClr val="2563EB"/>
                </a:solidFill>
                <a:latin typeface="Arial"/>
                <a:ea typeface="Arial"/>
                <a:cs typeface="Arial"/>
                <a:sym typeface="Arial"/>
              </a:endParaRPr>
            </a:p>
          </p:txBody>
        </p:sp>
        <p:grpSp>
          <p:nvGrpSpPr>
            <p:cNvPr id="477" name="Google Shape;477;p21"/>
            <p:cNvGrpSpPr/>
            <p:nvPr/>
          </p:nvGrpSpPr>
          <p:grpSpPr>
            <a:xfrm>
              <a:off x="6477000" y="0"/>
              <a:ext cx="914400" cy="619200"/>
              <a:chOff x="0" y="0"/>
              <a:chExt cx="914400" cy="619200"/>
            </a:xfrm>
          </p:grpSpPr>
          <p:sp>
            <p:nvSpPr>
              <p:cNvPr id="478" name="Google Shape;478;p21"/>
              <p:cNvSpPr/>
              <p:nvPr/>
            </p:nvSpPr>
            <p:spPr>
              <a:xfrm>
                <a:off x="0" y="0"/>
                <a:ext cx="914400" cy="619200"/>
              </a:xfrm>
              <a:prstGeom prst="roundRect">
                <a:avLst>
                  <a:gd fmla="val 15384" name="adj"/>
                </a:avLst>
              </a:prstGeom>
              <a:solidFill>
                <a:srgbClr val="2563EB"/>
              </a:solidFill>
              <a:ln cap="flat" cmpd="sng" w="14300">
                <a:solidFill>
                  <a:srgbClr val="1D4ED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9" name="Google Shape;479;p21"/>
              <p:cNvSpPr txBox="1"/>
              <p:nvPr/>
            </p:nvSpPr>
            <p:spPr>
              <a:xfrm>
                <a:off x="0" y="0"/>
                <a:ext cx="914400" cy="619200"/>
              </a:xfrm>
              <a:prstGeom prst="rect">
                <a:avLst/>
              </a:prstGeom>
              <a:noFill/>
              <a:ln>
                <a:noFill/>
              </a:ln>
            </p:spPr>
            <p:txBody>
              <a:bodyPr anchorCtr="0" anchor="ctr" bIns="38100" lIns="38100" spcFirstLastPara="1" rIns="38100" wrap="square" tIns="38100">
                <a:noAutofit/>
              </a:bodyPr>
              <a:lstStyle/>
              <a:p>
                <a:pPr indent="0" lvl="0" marL="0" rtl="0" algn="ctr">
                  <a:spcBef>
                    <a:spcPts val="0"/>
                  </a:spcBef>
                  <a:spcAft>
                    <a:spcPts val="0"/>
                  </a:spcAft>
                  <a:buNone/>
                </a:pPr>
                <a:r>
                  <a:rPr b="1" lang="en-US" sz="1100">
                    <a:solidFill>
                      <a:srgbClr val="FFFFFF"/>
                    </a:solidFill>
                    <a:latin typeface="Arial"/>
                    <a:ea typeface="Arial"/>
                    <a:cs typeface="Arial"/>
                    <a:sym typeface="Arial"/>
                  </a:rPr>
                  <a:t>GOAL 🎉</a:t>
                </a:r>
                <a:endParaRPr b="1" sz="1100">
                  <a:solidFill>
                    <a:srgbClr val="FFFFFF"/>
                  </a:solidFill>
                  <a:latin typeface="Arial"/>
                  <a:ea typeface="Arial"/>
                  <a:cs typeface="Arial"/>
                  <a:sym typeface="Arial"/>
                </a:endParaRPr>
              </a:p>
              <a:p>
                <a:pPr indent="0" lvl="0" marL="0" rtl="0" algn="ctr">
                  <a:spcBef>
                    <a:spcPts val="150"/>
                  </a:spcBef>
                  <a:spcAft>
                    <a:spcPts val="0"/>
                  </a:spcAft>
                  <a:buNone/>
                </a:pPr>
                <a:r>
                  <a:rPr b="1" lang="en-US" sz="1100">
                    <a:solidFill>
                      <a:srgbClr val="FFFFFF"/>
                    </a:solidFill>
                    <a:latin typeface="Arial"/>
                    <a:ea typeface="Arial"/>
                    <a:cs typeface="Arial"/>
                    <a:sym typeface="Arial"/>
                  </a:rPr>
                  <a:t>完遂！</a:t>
                </a:r>
                <a:endParaRPr b="1" sz="1100">
                  <a:solidFill>
                    <a:srgbClr val="FFFFFF"/>
                  </a:solidFill>
                  <a:latin typeface="Arial"/>
                  <a:ea typeface="Arial"/>
                  <a:cs typeface="Arial"/>
                  <a:sym typeface="Arial"/>
                </a:endParaRPr>
              </a:p>
            </p:txBody>
          </p:sp>
        </p:grpSp>
      </p:grpSp>
      <p:sp>
        <p:nvSpPr>
          <p:cNvPr id="480" name="Google Shape;480;p21"/>
          <p:cNvSpPr/>
          <p:nvPr/>
        </p:nvSpPr>
        <p:spPr>
          <a:xfrm>
            <a:off x="731520" y="2343150"/>
            <a:ext cx="7680900" cy="2229000"/>
          </a:xfrm>
          <a:prstGeom prst="roundRect">
            <a:avLst>
              <a:gd fmla="val 6837" name="adj"/>
            </a:avLst>
          </a:prstGeom>
          <a:solidFill>
            <a:srgbClr val="FFF5F5"/>
          </a:solidFill>
          <a:ln cap="flat" cmpd="sng" w="19050">
            <a:solidFill>
              <a:srgbClr val="EF444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1" name="Google Shape;481;p21"/>
          <p:cNvSpPr/>
          <p:nvPr/>
        </p:nvSpPr>
        <p:spPr>
          <a:xfrm>
            <a:off x="914400" y="2438400"/>
            <a:ext cx="7315200" cy="304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600">
                <a:solidFill>
                  <a:srgbClr val="DC2626"/>
                </a:solidFill>
                <a:latin typeface="Arial"/>
                <a:ea typeface="Arial"/>
                <a:cs typeface="Arial"/>
                <a:sym typeface="Arial"/>
              </a:rPr>
              <a:t>⚠️ 知っておきたい知恵：偽装請負（ぎそううけおい）</a:t>
            </a:r>
            <a:endParaRPr b="1" sz="1600">
              <a:solidFill>
                <a:srgbClr val="DC2626"/>
              </a:solidFill>
              <a:latin typeface="Arial"/>
              <a:ea typeface="Arial"/>
              <a:cs typeface="Arial"/>
              <a:sym typeface="Arial"/>
            </a:endParaRPr>
          </a:p>
        </p:txBody>
      </p:sp>
      <p:grpSp>
        <p:nvGrpSpPr>
          <p:cNvPr id="482" name="Google Shape;482;p21"/>
          <p:cNvGrpSpPr/>
          <p:nvPr/>
        </p:nvGrpSpPr>
        <p:grpSpPr>
          <a:xfrm>
            <a:off x="914400" y="2819400"/>
            <a:ext cx="7315200" cy="1600350"/>
            <a:chOff x="0" y="0"/>
            <a:chExt cx="7315200" cy="1600350"/>
          </a:xfrm>
        </p:grpSpPr>
        <p:grpSp>
          <p:nvGrpSpPr>
            <p:cNvPr id="483" name="Google Shape;483;p21"/>
            <p:cNvGrpSpPr/>
            <p:nvPr/>
          </p:nvGrpSpPr>
          <p:grpSpPr>
            <a:xfrm>
              <a:off x="0" y="0"/>
              <a:ext cx="3543300" cy="1104900"/>
              <a:chOff x="0" y="0"/>
              <a:chExt cx="3543300" cy="1104900"/>
            </a:xfrm>
          </p:grpSpPr>
          <p:sp>
            <p:nvSpPr>
              <p:cNvPr id="484" name="Google Shape;484;p21"/>
              <p:cNvSpPr/>
              <p:nvPr/>
            </p:nvSpPr>
            <p:spPr>
              <a:xfrm>
                <a:off x="0" y="0"/>
                <a:ext cx="3543300" cy="1104900"/>
              </a:xfrm>
              <a:prstGeom prst="roundRect">
                <a:avLst>
                  <a:gd fmla="val 10344" name="adj"/>
                </a:avLst>
              </a:prstGeom>
              <a:solidFill>
                <a:srgbClr val="FFFFFF"/>
              </a:solidFill>
              <a:ln cap="flat" cmpd="sng" w="14300">
                <a:solidFill>
                  <a:srgbClr val="FECAC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5" name="Google Shape;485;p21"/>
              <p:cNvSpPr txBox="1"/>
              <p:nvPr/>
            </p:nvSpPr>
            <p:spPr>
              <a:xfrm>
                <a:off x="0" y="0"/>
                <a:ext cx="3543300" cy="1104900"/>
              </a:xfrm>
              <a:prstGeom prst="rect">
                <a:avLst/>
              </a:prstGeom>
              <a:noFill/>
              <a:ln>
                <a:noFill/>
              </a:ln>
            </p:spPr>
            <p:txBody>
              <a:bodyPr anchorCtr="0" anchor="t" bIns="114300" lIns="114300" spcFirstLastPara="1" rIns="114300" wrap="square" tIns="114300">
                <a:noAutofit/>
              </a:bodyPr>
              <a:lstStyle/>
              <a:p>
                <a:pPr indent="0" lvl="0" marL="0" rtl="0" algn="l">
                  <a:spcBef>
                    <a:spcPts val="0"/>
                  </a:spcBef>
                  <a:spcAft>
                    <a:spcPts val="0"/>
                  </a:spcAft>
                  <a:buNone/>
                </a:pPr>
                <a:r>
                  <a:rPr b="1" lang="en-US" sz="1200">
                    <a:solidFill>
                      <a:srgbClr val="DC2626"/>
                    </a:solidFill>
                    <a:latin typeface="Arial"/>
                    <a:ea typeface="Arial"/>
                    <a:cs typeface="Arial"/>
                    <a:sym typeface="Arial"/>
                  </a:rPr>
                  <a:t>🚨 どんな状態？</a:t>
                </a:r>
                <a:endParaRPr b="1" sz="1200">
                  <a:solidFill>
                    <a:srgbClr val="DC2626"/>
                  </a:solidFill>
                  <a:latin typeface="Arial"/>
                  <a:ea typeface="Arial"/>
                  <a:cs typeface="Arial"/>
                  <a:sym typeface="Arial"/>
                </a:endParaRPr>
              </a:p>
              <a:p>
                <a:pPr indent="0" lvl="0" marL="0" rtl="0" algn="l">
                  <a:spcBef>
                    <a:spcPts val="450"/>
                  </a:spcBef>
                  <a:spcAft>
                    <a:spcPts val="0"/>
                  </a:spcAft>
                  <a:buNone/>
                </a:pPr>
                <a:r>
                  <a:rPr lang="en-US" sz="1100">
                    <a:solidFill>
                      <a:srgbClr val="1E293B"/>
                    </a:solidFill>
                    <a:latin typeface="Arial"/>
                    <a:ea typeface="Arial"/>
                    <a:cs typeface="Arial"/>
                    <a:sym typeface="Arial"/>
                  </a:rPr>
                  <a:t>契約書は「委託」なのに、発注元の会社が現場で直接あれこれ指図すること！</a:t>
                </a:r>
                <a:endParaRPr sz="1100">
                  <a:solidFill>
                    <a:srgbClr val="1E293B"/>
                  </a:solidFill>
                  <a:latin typeface="Arial"/>
                  <a:ea typeface="Arial"/>
                  <a:cs typeface="Arial"/>
                  <a:sym typeface="Arial"/>
                </a:endParaRPr>
              </a:p>
            </p:txBody>
          </p:sp>
        </p:grpSp>
        <p:grpSp>
          <p:nvGrpSpPr>
            <p:cNvPr id="486" name="Google Shape;486;p21"/>
            <p:cNvGrpSpPr/>
            <p:nvPr/>
          </p:nvGrpSpPr>
          <p:grpSpPr>
            <a:xfrm>
              <a:off x="3771900" y="0"/>
              <a:ext cx="3543300" cy="1104900"/>
              <a:chOff x="0" y="0"/>
              <a:chExt cx="3543300" cy="1104900"/>
            </a:xfrm>
          </p:grpSpPr>
          <p:sp>
            <p:nvSpPr>
              <p:cNvPr id="487" name="Google Shape;487;p21"/>
              <p:cNvSpPr/>
              <p:nvPr/>
            </p:nvSpPr>
            <p:spPr>
              <a:xfrm>
                <a:off x="0" y="0"/>
                <a:ext cx="3543300" cy="1104900"/>
              </a:xfrm>
              <a:prstGeom prst="roundRect">
                <a:avLst>
                  <a:gd fmla="val 10344" name="adj"/>
                </a:avLst>
              </a:prstGeom>
              <a:solidFill>
                <a:srgbClr val="FFFFFF"/>
              </a:solidFill>
              <a:ln cap="flat" cmpd="sng" w="14300">
                <a:solidFill>
                  <a:srgbClr val="FECAC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8" name="Google Shape;488;p21"/>
              <p:cNvSpPr txBox="1"/>
              <p:nvPr/>
            </p:nvSpPr>
            <p:spPr>
              <a:xfrm>
                <a:off x="0" y="0"/>
                <a:ext cx="3543300" cy="1104900"/>
              </a:xfrm>
              <a:prstGeom prst="rect">
                <a:avLst/>
              </a:prstGeom>
              <a:noFill/>
              <a:ln>
                <a:noFill/>
              </a:ln>
            </p:spPr>
            <p:txBody>
              <a:bodyPr anchorCtr="0" anchor="t" bIns="114300" lIns="114300" spcFirstLastPara="1" rIns="114300" wrap="square" tIns="114300">
                <a:noAutofit/>
              </a:bodyPr>
              <a:lstStyle/>
              <a:p>
                <a:pPr indent="0" lvl="0" marL="0" rtl="0" algn="l">
                  <a:spcBef>
                    <a:spcPts val="0"/>
                  </a:spcBef>
                  <a:spcAft>
                    <a:spcPts val="0"/>
                  </a:spcAft>
                  <a:buNone/>
                </a:pPr>
                <a:r>
                  <a:rPr b="1" lang="en-US" sz="1020">
                    <a:solidFill>
                      <a:srgbClr val="DC2626"/>
                    </a:solidFill>
                    <a:latin typeface="Arial"/>
                    <a:ea typeface="Arial"/>
                    <a:cs typeface="Arial"/>
                    <a:sym typeface="Arial"/>
                  </a:rPr>
                  <a:t>⚖️ 法律の判断基準</a:t>
                </a:r>
                <a:endParaRPr b="1" sz="1020">
                  <a:solidFill>
                    <a:srgbClr val="DC2626"/>
                  </a:solidFill>
                  <a:latin typeface="Arial"/>
                  <a:ea typeface="Arial"/>
                  <a:cs typeface="Arial"/>
                  <a:sym typeface="Arial"/>
                </a:endParaRPr>
              </a:p>
              <a:p>
                <a:pPr indent="0" lvl="0" marL="0" rtl="0" algn="l">
                  <a:spcBef>
                    <a:spcPts val="450"/>
                  </a:spcBef>
                  <a:spcAft>
                    <a:spcPts val="0"/>
                  </a:spcAft>
                  <a:buNone/>
                </a:pPr>
                <a:r>
                  <a:rPr lang="en-US" sz="935">
                    <a:solidFill>
                      <a:srgbClr val="1E293B"/>
                    </a:solidFill>
                    <a:latin typeface="Arial"/>
                    <a:ea typeface="Arial"/>
                    <a:cs typeface="Arial"/>
                    <a:sym typeface="Arial"/>
                  </a:rPr>
                  <a:t>・法律は、契約の「名前」ではなく「働かせ方の実態」で判断します。</a:t>
                </a:r>
                <a:endParaRPr sz="935">
                  <a:solidFill>
                    <a:srgbClr val="1E293B"/>
                  </a:solidFill>
                  <a:latin typeface="Arial"/>
                  <a:ea typeface="Arial"/>
                  <a:cs typeface="Arial"/>
                  <a:sym typeface="Arial"/>
                </a:endParaRPr>
              </a:p>
              <a:p>
                <a:pPr indent="0" lvl="0" marL="0" rtl="0" algn="l">
                  <a:spcBef>
                    <a:spcPts val="300"/>
                  </a:spcBef>
                  <a:spcAft>
                    <a:spcPts val="0"/>
                  </a:spcAft>
                  <a:buNone/>
                </a:pPr>
                <a:r>
                  <a:rPr lang="en-US" sz="935">
                    <a:solidFill>
                      <a:srgbClr val="1E293B"/>
                    </a:solidFill>
                    <a:latin typeface="Arial"/>
                    <a:ea typeface="Arial"/>
                    <a:cs typeface="Arial"/>
                    <a:sym typeface="Arial"/>
                  </a:rPr>
                  <a:t>・実態が労働者なら、労働基準法で守られなければなりません。</a:t>
                </a:r>
                <a:endParaRPr sz="935">
                  <a:solidFill>
                    <a:srgbClr val="1E293B"/>
                  </a:solidFill>
                  <a:latin typeface="Arial"/>
                  <a:ea typeface="Arial"/>
                  <a:cs typeface="Arial"/>
                  <a:sym typeface="Arial"/>
                </a:endParaRPr>
              </a:p>
            </p:txBody>
          </p:sp>
        </p:grpSp>
        <p:grpSp>
          <p:nvGrpSpPr>
            <p:cNvPr id="489" name="Google Shape;489;p21"/>
            <p:cNvGrpSpPr/>
            <p:nvPr/>
          </p:nvGrpSpPr>
          <p:grpSpPr>
            <a:xfrm>
              <a:off x="0" y="1200150"/>
              <a:ext cx="7315200" cy="400200"/>
              <a:chOff x="0" y="0"/>
              <a:chExt cx="7315200" cy="400200"/>
            </a:xfrm>
          </p:grpSpPr>
          <p:sp>
            <p:nvSpPr>
              <p:cNvPr id="490" name="Google Shape;490;p21"/>
              <p:cNvSpPr/>
              <p:nvPr/>
            </p:nvSpPr>
            <p:spPr>
              <a:xfrm>
                <a:off x="0" y="0"/>
                <a:ext cx="7315200" cy="400200"/>
              </a:xfrm>
              <a:prstGeom prst="roundRect">
                <a:avLst>
                  <a:gd fmla="val 19047" name="adj"/>
                </a:avLst>
              </a:prstGeom>
              <a:solidFill>
                <a:srgbClr val="FEF2F2"/>
              </a:solidFill>
              <a:ln cap="flat" cmpd="sng" w="9525">
                <a:solidFill>
                  <a:srgbClr val="FCA5A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1" name="Google Shape;491;p21"/>
              <p:cNvSpPr txBox="1"/>
              <p:nvPr/>
            </p:nvSpPr>
            <p:spPr>
              <a:xfrm>
                <a:off x="0" y="0"/>
                <a:ext cx="7315200" cy="40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150">
                    <a:solidFill>
                      <a:srgbClr val="991B1B"/>
                    </a:solidFill>
                    <a:latin typeface="Arial"/>
                    <a:ea typeface="Arial"/>
                    <a:cs typeface="Arial"/>
                    <a:sym typeface="Arial"/>
                  </a:rPr>
                  <a:t>👉 将来フリーランスや職場で不当な扱いを受けないための、大切な知識です。</a:t>
                </a:r>
                <a:endParaRPr b="1" sz="1150">
                  <a:solidFill>
                    <a:srgbClr val="991B1B"/>
                  </a:solidFill>
                  <a:latin typeface="Arial"/>
                  <a:ea typeface="Arial"/>
                  <a:cs typeface="Arial"/>
                  <a:sym typeface="Arial"/>
                </a:endParaRPr>
              </a:p>
            </p:txBody>
          </p:sp>
        </p:grpSp>
      </p:gr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6" name="Shape 496"/>
        <p:cNvGrpSpPr/>
        <p:nvPr/>
      </p:nvGrpSpPr>
      <p:grpSpPr>
        <a:xfrm>
          <a:off x="0" y="0"/>
          <a:ext cx="0" cy="0"/>
          <a:chOff x="0" y="0"/>
          <a:chExt cx="0" cy="0"/>
        </a:xfrm>
      </p:grpSpPr>
      <p:sp>
        <p:nvSpPr>
          <p:cNvPr id="497" name="Google Shape;497;p22"/>
          <p:cNvSpPr/>
          <p:nvPr/>
        </p:nvSpPr>
        <p:spPr>
          <a:xfrm>
            <a:off x="731520" y="4709160"/>
            <a:ext cx="5486400" cy="320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18096"/>
              </a:buClr>
              <a:buSzPts val="1200"/>
              <a:buFont typeface="Meiryo"/>
              <a:buNone/>
            </a:pPr>
            <a:r>
              <a:rPr b="0" i="0" lang="en-US" sz="1200" u="none" cap="none" strike="noStrike">
                <a:solidFill>
                  <a:srgbClr val="718096"/>
                </a:solidFill>
                <a:latin typeface="Meiryo"/>
                <a:ea typeface="Meiryo"/>
                <a:cs typeface="Meiryo"/>
                <a:sym typeface="Meiryo"/>
              </a:rPr>
              <a:t>第4部 AI生成物ならではの法律問題</a:t>
            </a:r>
            <a:endParaRPr b="0" i="0" sz="1200" u="none" cap="none" strike="noStrike">
              <a:solidFill>
                <a:schemeClr val="dk1"/>
              </a:solidFill>
              <a:latin typeface="Calibri"/>
              <a:ea typeface="Calibri"/>
              <a:cs typeface="Calibri"/>
              <a:sym typeface="Calibri"/>
            </a:endParaRPr>
          </a:p>
        </p:txBody>
      </p:sp>
      <p:sp>
        <p:nvSpPr>
          <p:cNvPr id="498" name="Google Shape;498;p22"/>
          <p:cNvSpPr/>
          <p:nvPr/>
        </p:nvSpPr>
        <p:spPr>
          <a:xfrm>
            <a:off x="7315200" y="4709160"/>
            <a:ext cx="1097400" cy="3201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718096"/>
              </a:buClr>
              <a:buSzPts val="1200"/>
              <a:buFont typeface="Meiryo"/>
              <a:buNone/>
            </a:pPr>
            <a:r>
              <a:rPr b="0" i="0" lang="en-US" sz="1200" u="none" cap="none" strike="noStrike">
                <a:solidFill>
                  <a:srgbClr val="718096"/>
                </a:solidFill>
                <a:latin typeface="Meiryo"/>
                <a:ea typeface="Meiryo"/>
                <a:cs typeface="Meiryo"/>
                <a:sym typeface="Meiryo"/>
              </a:rPr>
              <a:t>22 / 30</a:t>
            </a:r>
            <a:endParaRPr b="0" i="0" sz="1200" u="none" cap="none" strike="noStrike">
              <a:solidFill>
                <a:schemeClr val="dk1"/>
              </a:solidFill>
              <a:latin typeface="Calibri"/>
              <a:ea typeface="Calibri"/>
              <a:cs typeface="Calibri"/>
              <a:sym typeface="Calibri"/>
            </a:endParaRPr>
          </a:p>
        </p:txBody>
      </p:sp>
      <p:sp>
        <p:nvSpPr>
          <p:cNvPr id="499" name="Google Shape;499;p22"/>
          <p:cNvSpPr/>
          <p:nvPr/>
        </p:nvSpPr>
        <p:spPr>
          <a:xfrm>
            <a:off x="731520" y="381000"/>
            <a:ext cx="7680900" cy="4572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ctr">
              <a:spcBef>
                <a:spcPts val="0"/>
              </a:spcBef>
              <a:spcAft>
                <a:spcPts val="0"/>
              </a:spcAft>
              <a:buNone/>
            </a:pPr>
            <a:r>
              <a:rPr b="1" lang="en-US" sz="2400">
                <a:solidFill>
                  <a:srgbClr val="0F172A"/>
                </a:solidFill>
                <a:latin typeface="Arial"/>
                <a:ea typeface="Arial"/>
                <a:cs typeface="Arial"/>
                <a:sym typeface="Arial"/>
              </a:rPr>
              <a:t>第4部 AI生成物ならではの法律問題【クイズ】</a:t>
            </a:r>
            <a:endParaRPr b="1" sz="2400">
              <a:solidFill>
                <a:srgbClr val="0F172A"/>
              </a:solidFill>
              <a:latin typeface="Arial"/>
              <a:ea typeface="Arial"/>
              <a:cs typeface="Arial"/>
              <a:sym typeface="Arial"/>
            </a:endParaRPr>
          </a:p>
        </p:txBody>
      </p:sp>
      <p:sp>
        <p:nvSpPr>
          <p:cNvPr id="500" name="Google Shape;500;p22"/>
          <p:cNvSpPr/>
          <p:nvPr/>
        </p:nvSpPr>
        <p:spPr>
          <a:xfrm>
            <a:off x="731520" y="952500"/>
            <a:ext cx="7680900" cy="685800"/>
          </a:xfrm>
          <a:prstGeom prst="roundRect">
            <a:avLst>
              <a:gd fmla="val 16666" name="adj"/>
            </a:avLst>
          </a:prstGeom>
          <a:solidFill>
            <a:srgbClr val="F8FAFC"/>
          </a:solidFill>
          <a:ln cap="flat" cmpd="sng" w="14300">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01" name="Google Shape;501;p22"/>
          <p:cNvSpPr/>
          <p:nvPr/>
        </p:nvSpPr>
        <p:spPr>
          <a:xfrm>
            <a:off x="914400" y="952500"/>
            <a:ext cx="7315200" cy="685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800">
                <a:solidFill>
                  <a:srgbClr val="1E293B"/>
                </a:solidFill>
                <a:latin typeface="Arial"/>
                <a:ea typeface="Arial"/>
                <a:cs typeface="Arial"/>
                <a:sym typeface="Arial"/>
              </a:rPr>
              <a:t>❓ 問い：AIが自動でパッと出したイラストは、誰のものでしょう？</a:t>
            </a:r>
            <a:endParaRPr b="1" sz="1800">
              <a:solidFill>
                <a:srgbClr val="1E293B"/>
              </a:solidFill>
              <a:latin typeface="Arial"/>
              <a:ea typeface="Arial"/>
              <a:cs typeface="Arial"/>
              <a:sym typeface="Arial"/>
            </a:endParaRPr>
          </a:p>
        </p:txBody>
      </p:sp>
      <p:sp>
        <p:nvSpPr>
          <p:cNvPr id="502" name="Google Shape;502;p22"/>
          <p:cNvSpPr/>
          <p:nvPr/>
        </p:nvSpPr>
        <p:spPr>
          <a:xfrm>
            <a:off x="731520" y="1828800"/>
            <a:ext cx="3695700" cy="2667000"/>
          </a:xfrm>
          <a:prstGeom prst="roundRect">
            <a:avLst>
              <a:gd fmla="val 5714" name="adj"/>
            </a:avLst>
          </a:prstGeom>
          <a:solidFill>
            <a:srgbClr val="FFFFFF"/>
          </a:solidFill>
          <a:ln cap="flat" cmpd="sng" w="1905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03" name="Google Shape;503;p22"/>
          <p:cNvSpPr/>
          <p:nvPr/>
        </p:nvSpPr>
        <p:spPr>
          <a:xfrm>
            <a:off x="914400" y="2019300"/>
            <a:ext cx="3330000" cy="4191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2000">
                <a:solidFill>
                  <a:srgbClr val="64748B"/>
                </a:solidFill>
                <a:latin typeface="Arial"/>
                <a:ea typeface="Arial"/>
                <a:cs typeface="Arial"/>
                <a:sym typeface="Arial"/>
              </a:rPr>
              <a:t>🤖 AI全自動出力</a:t>
            </a:r>
            <a:endParaRPr b="1" sz="2000">
              <a:solidFill>
                <a:srgbClr val="64748B"/>
              </a:solidFill>
              <a:latin typeface="Arial"/>
              <a:ea typeface="Arial"/>
              <a:cs typeface="Arial"/>
              <a:sym typeface="Arial"/>
            </a:endParaRPr>
          </a:p>
        </p:txBody>
      </p:sp>
      <p:sp>
        <p:nvSpPr>
          <p:cNvPr id="504" name="Google Shape;504;p22"/>
          <p:cNvSpPr/>
          <p:nvPr/>
        </p:nvSpPr>
        <p:spPr>
          <a:xfrm>
            <a:off x="914400" y="2514600"/>
            <a:ext cx="3330000" cy="1790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700">
                <a:solidFill>
                  <a:srgbClr val="EF4444"/>
                </a:solidFill>
                <a:latin typeface="Arial"/>
                <a:ea typeface="Arial"/>
                <a:cs typeface="Arial"/>
                <a:sym typeface="Arial"/>
              </a:rPr>
              <a:t>❌ 原則として「著作権なし」！</a:t>
            </a:r>
            <a:endParaRPr b="1" sz="1700">
              <a:solidFill>
                <a:srgbClr val="EF4444"/>
              </a:solidFill>
              <a:latin typeface="Arial"/>
              <a:ea typeface="Arial"/>
              <a:cs typeface="Arial"/>
              <a:sym typeface="Arial"/>
            </a:endParaRPr>
          </a:p>
          <a:p>
            <a:pPr indent="0" lvl="0" marL="0" rtl="0" algn="ctr">
              <a:spcBef>
                <a:spcPts val="600"/>
              </a:spcBef>
              <a:spcAft>
                <a:spcPts val="0"/>
              </a:spcAft>
              <a:buNone/>
            </a:pPr>
            <a:r>
              <a:rPr b="0" lang="en-US" sz="1300">
                <a:solidFill>
                  <a:srgbClr val="475569"/>
                </a:solidFill>
                <a:latin typeface="Arial"/>
                <a:ea typeface="Arial"/>
                <a:cs typeface="Arial"/>
                <a:sym typeface="Arial"/>
              </a:rPr>
              <a:t>著作権は「人間が創作したもの」にしか</a:t>
            </a:r>
            <a:br>
              <a:rPr b="0" lang="en-US" sz="1300">
                <a:solidFill>
                  <a:srgbClr val="475569"/>
                </a:solidFill>
                <a:latin typeface="Arial"/>
                <a:ea typeface="Arial"/>
                <a:cs typeface="Arial"/>
                <a:sym typeface="Arial"/>
              </a:rPr>
            </a:br>
            <a:r>
              <a:rPr b="0" lang="en-US" sz="1300">
                <a:solidFill>
                  <a:srgbClr val="475569"/>
                </a:solidFill>
                <a:latin typeface="Arial"/>
                <a:ea typeface="Arial"/>
                <a:cs typeface="Arial"/>
                <a:sym typeface="Arial"/>
              </a:rPr>
              <a:t>発生しないルールだから！</a:t>
            </a:r>
            <a:endParaRPr b="0" sz="1300">
              <a:solidFill>
                <a:srgbClr val="475569"/>
              </a:solidFill>
              <a:latin typeface="Arial"/>
              <a:ea typeface="Arial"/>
              <a:cs typeface="Arial"/>
              <a:sym typeface="Arial"/>
            </a:endParaRPr>
          </a:p>
        </p:txBody>
      </p:sp>
      <p:sp>
        <p:nvSpPr>
          <p:cNvPr id="505" name="Google Shape;505;p22"/>
          <p:cNvSpPr/>
          <p:nvPr/>
        </p:nvSpPr>
        <p:spPr>
          <a:xfrm>
            <a:off x="4716780" y="1828800"/>
            <a:ext cx="3695700" cy="2667000"/>
          </a:xfrm>
          <a:prstGeom prst="roundRect">
            <a:avLst>
              <a:gd fmla="val 5714" name="adj"/>
            </a:avLst>
          </a:prstGeom>
          <a:solidFill>
            <a:srgbClr val="EFF6FF"/>
          </a:solidFill>
          <a:ln cap="flat" cmpd="sng" w="23825">
            <a:solidFill>
              <a:srgbClr val="2563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06" name="Google Shape;506;p22"/>
          <p:cNvSpPr/>
          <p:nvPr/>
        </p:nvSpPr>
        <p:spPr>
          <a:xfrm>
            <a:off x="4899660" y="2019300"/>
            <a:ext cx="3330000" cy="4191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2000">
                <a:solidFill>
                  <a:srgbClr val="1D4ED8"/>
                </a:solidFill>
                <a:latin typeface="Arial"/>
                <a:ea typeface="Arial"/>
                <a:cs typeface="Arial"/>
                <a:sym typeface="Arial"/>
              </a:rPr>
              <a:t>✍️ 人の創作的工夫</a:t>
            </a:r>
            <a:endParaRPr b="1" sz="2000">
              <a:solidFill>
                <a:srgbClr val="1D4ED8"/>
              </a:solidFill>
              <a:latin typeface="Arial"/>
              <a:ea typeface="Arial"/>
              <a:cs typeface="Arial"/>
              <a:sym typeface="Arial"/>
            </a:endParaRPr>
          </a:p>
        </p:txBody>
      </p:sp>
      <p:sp>
        <p:nvSpPr>
          <p:cNvPr id="507" name="Google Shape;507;p22"/>
          <p:cNvSpPr/>
          <p:nvPr/>
        </p:nvSpPr>
        <p:spPr>
          <a:xfrm>
            <a:off x="4899660" y="2514600"/>
            <a:ext cx="3330000" cy="1790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700">
                <a:solidFill>
                  <a:srgbClr val="1D4ED8"/>
                </a:solidFill>
                <a:highlight>
                  <a:srgbClr val="DBEAFE"/>
                </a:highlight>
                <a:latin typeface="Arial"/>
                <a:ea typeface="Arial"/>
                <a:cs typeface="Arial"/>
                <a:sym typeface="Arial"/>
              </a:rPr>
              <a:t>⭕ 著作権が生まれる可能性！</a:t>
            </a:r>
            <a:endParaRPr b="1" sz="1700">
              <a:solidFill>
                <a:srgbClr val="1D4ED8"/>
              </a:solidFill>
              <a:highlight>
                <a:srgbClr val="DBEAFE"/>
              </a:highlight>
              <a:latin typeface="Arial"/>
              <a:ea typeface="Arial"/>
              <a:cs typeface="Arial"/>
              <a:sym typeface="Arial"/>
            </a:endParaRPr>
          </a:p>
          <a:p>
            <a:pPr indent="0" lvl="0" marL="0" rtl="0" algn="ctr">
              <a:spcBef>
                <a:spcPts val="600"/>
              </a:spcBef>
              <a:spcAft>
                <a:spcPts val="0"/>
              </a:spcAft>
              <a:buNone/>
            </a:pPr>
            <a:r>
              <a:rPr b="1" lang="en-US" sz="1300">
                <a:solidFill>
                  <a:srgbClr val="1E3A8A"/>
                </a:solidFill>
                <a:latin typeface="Arial"/>
                <a:ea typeface="Arial"/>
                <a:cs typeface="Arial"/>
                <a:sym typeface="Arial"/>
              </a:rPr>
              <a:t>プロンプトの工夫、構図指定、</a:t>
            </a:r>
            <a:br>
              <a:rPr b="1" lang="en-US" sz="1300">
                <a:solidFill>
                  <a:srgbClr val="1E3A8A"/>
                </a:solidFill>
                <a:latin typeface="Arial"/>
                <a:ea typeface="Arial"/>
                <a:cs typeface="Arial"/>
                <a:sym typeface="Arial"/>
              </a:rPr>
            </a:br>
            <a:r>
              <a:rPr b="1" lang="en-US" sz="1300">
                <a:solidFill>
                  <a:srgbClr val="1E3A8A"/>
                </a:solidFill>
                <a:latin typeface="Arial"/>
                <a:ea typeface="Arial"/>
                <a:cs typeface="Arial"/>
                <a:sym typeface="Arial"/>
              </a:rPr>
              <a:t>加筆・レタッチ、編集合成！</a:t>
            </a:r>
            <a:endParaRPr b="1" sz="1300">
              <a:solidFill>
                <a:srgbClr val="1E3A8A"/>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2" name="Shape 512"/>
        <p:cNvGrpSpPr/>
        <p:nvPr/>
      </p:nvGrpSpPr>
      <p:grpSpPr>
        <a:xfrm>
          <a:off x="0" y="0"/>
          <a:ext cx="0" cy="0"/>
          <a:chOff x="0" y="0"/>
          <a:chExt cx="0" cy="0"/>
        </a:xfrm>
      </p:grpSpPr>
      <p:sp>
        <p:nvSpPr>
          <p:cNvPr id="513" name="Google Shape;513;p23"/>
          <p:cNvSpPr/>
          <p:nvPr/>
        </p:nvSpPr>
        <p:spPr>
          <a:xfrm>
            <a:off x="731520" y="4709160"/>
            <a:ext cx="5486400" cy="320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18096"/>
              </a:buClr>
              <a:buSzPts val="1200"/>
              <a:buFont typeface="Meiryo"/>
              <a:buNone/>
            </a:pPr>
            <a:r>
              <a:rPr b="0" i="0" lang="en-US" sz="1200" u="none" cap="none" strike="noStrike">
                <a:solidFill>
                  <a:srgbClr val="718096"/>
                </a:solidFill>
                <a:latin typeface="Meiryo"/>
                <a:ea typeface="Meiryo"/>
                <a:cs typeface="Meiryo"/>
                <a:sym typeface="Meiryo"/>
              </a:rPr>
              <a:t>第4部 AI生成物ならではの法律問題</a:t>
            </a:r>
            <a:endParaRPr b="0" i="0" sz="1200" u="none" cap="none" strike="noStrike">
              <a:solidFill>
                <a:schemeClr val="dk1"/>
              </a:solidFill>
              <a:latin typeface="Calibri"/>
              <a:ea typeface="Calibri"/>
              <a:cs typeface="Calibri"/>
              <a:sym typeface="Calibri"/>
            </a:endParaRPr>
          </a:p>
        </p:txBody>
      </p:sp>
      <p:sp>
        <p:nvSpPr>
          <p:cNvPr id="514" name="Google Shape;514;p23"/>
          <p:cNvSpPr/>
          <p:nvPr/>
        </p:nvSpPr>
        <p:spPr>
          <a:xfrm>
            <a:off x="7315200" y="4709160"/>
            <a:ext cx="1097400" cy="3201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718096"/>
              </a:buClr>
              <a:buSzPts val="1200"/>
              <a:buFont typeface="Meiryo"/>
              <a:buNone/>
            </a:pPr>
            <a:r>
              <a:rPr b="0" i="0" lang="en-US" sz="1200" u="none" cap="none" strike="noStrike">
                <a:solidFill>
                  <a:srgbClr val="718096"/>
                </a:solidFill>
                <a:latin typeface="Meiryo"/>
                <a:ea typeface="Meiryo"/>
                <a:cs typeface="Meiryo"/>
                <a:sym typeface="Meiryo"/>
              </a:rPr>
              <a:t>23 / 30</a:t>
            </a:r>
            <a:endParaRPr b="0" i="0" sz="1200" u="none" cap="none" strike="noStrike">
              <a:solidFill>
                <a:schemeClr val="dk1"/>
              </a:solidFill>
              <a:latin typeface="Calibri"/>
              <a:ea typeface="Calibri"/>
              <a:cs typeface="Calibri"/>
              <a:sym typeface="Calibri"/>
            </a:endParaRPr>
          </a:p>
        </p:txBody>
      </p:sp>
      <p:sp>
        <p:nvSpPr>
          <p:cNvPr id="515" name="Google Shape;515;p23"/>
          <p:cNvSpPr/>
          <p:nvPr/>
        </p:nvSpPr>
        <p:spPr>
          <a:xfrm>
            <a:off x="731520" y="381000"/>
            <a:ext cx="7680900" cy="4572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2400">
                <a:solidFill>
                  <a:srgbClr val="0F172A"/>
                </a:solidFill>
                <a:latin typeface="Arial"/>
                <a:ea typeface="Arial"/>
                <a:cs typeface="Arial"/>
                <a:sym typeface="Arial"/>
              </a:rPr>
              <a:t>著作権のルール ― 人の創作的関与と契約条項</a:t>
            </a:r>
            <a:endParaRPr b="1" sz="2400">
              <a:solidFill>
                <a:srgbClr val="0F172A"/>
              </a:solidFill>
              <a:latin typeface="Arial"/>
              <a:ea typeface="Arial"/>
              <a:cs typeface="Arial"/>
              <a:sym typeface="Arial"/>
            </a:endParaRPr>
          </a:p>
        </p:txBody>
      </p:sp>
      <p:sp>
        <p:nvSpPr>
          <p:cNvPr id="516" name="Google Shape;516;p23"/>
          <p:cNvSpPr/>
          <p:nvPr/>
        </p:nvSpPr>
        <p:spPr>
          <a:xfrm>
            <a:off x="731520" y="1028700"/>
            <a:ext cx="3695700" cy="3429000"/>
          </a:xfrm>
          <a:prstGeom prst="roundRect">
            <a:avLst>
              <a:gd fmla="val 4444" name="adj"/>
            </a:avLst>
          </a:prstGeom>
          <a:solidFill>
            <a:srgbClr val="EFF6FF"/>
          </a:solidFill>
          <a:ln cap="flat" cmpd="sng" w="19050">
            <a:solidFill>
              <a:srgbClr val="2563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17" name="Google Shape;517;p23"/>
          <p:cNvSpPr/>
          <p:nvPr/>
        </p:nvSpPr>
        <p:spPr>
          <a:xfrm>
            <a:off x="883920" y="1181100"/>
            <a:ext cx="33909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2000">
                <a:solidFill>
                  <a:srgbClr val="1D4ED8"/>
                </a:solidFill>
                <a:latin typeface="Arial"/>
                <a:ea typeface="Arial"/>
                <a:cs typeface="Arial"/>
                <a:sym typeface="Arial"/>
              </a:rPr>
              <a:t>🎨 人の創作的関与</a:t>
            </a:r>
            <a:endParaRPr b="1" sz="2000">
              <a:solidFill>
                <a:srgbClr val="1D4ED8"/>
              </a:solidFill>
              <a:latin typeface="Arial"/>
              <a:ea typeface="Arial"/>
              <a:cs typeface="Arial"/>
              <a:sym typeface="Arial"/>
            </a:endParaRPr>
          </a:p>
        </p:txBody>
      </p:sp>
      <p:sp>
        <p:nvSpPr>
          <p:cNvPr id="518" name="Google Shape;518;p23"/>
          <p:cNvSpPr/>
          <p:nvPr/>
        </p:nvSpPr>
        <p:spPr>
          <a:xfrm>
            <a:off x="914400" y="1638300"/>
            <a:ext cx="3330000" cy="2667000"/>
          </a:xfrm>
          <a:prstGeom prst="rect">
            <a:avLst/>
          </a:prstGeom>
          <a:solidFill>
            <a:srgbClr val="000000">
              <a:alpha val="0"/>
            </a:srgbClr>
          </a:solidFill>
          <a:ln>
            <a:noFill/>
          </a:ln>
        </p:spPr>
        <p:txBody>
          <a:bodyPr anchorCtr="0" anchor="ctr" bIns="0" lIns="0" spcFirstLastPara="1" rIns="0" wrap="square" tIns="0">
            <a:noAutofit/>
          </a:bodyPr>
          <a:lstStyle/>
          <a:p>
            <a:pPr indent="-314325" lvl="0" marL="457200" rtl="0" algn="l">
              <a:spcBef>
                <a:spcPts val="0"/>
              </a:spcBef>
              <a:spcAft>
                <a:spcPts val="0"/>
              </a:spcAft>
              <a:buClr>
                <a:srgbClr val="1E293B"/>
              </a:buClr>
              <a:buSzPts val="1350"/>
              <a:buFont typeface="Arial"/>
              <a:buChar char="●"/>
            </a:pPr>
            <a:r>
              <a:rPr b="0" lang="en-US" sz="1350">
                <a:solidFill>
                  <a:srgbClr val="1E293B"/>
                </a:solidFill>
                <a:latin typeface="Arial"/>
                <a:ea typeface="Arial"/>
                <a:cs typeface="Arial"/>
                <a:sym typeface="Arial"/>
              </a:rPr>
              <a:t>詳細なプロンプトの工夫</a:t>
            </a:r>
            <a:endParaRPr b="0" sz="1350">
              <a:solidFill>
                <a:srgbClr val="1E293B"/>
              </a:solidFill>
              <a:latin typeface="Arial"/>
              <a:ea typeface="Arial"/>
              <a:cs typeface="Arial"/>
              <a:sym typeface="Arial"/>
            </a:endParaRPr>
          </a:p>
          <a:p>
            <a:pPr indent="-314325" lvl="0" marL="457200" rtl="0" algn="l">
              <a:spcBef>
                <a:spcPts val="600"/>
              </a:spcBef>
              <a:spcAft>
                <a:spcPts val="0"/>
              </a:spcAft>
              <a:buClr>
                <a:srgbClr val="1E293B"/>
              </a:buClr>
              <a:buSzPts val="1350"/>
              <a:buFont typeface="Arial"/>
              <a:buChar char="●"/>
            </a:pPr>
            <a:r>
              <a:rPr b="0" lang="en-US" sz="1350">
                <a:solidFill>
                  <a:srgbClr val="1E293B"/>
                </a:solidFill>
                <a:latin typeface="Arial"/>
                <a:ea typeface="Arial"/>
                <a:cs typeface="Arial"/>
                <a:sym typeface="Arial"/>
              </a:rPr>
              <a:t>多数の生成物からの厳選</a:t>
            </a:r>
            <a:endParaRPr b="0" sz="1350">
              <a:solidFill>
                <a:srgbClr val="1E293B"/>
              </a:solidFill>
              <a:latin typeface="Arial"/>
              <a:ea typeface="Arial"/>
              <a:cs typeface="Arial"/>
              <a:sym typeface="Arial"/>
            </a:endParaRPr>
          </a:p>
          <a:p>
            <a:pPr indent="-314325" lvl="0" marL="457200" rtl="0" algn="l">
              <a:spcBef>
                <a:spcPts val="600"/>
              </a:spcBef>
              <a:spcAft>
                <a:spcPts val="0"/>
              </a:spcAft>
              <a:buClr>
                <a:srgbClr val="1E293B"/>
              </a:buClr>
              <a:buSzPts val="1350"/>
              <a:buFont typeface="Arial"/>
              <a:buChar char="●"/>
            </a:pPr>
            <a:r>
              <a:rPr b="0" lang="en-US" sz="1350">
                <a:solidFill>
                  <a:srgbClr val="1E293B"/>
                </a:solidFill>
                <a:latin typeface="Arial"/>
                <a:ea typeface="Arial"/>
                <a:cs typeface="Arial"/>
                <a:sym typeface="Arial"/>
              </a:rPr>
              <a:t>加筆・レタッチ（修正作業）</a:t>
            </a:r>
            <a:endParaRPr b="0" sz="1350">
              <a:solidFill>
                <a:srgbClr val="1E293B"/>
              </a:solidFill>
              <a:latin typeface="Arial"/>
              <a:ea typeface="Arial"/>
              <a:cs typeface="Arial"/>
              <a:sym typeface="Arial"/>
            </a:endParaRPr>
          </a:p>
          <a:p>
            <a:pPr indent="-314325" lvl="0" marL="457200" rtl="0" algn="l">
              <a:spcBef>
                <a:spcPts val="600"/>
              </a:spcBef>
              <a:spcAft>
                <a:spcPts val="0"/>
              </a:spcAft>
              <a:buClr>
                <a:srgbClr val="1E293B"/>
              </a:buClr>
              <a:buSzPts val="1350"/>
              <a:buFont typeface="Arial"/>
              <a:buChar char="●"/>
            </a:pPr>
            <a:r>
              <a:rPr b="0" lang="en-US" sz="1350">
                <a:solidFill>
                  <a:srgbClr val="1E293B"/>
                </a:solidFill>
                <a:latin typeface="Arial"/>
                <a:ea typeface="Arial"/>
                <a:cs typeface="Arial"/>
                <a:sym typeface="Arial"/>
              </a:rPr>
              <a:t>動画のカット割り・音楽同期</a:t>
            </a:r>
            <a:endParaRPr b="0" sz="1350">
              <a:solidFill>
                <a:srgbClr val="1E293B"/>
              </a:solidFill>
              <a:latin typeface="Arial"/>
              <a:ea typeface="Arial"/>
              <a:cs typeface="Arial"/>
              <a:sym typeface="Arial"/>
            </a:endParaRPr>
          </a:p>
          <a:p>
            <a:pPr indent="0" lvl="0" marL="0" rtl="0" algn="ctr">
              <a:spcBef>
                <a:spcPts val="900"/>
              </a:spcBef>
              <a:spcAft>
                <a:spcPts val="0"/>
              </a:spcAft>
              <a:buNone/>
            </a:pPr>
            <a:r>
              <a:rPr b="1" lang="en-US" sz="1300">
                <a:solidFill>
                  <a:srgbClr val="1E3A8A"/>
                </a:solidFill>
                <a:highlight>
                  <a:srgbClr val="DBEAFE"/>
                </a:highlight>
                <a:latin typeface="Arial"/>
                <a:ea typeface="Arial"/>
                <a:cs typeface="Arial"/>
                <a:sym typeface="Arial"/>
              </a:rPr>
              <a:t>👉 あなたの「工夫」が加わることで</a:t>
            </a:r>
            <a:br>
              <a:rPr b="1" lang="en-US" sz="1300">
                <a:solidFill>
                  <a:srgbClr val="1E3A8A"/>
                </a:solidFill>
                <a:highlight>
                  <a:srgbClr val="DBEAFE"/>
                </a:highlight>
                <a:latin typeface="Arial"/>
                <a:ea typeface="Arial"/>
                <a:cs typeface="Arial"/>
                <a:sym typeface="Arial"/>
              </a:rPr>
            </a:br>
            <a:r>
              <a:rPr b="1" lang="en-US" sz="1300">
                <a:solidFill>
                  <a:srgbClr val="1E3A8A"/>
                </a:solidFill>
                <a:highlight>
                  <a:srgbClr val="DBEAFE"/>
                </a:highlight>
                <a:latin typeface="Arial"/>
                <a:ea typeface="Arial"/>
                <a:cs typeface="Arial"/>
                <a:sym typeface="Arial"/>
              </a:rPr>
              <a:t>作品に著作権が宿ります！</a:t>
            </a:r>
            <a:endParaRPr b="1" sz="1300">
              <a:solidFill>
                <a:srgbClr val="1E3A8A"/>
              </a:solidFill>
              <a:highlight>
                <a:srgbClr val="DBEAFE"/>
              </a:highlight>
              <a:latin typeface="Arial"/>
              <a:ea typeface="Arial"/>
              <a:cs typeface="Arial"/>
              <a:sym typeface="Arial"/>
            </a:endParaRPr>
          </a:p>
        </p:txBody>
      </p:sp>
      <p:sp>
        <p:nvSpPr>
          <p:cNvPr id="519" name="Google Shape;519;p23"/>
          <p:cNvSpPr/>
          <p:nvPr/>
        </p:nvSpPr>
        <p:spPr>
          <a:xfrm>
            <a:off x="4716780" y="1028700"/>
            <a:ext cx="3695700" cy="3429000"/>
          </a:xfrm>
          <a:prstGeom prst="roundRect">
            <a:avLst>
              <a:gd fmla="val 4444" name="adj"/>
            </a:avLst>
          </a:prstGeom>
          <a:solidFill>
            <a:srgbClr val="F8FAFC"/>
          </a:solidFill>
          <a:ln cap="flat" cmpd="sng" w="19050">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20" name="Google Shape;520;p23"/>
          <p:cNvSpPr/>
          <p:nvPr/>
        </p:nvSpPr>
        <p:spPr>
          <a:xfrm>
            <a:off x="4869180" y="1181100"/>
            <a:ext cx="33909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2000">
                <a:solidFill>
                  <a:srgbClr val="0F172A"/>
                </a:solidFill>
                <a:latin typeface="Arial"/>
                <a:ea typeface="Arial"/>
                <a:cs typeface="Arial"/>
                <a:sym typeface="Arial"/>
              </a:rPr>
              <a:t>📜 契約書の「権利条項」</a:t>
            </a:r>
            <a:endParaRPr b="1" sz="2000">
              <a:solidFill>
                <a:srgbClr val="0F172A"/>
              </a:solidFill>
              <a:latin typeface="Arial"/>
              <a:ea typeface="Arial"/>
              <a:cs typeface="Arial"/>
              <a:sym typeface="Arial"/>
            </a:endParaRPr>
          </a:p>
        </p:txBody>
      </p:sp>
      <p:sp>
        <p:nvSpPr>
          <p:cNvPr id="521" name="Google Shape;521;p23"/>
          <p:cNvSpPr/>
          <p:nvPr/>
        </p:nvSpPr>
        <p:spPr>
          <a:xfrm>
            <a:off x="4899660" y="1638300"/>
            <a:ext cx="3330000" cy="2667000"/>
          </a:xfrm>
          <a:prstGeom prst="rect">
            <a:avLst/>
          </a:prstGeom>
          <a:solidFill>
            <a:srgbClr val="000000">
              <a:alpha val="0"/>
            </a:srgbClr>
          </a:solidFill>
          <a:ln>
            <a:noFill/>
          </a:ln>
        </p:spPr>
        <p:txBody>
          <a:bodyPr anchorCtr="0" anchor="ctr" bIns="0" lIns="0" spcFirstLastPara="1" rIns="0" wrap="square" tIns="0">
            <a:noAutofit/>
          </a:bodyPr>
          <a:lstStyle/>
          <a:p>
            <a:pPr indent="-314325" lvl="0" marL="457200" rtl="0" algn="l">
              <a:spcBef>
                <a:spcPts val="0"/>
              </a:spcBef>
              <a:spcAft>
                <a:spcPts val="0"/>
              </a:spcAft>
              <a:buClr>
                <a:srgbClr val="1E293B"/>
              </a:buClr>
              <a:buSzPts val="1350"/>
              <a:buFont typeface="Arial"/>
              <a:buChar char="●"/>
            </a:pPr>
            <a:r>
              <a:rPr b="0" lang="en-US" sz="1350">
                <a:solidFill>
                  <a:srgbClr val="1E293B"/>
                </a:solidFill>
                <a:latin typeface="Arial"/>
                <a:ea typeface="Arial"/>
                <a:cs typeface="Arial"/>
                <a:sym typeface="Arial"/>
              </a:rPr>
              <a:t>AI生成物の法律はまだ過渡期</a:t>
            </a:r>
            <a:endParaRPr b="0" sz="1350">
              <a:solidFill>
                <a:srgbClr val="1E293B"/>
              </a:solidFill>
              <a:latin typeface="Arial"/>
              <a:ea typeface="Arial"/>
              <a:cs typeface="Arial"/>
              <a:sym typeface="Arial"/>
            </a:endParaRPr>
          </a:p>
          <a:p>
            <a:pPr indent="-314325" lvl="0" marL="457200" rtl="0" algn="l">
              <a:spcBef>
                <a:spcPts val="900"/>
              </a:spcBef>
              <a:spcAft>
                <a:spcPts val="0"/>
              </a:spcAft>
              <a:buClr>
                <a:srgbClr val="1E293B"/>
              </a:buClr>
              <a:buSzPts val="1350"/>
              <a:buFont typeface="Arial"/>
              <a:buChar char="●"/>
            </a:pPr>
            <a:r>
              <a:rPr b="0" lang="en-US" sz="1350">
                <a:solidFill>
                  <a:srgbClr val="1E293B"/>
                </a:solidFill>
                <a:latin typeface="Arial"/>
                <a:ea typeface="Arial"/>
                <a:cs typeface="Arial"/>
                <a:sym typeface="Arial"/>
              </a:rPr>
              <a:t>「納品した作品の権利はどちらに帰属するか」を契約で決めておく！</a:t>
            </a:r>
            <a:endParaRPr b="0" sz="1350">
              <a:solidFill>
                <a:srgbClr val="1E293B"/>
              </a:solidFill>
              <a:latin typeface="Arial"/>
              <a:ea typeface="Arial"/>
              <a:cs typeface="Arial"/>
              <a:sym typeface="Arial"/>
            </a:endParaRPr>
          </a:p>
          <a:p>
            <a:pPr indent="0" lvl="0" marL="0" rtl="0" algn="ctr">
              <a:spcBef>
                <a:spcPts val="900"/>
              </a:spcBef>
              <a:spcAft>
                <a:spcPts val="0"/>
              </a:spcAft>
              <a:buNone/>
            </a:pPr>
            <a:r>
              <a:rPr b="1" lang="en-US" sz="1300">
                <a:solidFill>
                  <a:srgbClr val="0F172A"/>
                </a:solidFill>
                <a:highlight>
                  <a:srgbClr val="E2E8F0"/>
                </a:highlight>
                <a:latin typeface="Arial"/>
                <a:ea typeface="Arial"/>
                <a:cs typeface="Arial"/>
                <a:sym typeface="Arial"/>
              </a:rPr>
              <a:t>👉 事前に決めておくことで、</a:t>
            </a:r>
            <a:br>
              <a:rPr b="1" lang="en-US" sz="1300">
                <a:solidFill>
                  <a:srgbClr val="0F172A"/>
                </a:solidFill>
                <a:highlight>
                  <a:srgbClr val="E2E8F0"/>
                </a:highlight>
                <a:latin typeface="Arial"/>
                <a:ea typeface="Arial"/>
                <a:cs typeface="Arial"/>
                <a:sym typeface="Arial"/>
              </a:rPr>
            </a:br>
            <a:r>
              <a:rPr b="1" lang="en-US" sz="1300">
                <a:solidFill>
                  <a:srgbClr val="0F172A"/>
                </a:solidFill>
                <a:highlight>
                  <a:srgbClr val="E2E8F0"/>
                </a:highlight>
                <a:latin typeface="Arial"/>
                <a:ea typeface="Arial"/>
                <a:cs typeface="Arial"/>
                <a:sym typeface="Arial"/>
              </a:rPr>
              <a:t>お互い安心して作品を使えます！</a:t>
            </a:r>
            <a:endParaRPr b="1" sz="1300">
              <a:solidFill>
                <a:srgbClr val="0F172A"/>
              </a:solidFill>
              <a:highlight>
                <a:srgbClr val="E2E8F0"/>
              </a:highlight>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6" name="Shape 526"/>
        <p:cNvGrpSpPr/>
        <p:nvPr/>
      </p:nvGrpSpPr>
      <p:grpSpPr>
        <a:xfrm>
          <a:off x="0" y="0"/>
          <a:ext cx="0" cy="0"/>
          <a:chOff x="0" y="0"/>
          <a:chExt cx="0" cy="0"/>
        </a:xfrm>
      </p:grpSpPr>
      <p:sp>
        <p:nvSpPr>
          <p:cNvPr id="527" name="Google Shape;527;p24"/>
          <p:cNvSpPr/>
          <p:nvPr/>
        </p:nvSpPr>
        <p:spPr>
          <a:xfrm>
            <a:off x="731520" y="4709160"/>
            <a:ext cx="5486400" cy="320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18096"/>
              </a:buClr>
              <a:buSzPts val="1200"/>
              <a:buFont typeface="Meiryo"/>
              <a:buNone/>
            </a:pPr>
            <a:r>
              <a:rPr b="0" i="0" lang="en-US" sz="1200" u="none" cap="none" strike="noStrike">
                <a:solidFill>
                  <a:srgbClr val="718096"/>
                </a:solidFill>
                <a:latin typeface="Meiryo"/>
                <a:ea typeface="Meiryo"/>
                <a:cs typeface="Meiryo"/>
                <a:sym typeface="Meiryo"/>
              </a:rPr>
              <a:t>第4部 AI生成物ならではの法律問題</a:t>
            </a:r>
            <a:endParaRPr b="0" i="0" sz="1200" u="none" cap="none" strike="noStrike">
              <a:solidFill>
                <a:schemeClr val="dk1"/>
              </a:solidFill>
              <a:latin typeface="Calibri"/>
              <a:ea typeface="Calibri"/>
              <a:cs typeface="Calibri"/>
              <a:sym typeface="Calibri"/>
            </a:endParaRPr>
          </a:p>
        </p:txBody>
      </p:sp>
      <p:sp>
        <p:nvSpPr>
          <p:cNvPr id="528" name="Google Shape;528;p24"/>
          <p:cNvSpPr/>
          <p:nvPr/>
        </p:nvSpPr>
        <p:spPr>
          <a:xfrm>
            <a:off x="7315200" y="4709160"/>
            <a:ext cx="1097400" cy="3201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718096"/>
              </a:buClr>
              <a:buSzPts val="1200"/>
              <a:buFont typeface="Meiryo"/>
              <a:buNone/>
            </a:pPr>
            <a:r>
              <a:rPr b="0" i="0" lang="en-US" sz="1200" u="none" cap="none" strike="noStrike">
                <a:solidFill>
                  <a:srgbClr val="718096"/>
                </a:solidFill>
                <a:latin typeface="Meiryo"/>
                <a:ea typeface="Meiryo"/>
                <a:cs typeface="Meiryo"/>
                <a:sym typeface="Meiryo"/>
              </a:rPr>
              <a:t>24 / 30</a:t>
            </a:r>
            <a:endParaRPr b="0" i="0" sz="1200" u="none" cap="none" strike="noStrike">
              <a:solidFill>
                <a:schemeClr val="dk1"/>
              </a:solidFill>
              <a:latin typeface="Calibri"/>
              <a:ea typeface="Calibri"/>
              <a:cs typeface="Calibri"/>
              <a:sym typeface="Calibri"/>
            </a:endParaRPr>
          </a:p>
        </p:txBody>
      </p:sp>
      <p:sp>
        <p:nvSpPr>
          <p:cNvPr id="529" name="Google Shape;529;p24"/>
          <p:cNvSpPr/>
          <p:nvPr/>
        </p:nvSpPr>
        <p:spPr>
          <a:xfrm>
            <a:off x="731520" y="457200"/>
            <a:ext cx="76809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02C"/>
              </a:buClr>
              <a:buSzPts val="2600"/>
              <a:buFont typeface="Meiryo"/>
              <a:buNone/>
            </a:pPr>
            <a:r>
              <a:rPr b="1" i="0" lang="en-US" sz="2600" u="none" cap="none" strike="noStrike">
                <a:solidFill>
                  <a:srgbClr val="1A202C"/>
                </a:solidFill>
                <a:latin typeface="Meiryo"/>
                <a:ea typeface="Meiryo"/>
                <a:cs typeface="Meiryo"/>
                <a:sym typeface="Meiryo"/>
              </a:rPr>
              <a:t>他人の権利を傷つけないためのルール（4大NG）</a:t>
            </a:r>
            <a:endParaRPr b="0" i="0" sz="2600" u="none" cap="none" strike="noStrike">
              <a:solidFill>
                <a:schemeClr val="dk1"/>
              </a:solidFill>
              <a:latin typeface="Calibri"/>
              <a:ea typeface="Calibri"/>
              <a:cs typeface="Calibri"/>
              <a:sym typeface="Calibri"/>
            </a:endParaRPr>
          </a:p>
        </p:txBody>
      </p:sp>
      <p:sp>
        <p:nvSpPr>
          <p:cNvPr id="530" name="Google Shape;530;p24"/>
          <p:cNvSpPr/>
          <p:nvPr/>
        </p:nvSpPr>
        <p:spPr>
          <a:xfrm>
            <a:off x="731520" y="1143000"/>
            <a:ext cx="3695700" cy="1181100"/>
          </a:xfrm>
          <a:prstGeom prst="roundRect">
            <a:avLst>
              <a:gd fmla="val 9677" name="adj"/>
            </a:avLst>
          </a:prstGeom>
          <a:solidFill>
            <a:srgbClr val="FFFFFF"/>
          </a:solidFill>
          <a:ln cap="flat" cmpd="sng" w="14300">
            <a:solidFill>
              <a:srgbClr val="FCA5A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31" name="Google Shape;531;p24"/>
          <p:cNvSpPr/>
          <p:nvPr/>
        </p:nvSpPr>
        <p:spPr>
          <a:xfrm>
            <a:off x="4716780" y="1143000"/>
            <a:ext cx="3695700" cy="1181100"/>
          </a:xfrm>
          <a:prstGeom prst="roundRect">
            <a:avLst>
              <a:gd fmla="val 9677" name="adj"/>
            </a:avLst>
          </a:prstGeom>
          <a:solidFill>
            <a:srgbClr val="FFFFFF"/>
          </a:solidFill>
          <a:ln cap="flat" cmpd="sng" w="14300">
            <a:solidFill>
              <a:srgbClr val="FCA5A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32" name="Google Shape;532;p24"/>
          <p:cNvSpPr/>
          <p:nvPr/>
        </p:nvSpPr>
        <p:spPr>
          <a:xfrm>
            <a:off x="731520" y="2438400"/>
            <a:ext cx="3695700" cy="1181100"/>
          </a:xfrm>
          <a:prstGeom prst="roundRect">
            <a:avLst>
              <a:gd fmla="val 9677" name="adj"/>
            </a:avLst>
          </a:prstGeom>
          <a:solidFill>
            <a:srgbClr val="FFFFFF"/>
          </a:solidFill>
          <a:ln cap="flat" cmpd="sng" w="14300">
            <a:solidFill>
              <a:srgbClr val="FCA5A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33" name="Google Shape;533;p24"/>
          <p:cNvSpPr/>
          <p:nvPr/>
        </p:nvSpPr>
        <p:spPr>
          <a:xfrm>
            <a:off x="4716780" y="2438400"/>
            <a:ext cx="3695700" cy="1181100"/>
          </a:xfrm>
          <a:prstGeom prst="roundRect">
            <a:avLst>
              <a:gd fmla="val 9677" name="adj"/>
            </a:avLst>
          </a:prstGeom>
          <a:solidFill>
            <a:srgbClr val="FFFFFF"/>
          </a:solidFill>
          <a:ln cap="flat" cmpd="sng" w="14300">
            <a:solidFill>
              <a:srgbClr val="FCA5A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34" name="Google Shape;534;p24"/>
          <p:cNvSpPr/>
          <p:nvPr/>
        </p:nvSpPr>
        <p:spPr>
          <a:xfrm>
            <a:off x="731520" y="3810000"/>
            <a:ext cx="7680900" cy="609600"/>
          </a:xfrm>
          <a:prstGeom prst="roundRect">
            <a:avLst>
              <a:gd fmla="val 18750" name="adj"/>
            </a:avLst>
          </a:prstGeom>
          <a:solidFill>
            <a:srgbClr val="EFF6FF"/>
          </a:solidFill>
          <a:ln cap="flat" cmpd="sng" w="14300">
            <a:solidFill>
              <a:srgbClr val="2563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35" name="Google Shape;535;p24"/>
          <p:cNvSpPr/>
          <p:nvPr/>
        </p:nvSpPr>
        <p:spPr>
          <a:xfrm>
            <a:off x="883920" y="1257300"/>
            <a:ext cx="3390900" cy="304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1600">
                <a:solidFill>
                  <a:srgbClr val="DC2626"/>
                </a:solidFill>
                <a:latin typeface="Arial"/>
                <a:ea typeface="Arial"/>
                <a:cs typeface="Arial"/>
                <a:sym typeface="Arial"/>
              </a:rPr>
              <a:t>❌ 有名キャラの模倣</a:t>
            </a:r>
            <a:endParaRPr b="1" sz="1600">
              <a:solidFill>
                <a:srgbClr val="DC2626"/>
              </a:solidFill>
              <a:latin typeface="Arial"/>
              <a:ea typeface="Arial"/>
              <a:cs typeface="Arial"/>
              <a:sym typeface="Arial"/>
            </a:endParaRPr>
          </a:p>
        </p:txBody>
      </p:sp>
      <p:sp>
        <p:nvSpPr>
          <p:cNvPr id="536" name="Google Shape;536;p24"/>
          <p:cNvSpPr/>
          <p:nvPr/>
        </p:nvSpPr>
        <p:spPr>
          <a:xfrm>
            <a:off x="883920" y="1581150"/>
            <a:ext cx="3390900" cy="6288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US" sz="1250">
                <a:solidFill>
                  <a:srgbClr val="334155"/>
                </a:solidFill>
                <a:latin typeface="Arial"/>
                <a:ea typeface="Arial"/>
                <a:cs typeface="Arial"/>
                <a:sym typeface="Arial"/>
              </a:rPr>
              <a:t>アニメやゲームのキャラそっくりに出すのはNG（著作権侵害）</a:t>
            </a:r>
            <a:endParaRPr b="0" sz="1250">
              <a:solidFill>
                <a:srgbClr val="334155"/>
              </a:solidFill>
              <a:latin typeface="Arial"/>
              <a:ea typeface="Arial"/>
              <a:cs typeface="Arial"/>
              <a:sym typeface="Arial"/>
            </a:endParaRPr>
          </a:p>
        </p:txBody>
      </p:sp>
      <p:sp>
        <p:nvSpPr>
          <p:cNvPr id="537" name="Google Shape;537;p24"/>
          <p:cNvSpPr/>
          <p:nvPr/>
        </p:nvSpPr>
        <p:spPr>
          <a:xfrm>
            <a:off x="4869180" y="1257300"/>
            <a:ext cx="3390900" cy="304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1600">
                <a:solidFill>
                  <a:srgbClr val="DC2626"/>
                </a:solidFill>
                <a:latin typeface="Arial"/>
                <a:ea typeface="Arial"/>
                <a:cs typeface="Arial"/>
                <a:sym typeface="Arial"/>
              </a:rPr>
              <a:t>❌ 有名人の顔・肖像</a:t>
            </a:r>
            <a:endParaRPr b="1" sz="1600">
              <a:solidFill>
                <a:srgbClr val="DC2626"/>
              </a:solidFill>
              <a:latin typeface="Arial"/>
              <a:ea typeface="Arial"/>
              <a:cs typeface="Arial"/>
              <a:sym typeface="Arial"/>
            </a:endParaRPr>
          </a:p>
        </p:txBody>
      </p:sp>
      <p:sp>
        <p:nvSpPr>
          <p:cNvPr id="538" name="Google Shape;538;p24"/>
          <p:cNvSpPr/>
          <p:nvPr/>
        </p:nvSpPr>
        <p:spPr>
          <a:xfrm>
            <a:off x="4869180" y="1581150"/>
            <a:ext cx="3390900" cy="6288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US" sz="1250">
                <a:solidFill>
                  <a:srgbClr val="334155"/>
                </a:solidFill>
                <a:latin typeface="Arial"/>
                <a:ea typeface="Arial"/>
                <a:cs typeface="Arial"/>
                <a:sym typeface="Arial"/>
              </a:rPr>
              <a:t>芸能人やアイドルの顔を勝手にAIで作るのはNG（肖像権侵害）</a:t>
            </a:r>
            <a:endParaRPr b="0" sz="1250">
              <a:solidFill>
                <a:srgbClr val="334155"/>
              </a:solidFill>
              <a:latin typeface="Arial"/>
              <a:ea typeface="Arial"/>
              <a:cs typeface="Arial"/>
              <a:sym typeface="Arial"/>
            </a:endParaRPr>
          </a:p>
        </p:txBody>
      </p:sp>
      <p:sp>
        <p:nvSpPr>
          <p:cNvPr id="539" name="Google Shape;539;p24"/>
          <p:cNvSpPr/>
          <p:nvPr/>
        </p:nvSpPr>
        <p:spPr>
          <a:xfrm>
            <a:off x="883920" y="2552700"/>
            <a:ext cx="3390900" cy="304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1600">
                <a:solidFill>
                  <a:srgbClr val="DC2626"/>
                </a:solidFill>
                <a:latin typeface="Arial"/>
                <a:ea typeface="Arial"/>
                <a:cs typeface="Arial"/>
                <a:sym typeface="Arial"/>
              </a:rPr>
              <a:t>❌ 特定作家の画風丸パクリ</a:t>
            </a:r>
            <a:endParaRPr b="1" sz="1600">
              <a:solidFill>
                <a:srgbClr val="DC2626"/>
              </a:solidFill>
              <a:latin typeface="Arial"/>
              <a:ea typeface="Arial"/>
              <a:cs typeface="Arial"/>
              <a:sym typeface="Arial"/>
            </a:endParaRPr>
          </a:p>
        </p:txBody>
      </p:sp>
      <p:sp>
        <p:nvSpPr>
          <p:cNvPr id="540" name="Google Shape;540;p24"/>
          <p:cNvSpPr/>
          <p:nvPr/>
        </p:nvSpPr>
        <p:spPr>
          <a:xfrm>
            <a:off x="883920" y="2876550"/>
            <a:ext cx="3390900" cy="6288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US" sz="1250">
                <a:solidFill>
                  <a:srgbClr val="334155"/>
                </a:solidFill>
                <a:latin typeface="Arial"/>
                <a:ea typeface="Arial"/>
                <a:cs typeface="Arial"/>
                <a:sym typeface="Arial"/>
              </a:rPr>
              <a:t>特定クリエイターの作風をそっくり模倣するのはトラブルの元</a:t>
            </a:r>
            <a:endParaRPr b="0" sz="1250">
              <a:solidFill>
                <a:srgbClr val="334155"/>
              </a:solidFill>
              <a:latin typeface="Arial"/>
              <a:ea typeface="Arial"/>
              <a:cs typeface="Arial"/>
              <a:sym typeface="Arial"/>
            </a:endParaRPr>
          </a:p>
        </p:txBody>
      </p:sp>
      <p:sp>
        <p:nvSpPr>
          <p:cNvPr id="541" name="Google Shape;541;p24"/>
          <p:cNvSpPr/>
          <p:nvPr/>
        </p:nvSpPr>
        <p:spPr>
          <a:xfrm>
            <a:off x="4869180" y="2552700"/>
            <a:ext cx="3390900" cy="304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1600">
                <a:solidFill>
                  <a:srgbClr val="DC2626"/>
                </a:solidFill>
                <a:latin typeface="Arial"/>
                <a:ea typeface="Arial"/>
                <a:cs typeface="Arial"/>
                <a:sym typeface="Arial"/>
              </a:rPr>
              <a:t>❌ 仲間や職員の写真利用</a:t>
            </a:r>
            <a:endParaRPr b="1" sz="1600">
              <a:solidFill>
                <a:srgbClr val="DC2626"/>
              </a:solidFill>
              <a:latin typeface="Arial"/>
              <a:ea typeface="Arial"/>
              <a:cs typeface="Arial"/>
              <a:sym typeface="Arial"/>
            </a:endParaRPr>
          </a:p>
        </p:txBody>
      </p:sp>
      <p:sp>
        <p:nvSpPr>
          <p:cNvPr id="542" name="Google Shape;542;p24"/>
          <p:cNvSpPr/>
          <p:nvPr/>
        </p:nvSpPr>
        <p:spPr>
          <a:xfrm>
            <a:off x="4869180" y="2876550"/>
            <a:ext cx="3390900" cy="6288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US" sz="1250">
                <a:solidFill>
                  <a:srgbClr val="334155"/>
                </a:solidFill>
                <a:latin typeface="Arial"/>
                <a:ea typeface="Arial"/>
                <a:cs typeface="Arial"/>
                <a:sym typeface="Arial"/>
              </a:rPr>
              <a:t>事業所の仲間や支援員の写真を勝手にAIに読み込ませてはダメ！</a:t>
            </a:r>
            <a:endParaRPr b="0" sz="1250">
              <a:solidFill>
                <a:srgbClr val="334155"/>
              </a:solidFill>
              <a:latin typeface="Arial"/>
              <a:ea typeface="Arial"/>
              <a:cs typeface="Arial"/>
              <a:sym typeface="Arial"/>
            </a:endParaRPr>
          </a:p>
        </p:txBody>
      </p:sp>
      <p:sp>
        <p:nvSpPr>
          <p:cNvPr id="543" name="Google Shape;543;p24"/>
          <p:cNvSpPr/>
          <p:nvPr/>
        </p:nvSpPr>
        <p:spPr>
          <a:xfrm>
            <a:off x="914400" y="3810000"/>
            <a:ext cx="7315200" cy="6096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500">
                <a:solidFill>
                  <a:srgbClr val="1D4ED8"/>
                </a:solidFill>
                <a:latin typeface="Arial"/>
                <a:ea typeface="Arial"/>
                <a:cs typeface="Arial"/>
                <a:sym typeface="Arial"/>
              </a:rPr>
              <a:t>💡 他者の権利をリスペクトすることが、結果として自分の作品を守る道です！</a:t>
            </a:r>
            <a:endParaRPr b="1" sz="1500">
              <a:solidFill>
                <a:srgbClr val="1D4ED8"/>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48" name="Shape 548"/>
        <p:cNvGrpSpPr/>
        <p:nvPr/>
      </p:nvGrpSpPr>
      <p:grpSpPr>
        <a:xfrm>
          <a:off x="0" y="0"/>
          <a:ext cx="0" cy="0"/>
          <a:chOff x="0" y="0"/>
          <a:chExt cx="0" cy="0"/>
        </a:xfrm>
      </p:grpSpPr>
      <p:sp>
        <p:nvSpPr>
          <p:cNvPr id="549" name="Google Shape;549;p25"/>
          <p:cNvSpPr/>
          <p:nvPr/>
        </p:nvSpPr>
        <p:spPr>
          <a:xfrm>
            <a:off x="731520" y="4709160"/>
            <a:ext cx="54864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18096"/>
              </a:buClr>
              <a:buSzPts val="1200"/>
              <a:buFont typeface="Meiryo"/>
              <a:buNone/>
            </a:pPr>
            <a:r>
              <a:rPr b="0" i="0" lang="en-US" sz="1200" u="none" cap="none" strike="noStrike">
                <a:solidFill>
                  <a:srgbClr val="718096"/>
                </a:solidFill>
                <a:latin typeface="Meiryo"/>
                <a:ea typeface="Meiryo"/>
                <a:cs typeface="Meiryo"/>
                <a:sym typeface="Meiryo"/>
              </a:rPr>
              <a:t>第4部 AI生成物ならではの法律問題</a:t>
            </a:r>
            <a:endParaRPr b="0" i="0" sz="1200" u="none" cap="none" strike="noStrike">
              <a:solidFill>
                <a:schemeClr val="dk1"/>
              </a:solidFill>
              <a:latin typeface="Calibri"/>
              <a:ea typeface="Calibri"/>
              <a:cs typeface="Calibri"/>
              <a:sym typeface="Calibri"/>
            </a:endParaRPr>
          </a:p>
        </p:txBody>
      </p:sp>
      <p:sp>
        <p:nvSpPr>
          <p:cNvPr id="550" name="Google Shape;550;p25"/>
          <p:cNvSpPr/>
          <p:nvPr/>
        </p:nvSpPr>
        <p:spPr>
          <a:xfrm>
            <a:off x="7315200" y="4709160"/>
            <a:ext cx="1097280" cy="32004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718096"/>
              </a:buClr>
              <a:buSzPts val="1200"/>
              <a:buFont typeface="Meiryo"/>
              <a:buNone/>
            </a:pPr>
            <a:r>
              <a:rPr b="0" i="0" lang="en-US" sz="1200" u="none" cap="none" strike="noStrike">
                <a:solidFill>
                  <a:srgbClr val="718096"/>
                </a:solidFill>
                <a:latin typeface="Meiryo"/>
                <a:ea typeface="Meiryo"/>
                <a:cs typeface="Meiryo"/>
                <a:sym typeface="Meiryo"/>
              </a:rPr>
              <a:t>25 / 30</a:t>
            </a:r>
            <a:endParaRPr b="0" i="0" sz="1200" u="none" cap="none" strike="noStrike">
              <a:solidFill>
                <a:schemeClr val="dk1"/>
              </a:solidFill>
              <a:latin typeface="Calibri"/>
              <a:ea typeface="Calibri"/>
              <a:cs typeface="Calibri"/>
              <a:sym typeface="Calibri"/>
            </a:endParaRPr>
          </a:p>
        </p:txBody>
      </p:sp>
      <p:sp>
        <p:nvSpPr>
          <p:cNvPr id="551" name="Google Shape;551;p25"/>
          <p:cNvSpPr/>
          <p:nvPr/>
        </p:nvSpPr>
        <p:spPr>
          <a:xfrm>
            <a:off x="731520" y="457200"/>
            <a:ext cx="768096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02C"/>
              </a:buClr>
              <a:buSzPts val="2600"/>
              <a:buFont typeface="Meiryo"/>
              <a:buNone/>
            </a:pPr>
            <a:r>
              <a:rPr b="1" i="0" lang="en-US" sz="2400" u="none" cap="none" strike="noStrike">
                <a:solidFill>
                  <a:srgbClr val="1A202C"/>
                </a:solidFill>
                <a:latin typeface="Meiryo"/>
                <a:ea typeface="Meiryo"/>
                <a:cs typeface="Meiryo"/>
                <a:sym typeface="Meiryo"/>
              </a:rPr>
              <a:t>責任は誰にある？ ― 一人で背負わずチームで確認！</a:t>
            </a:r>
            <a:endParaRPr b="0" i="0" sz="2400" u="none" cap="none" strike="noStrike">
              <a:solidFill>
                <a:schemeClr val="dk1"/>
              </a:solidFill>
              <a:latin typeface="Calibri"/>
              <a:ea typeface="Calibri"/>
              <a:cs typeface="Calibri"/>
              <a:sym typeface="Calibri"/>
            </a:endParaRPr>
          </a:p>
        </p:txBody>
      </p:sp>
      <p:sp>
        <p:nvSpPr>
          <p:cNvPr id="552" name="Google Shape;552;p25"/>
          <p:cNvSpPr/>
          <p:nvPr/>
        </p:nvSpPr>
        <p:spPr>
          <a:xfrm>
            <a:off x="731520" y="1188720"/>
            <a:ext cx="3657600" cy="3108960"/>
          </a:xfrm>
          <a:prstGeom prst="roundRect">
            <a:avLst>
              <a:gd fmla="val 16667" name="adj"/>
            </a:avLst>
          </a:prstGeom>
          <a:solidFill>
            <a:srgbClr val="FFF5F5"/>
          </a:solidFill>
          <a:ln cap="flat" cmpd="sng" w="31750">
            <a:solidFill>
              <a:srgbClr val="D938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25"/>
          <p:cNvSpPr/>
          <p:nvPr/>
        </p:nvSpPr>
        <p:spPr>
          <a:xfrm>
            <a:off x="914400" y="1463040"/>
            <a:ext cx="329184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D9383A"/>
              </a:buClr>
              <a:buSzPts val="2400"/>
              <a:buFont typeface="Meiryo"/>
              <a:buNone/>
            </a:pPr>
            <a:r>
              <a:rPr b="1" i="0" lang="en-US" sz="2400" u="none" cap="none" strike="noStrike">
                <a:solidFill>
                  <a:srgbClr val="D9383A"/>
                </a:solidFill>
                <a:latin typeface="Meiryo"/>
                <a:ea typeface="Meiryo"/>
                <a:cs typeface="Meiryo"/>
                <a:sym typeface="Meiryo"/>
              </a:rPr>
              <a:t>⚠️ 責任の所在</a:t>
            </a:r>
            <a:endParaRPr b="0" i="0" sz="2400" u="none" cap="none" strike="noStrike">
              <a:solidFill>
                <a:schemeClr val="dk1"/>
              </a:solidFill>
              <a:latin typeface="Calibri"/>
              <a:ea typeface="Calibri"/>
              <a:cs typeface="Calibri"/>
              <a:sym typeface="Calibri"/>
            </a:endParaRPr>
          </a:p>
        </p:txBody>
      </p:sp>
      <p:sp>
        <p:nvSpPr>
          <p:cNvPr id="554" name="Google Shape;554;p25"/>
          <p:cNvSpPr/>
          <p:nvPr/>
        </p:nvSpPr>
        <p:spPr>
          <a:xfrm>
            <a:off x="1005840" y="2103120"/>
            <a:ext cx="3108960" cy="1828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02C"/>
              </a:buClr>
              <a:buSzPts val="1800"/>
              <a:buFont typeface="Meiryo"/>
              <a:buNone/>
            </a:pPr>
            <a:r>
              <a:rPr b="0" i="0" lang="en-US" sz="1800" u="none" cap="none" strike="noStrike">
                <a:solidFill>
                  <a:srgbClr val="1A202C"/>
                </a:solidFill>
                <a:latin typeface="Meiryo"/>
                <a:ea typeface="Meiryo"/>
                <a:cs typeface="Meiryo"/>
                <a:sym typeface="Meiryo"/>
              </a:rPr>
              <a:t>使った人・納品した人</a:t>
            </a:r>
            <a:endParaRPr b="0" i="0" sz="1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A202C"/>
              </a:buClr>
              <a:buSzPts val="1800"/>
              <a:buFont typeface="Meiryo"/>
              <a:buNone/>
            </a:pPr>
            <a:r>
              <a:rPr b="0" i="0" lang="en-US" sz="1800" u="none" cap="none" strike="noStrike">
                <a:solidFill>
                  <a:srgbClr val="1A202C"/>
                </a:solidFill>
                <a:latin typeface="Meiryo"/>
                <a:ea typeface="Meiryo"/>
                <a:cs typeface="Meiryo"/>
                <a:sym typeface="Meiryo"/>
              </a:rPr>
              <a:t>・「AIが勝手に出した」は通用しない</a:t>
            </a:r>
            <a:endParaRPr b="0" i="0" sz="1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A202C"/>
              </a:buClr>
              <a:buSzPts val="1800"/>
              <a:buFont typeface="Meiryo"/>
              <a:buNone/>
            </a:pPr>
            <a:r>
              <a:rPr b="0" i="0" lang="en-US" sz="1800" u="none" cap="none" strike="noStrike">
                <a:solidFill>
                  <a:srgbClr val="1A202C"/>
                </a:solidFill>
                <a:latin typeface="Meiryo"/>
                <a:ea typeface="Meiryo"/>
                <a:cs typeface="Meiryo"/>
                <a:sym typeface="Meiryo"/>
              </a:rPr>
              <a:t>・他人の権利を侵した責任は人間が負う</a:t>
            </a:r>
            <a:endParaRPr b="0" i="0" sz="1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A202C"/>
              </a:buClr>
              <a:buSzPts val="1800"/>
              <a:buFont typeface="Meiryo"/>
              <a:buNone/>
            </a:pPr>
            <a:r>
              <a:rPr b="0" i="0" lang="en-US" sz="1800" u="none" cap="none" strike="noStrike">
                <a:solidFill>
                  <a:srgbClr val="1A202C"/>
                </a:solidFill>
                <a:latin typeface="Meiryo"/>
                <a:ea typeface="Meiryo"/>
                <a:cs typeface="Meiryo"/>
                <a:sym typeface="Meiryo"/>
              </a:rPr>
              <a:t>👉 だからこそ確認が大切！</a:t>
            </a:r>
            <a:endParaRPr b="0" i="0" sz="1800" u="none" cap="none" strike="noStrike">
              <a:solidFill>
                <a:schemeClr val="dk1"/>
              </a:solidFill>
              <a:latin typeface="Calibri"/>
              <a:ea typeface="Calibri"/>
              <a:cs typeface="Calibri"/>
              <a:sym typeface="Calibri"/>
            </a:endParaRPr>
          </a:p>
        </p:txBody>
      </p:sp>
      <p:sp>
        <p:nvSpPr>
          <p:cNvPr id="555" name="Google Shape;555;p25"/>
          <p:cNvSpPr/>
          <p:nvPr/>
        </p:nvSpPr>
        <p:spPr>
          <a:xfrm>
            <a:off x="4754880" y="1188720"/>
            <a:ext cx="3657600" cy="3108960"/>
          </a:xfrm>
          <a:prstGeom prst="roundRect">
            <a:avLst>
              <a:gd fmla="val 16667" name="adj"/>
            </a:avLst>
          </a:prstGeom>
          <a:solidFill>
            <a:srgbClr val="EBF8FF"/>
          </a:solidFill>
          <a:ln cap="flat" cmpd="sng" w="31750">
            <a:solidFill>
              <a:srgbClr val="1A73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25"/>
          <p:cNvSpPr/>
          <p:nvPr/>
        </p:nvSpPr>
        <p:spPr>
          <a:xfrm>
            <a:off x="4937760" y="1463040"/>
            <a:ext cx="329184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73E8"/>
              </a:buClr>
              <a:buSzPts val="2400"/>
              <a:buFont typeface="Meiryo"/>
              <a:buNone/>
            </a:pPr>
            <a:r>
              <a:rPr b="1" i="0" lang="en-US" sz="2400" u="none" cap="none" strike="noStrike">
                <a:solidFill>
                  <a:srgbClr val="1A73E8"/>
                </a:solidFill>
                <a:latin typeface="Meiryo"/>
                <a:ea typeface="Meiryo"/>
                <a:cs typeface="Meiryo"/>
                <a:sym typeface="Meiryo"/>
              </a:rPr>
              <a:t>🤝 チームで確認！</a:t>
            </a:r>
            <a:endParaRPr b="0" i="0" sz="2400" u="none" cap="none" strike="noStrike">
              <a:solidFill>
                <a:schemeClr val="dk1"/>
              </a:solidFill>
              <a:latin typeface="Calibri"/>
              <a:ea typeface="Calibri"/>
              <a:cs typeface="Calibri"/>
              <a:sym typeface="Calibri"/>
            </a:endParaRPr>
          </a:p>
        </p:txBody>
      </p:sp>
      <p:sp>
        <p:nvSpPr>
          <p:cNvPr id="557" name="Google Shape;557;p25"/>
          <p:cNvSpPr/>
          <p:nvPr/>
        </p:nvSpPr>
        <p:spPr>
          <a:xfrm>
            <a:off x="5029200" y="2103120"/>
            <a:ext cx="3108960" cy="1828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02C"/>
              </a:buClr>
              <a:buSzPts val="1800"/>
              <a:buFont typeface="Meiryo"/>
              <a:buNone/>
            </a:pPr>
            <a:r>
              <a:rPr b="0" i="0" lang="en-US" sz="1800" u="none" cap="none" strike="noStrike">
                <a:solidFill>
                  <a:srgbClr val="1A202C"/>
                </a:solidFill>
                <a:latin typeface="Meiryo"/>
                <a:ea typeface="Meiryo"/>
                <a:cs typeface="Meiryo"/>
                <a:sym typeface="Meiryo"/>
              </a:rPr>
              <a:t>一人で抱え込まなくてOK！</a:t>
            </a:r>
            <a:endParaRPr b="0" i="0" sz="1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A202C"/>
              </a:buClr>
              <a:buSzPts val="1800"/>
              <a:buFont typeface="Meiryo"/>
              <a:buNone/>
            </a:pPr>
            <a:r>
              <a:rPr b="0" i="0" lang="en-US" sz="1700" u="none" cap="none" strike="noStrike">
                <a:solidFill>
                  <a:srgbClr val="1A202C"/>
                </a:solidFill>
                <a:latin typeface="Meiryo"/>
                <a:ea typeface="Meiryo"/>
                <a:cs typeface="Meiryo"/>
                <a:sym typeface="Meiryo"/>
              </a:rPr>
              <a:t>・「これ似てないかな？」と相談する</a:t>
            </a:r>
            <a:endParaRPr b="0" i="0" sz="17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A202C"/>
              </a:buClr>
              <a:buSzPts val="1800"/>
              <a:buFont typeface="Meiryo"/>
              <a:buNone/>
            </a:pPr>
            <a:r>
              <a:rPr b="0" i="0" lang="en-US" sz="1700" u="none" cap="none" strike="noStrike">
                <a:solidFill>
                  <a:srgbClr val="1A202C"/>
                </a:solidFill>
                <a:latin typeface="Meiryo"/>
                <a:ea typeface="Meiryo"/>
                <a:cs typeface="Meiryo"/>
                <a:sym typeface="Meiryo"/>
              </a:rPr>
              <a:t>・納品前のダブルチェック！</a:t>
            </a:r>
            <a:endParaRPr b="0" i="0" sz="17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A202C"/>
              </a:buClr>
              <a:buSzPts val="1800"/>
              <a:buFont typeface="Meiryo"/>
              <a:buNone/>
            </a:pPr>
            <a:r>
              <a:rPr b="0" i="0" lang="en-US" sz="1600" u="none" cap="none" strike="noStrike">
                <a:solidFill>
                  <a:srgbClr val="1A202C"/>
                </a:solidFill>
                <a:latin typeface="Meiryo"/>
                <a:ea typeface="Meiryo"/>
                <a:cs typeface="Meiryo"/>
                <a:sym typeface="Meiryo"/>
              </a:rPr>
              <a:t>★「相談すること自体が、</a:t>
            </a:r>
            <a:endParaRPr b="0" i="0" sz="16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A202C"/>
              </a:buClr>
              <a:buSzPts val="1800"/>
              <a:buFont typeface="Meiryo"/>
              <a:buNone/>
            </a:pPr>
            <a:r>
              <a:rPr b="0" i="0" lang="en-US" sz="1600" u="none" cap="none" strike="noStrike">
                <a:solidFill>
                  <a:srgbClr val="1A202C"/>
                </a:solidFill>
                <a:latin typeface="Meiryo"/>
                <a:ea typeface="Meiryo"/>
                <a:cs typeface="Meiryo"/>
                <a:sym typeface="Meiryo"/>
              </a:rPr>
              <a:t>　プロの最大のスキル」です！</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65" name="Shape 565"/>
        <p:cNvGrpSpPr/>
        <p:nvPr/>
      </p:nvGrpSpPr>
      <p:grpSpPr>
        <a:xfrm>
          <a:off x="0" y="0"/>
          <a:ext cx="0" cy="0"/>
          <a:chOff x="0" y="0"/>
          <a:chExt cx="0" cy="0"/>
        </a:xfrm>
      </p:grpSpPr>
      <p:grpSp>
        <p:nvGrpSpPr>
          <p:cNvPr id="566" name="Google Shape;566;g409dbde18fd_0_1007"/>
          <p:cNvGrpSpPr/>
          <p:nvPr/>
        </p:nvGrpSpPr>
        <p:grpSpPr>
          <a:xfrm>
            <a:off x="731520" y="381000"/>
            <a:ext cx="7677300" cy="685800"/>
            <a:chOff x="0" y="0"/>
            <a:chExt cx="7677300" cy="685800"/>
          </a:xfrm>
        </p:grpSpPr>
        <p:sp>
          <p:nvSpPr>
            <p:cNvPr id="567" name="Google Shape;567;g409dbde18fd_0_1007"/>
            <p:cNvSpPr txBox="1"/>
            <p:nvPr/>
          </p:nvSpPr>
          <p:spPr>
            <a:xfrm>
              <a:off x="0" y="0"/>
              <a:ext cx="5486400" cy="228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200">
                  <a:solidFill>
                    <a:srgbClr val="718096"/>
                  </a:solidFill>
                  <a:latin typeface="Arial"/>
                  <a:ea typeface="Arial"/>
                  <a:cs typeface="Arial"/>
                  <a:sym typeface="Arial"/>
                </a:rPr>
                <a:t>第4部 AI生成物ならではの法律問題</a:t>
              </a:r>
              <a:endParaRPr b="0" sz="1200">
                <a:solidFill>
                  <a:srgbClr val="718096"/>
                </a:solidFill>
                <a:latin typeface="Arial"/>
                <a:ea typeface="Arial"/>
                <a:cs typeface="Arial"/>
                <a:sym typeface="Arial"/>
              </a:endParaRPr>
            </a:p>
          </p:txBody>
        </p:sp>
        <p:sp>
          <p:nvSpPr>
            <p:cNvPr id="568" name="Google Shape;568;g409dbde18fd_0_1007"/>
            <p:cNvSpPr txBox="1"/>
            <p:nvPr/>
          </p:nvSpPr>
          <p:spPr>
            <a:xfrm>
              <a:off x="0" y="228600"/>
              <a:ext cx="7677300" cy="457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400">
                  <a:solidFill>
                    <a:srgbClr val="1A202C"/>
                  </a:solidFill>
                  <a:latin typeface="Arial"/>
                  <a:ea typeface="Arial"/>
                  <a:cs typeface="Arial"/>
                  <a:sym typeface="Arial"/>
                </a:rPr>
                <a:t>責任は誰にある？ ― 一人で背負わずチームで確認！</a:t>
              </a:r>
              <a:endParaRPr b="1" sz="2400">
                <a:solidFill>
                  <a:srgbClr val="1A202C"/>
                </a:solidFill>
                <a:latin typeface="Arial"/>
                <a:ea typeface="Arial"/>
                <a:cs typeface="Arial"/>
                <a:sym typeface="Arial"/>
              </a:endParaRPr>
            </a:p>
          </p:txBody>
        </p:sp>
      </p:grpSp>
      <p:grpSp>
        <p:nvGrpSpPr>
          <p:cNvPr id="569" name="Google Shape;569;g409dbde18fd_0_1007"/>
          <p:cNvGrpSpPr/>
          <p:nvPr/>
        </p:nvGrpSpPr>
        <p:grpSpPr>
          <a:xfrm>
            <a:off x="721995" y="1133475"/>
            <a:ext cx="3714900" cy="3257700"/>
            <a:chOff x="-9525" y="-9525"/>
            <a:chExt cx="3714900" cy="3257700"/>
          </a:xfrm>
        </p:grpSpPr>
        <p:pic>
          <p:nvPicPr>
            <p:cNvPr id="570" name="Google Shape;570;g409dbde18fd_0_1007"/>
            <p:cNvPicPr preferRelativeResize="0"/>
            <p:nvPr/>
          </p:nvPicPr>
          <p:blipFill rotWithShape="1">
            <a:blip r:embed="rId4">
              <a:alphaModFix/>
            </a:blip>
            <a:srcRect b="0" l="0" r="0" t="0"/>
            <a:stretch/>
          </p:blipFill>
          <p:spPr>
            <a:xfrm>
              <a:off x="-9525" y="-9525"/>
              <a:ext cx="3714900" cy="3257700"/>
            </a:xfrm>
            <a:prstGeom prst="rect">
              <a:avLst/>
            </a:prstGeom>
            <a:noFill/>
            <a:ln>
              <a:noFill/>
            </a:ln>
          </p:spPr>
        </p:pic>
        <p:sp>
          <p:nvSpPr>
            <p:cNvPr id="571" name="Google Shape;571;g409dbde18fd_0_1007"/>
            <p:cNvSpPr/>
            <p:nvPr/>
          </p:nvSpPr>
          <p:spPr>
            <a:xfrm>
              <a:off x="0" y="0"/>
              <a:ext cx="3695700" cy="76200"/>
            </a:xfrm>
            <a:prstGeom prst="roundRect">
              <a:avLst>
                <a:gd fmla="val 50000" name="adj"/>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572" name="Google Shape;572;g409dbde18fd_0_1007"/>
            <p:cNvGrpSpPr/>
            <p:nvPr/>
          </p:nvGrpSpPr>
          <p:grpSpPr>
            <a:xfrm>
              <a:off x="228600" y="228600"/>
              <a:ext cx="3238500" cy="381000"/>
              <a:chOff x="0" y="0"/>
              <a:chExt cx="3238500" cy="381000"/>
            </a:xfrm>
          </p:grpSpPr>
          <p:sp>
            <p:nvSpPr>
              <p:cNvPr id="573" name="Google Shape;573;g409dbde18fd_0_1007"/>
              <p:cNvSpPr/>
              <p:nvPr/>
            </p:nvSpPr>
            <p:spPr>
              <a:xfrm>
                <a:off x="0" y="0"/>
                <a:ext cx="381000" cy="381000"/>
              </a:xfrm>
              <a:prstGeom prst="roundRect">
                <a:avLst>
                  <a:gd fmla="val 50000" name="adj"/>
                </a:avLst>
              </a:prstGeom>
              <a:solidFill>
                <a:srgbClr val="FEE2E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74" name="Google Shape;574;g409dbde18fd_0_1007"/>
              <p:cNvSpPr txBox="1"/>
              <p:nvPr/>
            </p:nvSpPr>
            <p:spPr>
              <a:xfrm>
                <a:off x="0" y="0"/>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800"/>
                  <a:t>⚠️</a:t>
                </a:r>
                <a:endParaRPr sz="1800"/>
              </a:p>
            </p:txBody>
          </p:sp>
          <p:sp>
            <p:nvSpPr>
              <p:cNvPr id="575" name="Google Shape;575;g409dbde18fd_0_1007"/>
              <p:cNvSpPr txBox="1"/>
              <p:nvPr/>
            </p:nvSpPr>
            <p:spPr>
              <a:xfrm>
                <a:off x="495300" y="0"/>
                <a:ext cx="27432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000">
                    <a:solidFill>
                      <a:srgbClr val="DC2626"/>
                    </a:solidFill>
                    <a:latin typeface="Arial"/>
                    <a:ea typeface="Arial"/>
                    <a:cs typeface="Arial"/>
                    <a:sym typeface="Arial"/>
                  </a:rPr>
                  <a:t>責任の所在</a:t>
                </a:r>
                <a:endParaRPr b="1" sz="2000">
                  <a:solidFill>
                    <a:srgbClr val="DC2626"/>
                  </a:solidFill>
                  <a:latin typeface="Arial"/>
                  <a:ea typeface="Arial"/>
                  <a:cs typeface="Arial"/>
                  <a:sym typeface="Arial"/>
                </a:endParaRPr>
              </a:p>
            </p:txBody>
          </p:sp>
        </p:grpSp>
        <p:sp>
          <p:nvSpPr>
            <p:cNvPr id="576" name="Google Shape;576;g409dbde18fd_0_1007"/>
            <p:cNvSpPr/>
            <p:nvPr/>
          </p:nvSpPr>
          <p:spPr>
            <a:xfrm>
              <a:off x="228600" y="723900"/>
              <a:ext cx="3238500" cy="9600"/>
            </a:xfrm>
            <a:prstGeom prst="rect">
              <a:avLst/>
            </a:prstGeom>
            <a:solidFill>
              <a:srgbClr val="FCA5A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577" name="Google Shape;577;g409dbde18fd_0_1007"/>
            <p:cNvGrpSpPr/>
            <p:nvPr/>
          </p:nvGrpSpPr>
          <p:grpSpPr>
            <a:xfrm>
              <a:off x="228600" y="876300"/>
              <a:ext cx="3238500" cy="419100"/>
              <a:chOff x="0" y="0"/>
              <a:chExt cx="3238500" cy="419100"/>
            </a:xfrm>
          </p:grpSpPr>
          <p:sp>
            <p:nvSpPr>
              <p:cNvPr id="578" name="Google Shape;578;g409dbde18fd_0_1007"/>
              <p:cNvSpPr/>
              <p:nvPr/>
            </p:nvSpPr>
            <p:spPr>
              <a:xfrm>
                <a:off x="0" y="0"/>
                <a:ext cx="3238500" cy="419100"/>
              </a:xfrm>
              <a:prstGeom prst="roundRect">
                <a:avLst>
                  <a:gd fmla="val 18181" name="adj"/>
                </a:avLst>
              </a:prstGeom>
              <a:solidFill>
                <a:srgbClr val="FFFFFF"/>
              </a:solidFill>
              <a:ln cap="flat" cmpd="sng" w="9525">
                <a:solidFill>
                  <a:srgbClr val="FCA5A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79" name="Google Shape;579;g409dbde18fd_0_1007"/>
              <p:cNvSpPr txBox="1"/>
              <p:nvPr/>
            </p:nvSpPr>
            <p:spPr>
              <a:xfrm>
                <a:off x="114300" y="0"/>
                <a:ext cx="3009900" cy="419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300">
                    <a:solidFill>
                      <a:srgbClr val="475569"/>
                    </a:solidFill>
                    <a:latin typeface="Arial"/>
                    <a:ea typeface="Arial"/>
                    <a:cs typeface="Arial"/>
                    <a:sym typeface="Arial"/>
                  </a:rPr>
                  <a:t>対象：使った人・納品した人</a:t>
                </a:r>
                <a:endParaRPr b="1" sz="1300">
                  <a:solidFill>
                    <a:srgbClr val="475569"/>
                  </a:solidFill>
                  <a:latin typeface="Arial"/>
                  <a:ea typeface="Arial"/>
                  <a:cs typeface="Arial"/>
                  <a:sym typeface="Arial"/>
                </a:endParaRPr>
              </a:p>
            </p:txBody>
          </p:sp>
        </p:grpSp>
        <p:grpSp>
          <p:nvGrpSpPr>
            <p:cNvPr id="580" name="Google Shape;580;g409dbde18fd_0_1007"/>
            <p:cNvGrpSpPr/>
            <p:nvPr/>
          </p:nvGrpSpPr>
          <p:grpSpPr>
            <a:xfrm>
              <a:off x="228600" y="1447800"/>
              <a:ext cx="3238500" cy="800100"/>
              <a:chOff x="0" y="0"/>
              <a:chExt cx="3238500" cy="800100"/>
            </a:xfrm>
          </p:grpSpPr>
          <p:sp>
            <p:nvSpPr>
              <p:cNvPr id="581" name="Google Shape;581;g409dbde18fd_0_1007"/>
              <p:cNvSpPr/>
              <p:nvPr/>
            </p:nvSpPr>
            <p:spPr>
              <a:xfrm>
                <a:off x="0" y="76200"/>
                <a:ext cx="57300" cy="57300"/>
              </a:xfrm>
              <a:prstGeom prst="roundRect">
                <a:avLst>
                  <a:gd fmla="val 50000" name="adj"/>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82" name="Google Shape;582;g409dbde18fd_0_1007"/>
              <p:cNvSpPr txBox="1"/>
              <p:nvPr/>
            </p:nvSpPr>
            <p:spPr>
              <a:xfrm>
                <a:off x="152400" y="0"/>
                <a:ext cx="30861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200">
                    <a:solidFill>
                      <a:srgbClr val="1E293B"/>
                    </a:solidFill>
                    <a:latin typeface="Arial"/>
                    <a:ea typeface="Arial"/>
                    <a:cs typeface="Arial"/>
                    <a:sym typeface="Arial"/>
                  </a:rPr>
                  <a:t>「AIが勝手に出した」は通用しない</a:t>
                </a:r>
                <a:endParaRPr b="0" sz="1200">
                  <a:solidFill>
                    <a:srgbClr val="1E293B"/>
                  </a:solidFill>
                  <a:latin typeface="Arial"/>
                  <a:ea typeface="Arial"/>
                  <a:cs typeface="Arial"/>
                  <a:sym typeface="Arial"/>
                </a:endParaRPr>
              </a:p>
            </p:txBody>
          </p:sp>
          <p:sp>
            <p:nvSpPr>
              <p:cNvPr id="583" name="Google Shape;583;g409dbde18fd_0_1007"/>
              <p:cNvSpPr/>
              <p:nvPr/>
            </p:nvSpPr>
            <p:spPr>
              <a:xfrm>
                <a:off x="0" y="495300"/>
                <a:ext cx="57300" cy="57300"/>
              </a:xfrm>
              <a:prstGeom prst="roundRect">
                <a:avLst>
                  <a:gd fmla="val 50000" name="adj"/>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84" name="Google Shape;584;g409dbde18fd_0_1007"/>
              <p:cNvSpPr txBox="1"/>
              <p:nvPr/>
            </p:nvSpPr>
            <p:spPr>
              <a:xfrm>
                <a:off x="152400" y="419100"/>
                <a:ext cx="30861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200">
                    <a:solidFill>
                      <a:srgbClr val="1E293B"/>
                    </a:solidFill>
                    <a:latin typeface="Arial"/>
                    <a:ea typeface="Arial"/>
                    <a:cs typeface="Arial"/>
                    <a:sym typeface="Arial"/>
                  </a:rPr>
                  <a:t>他人の権利を侵した責任は人間が負う</a:t>
                </a:r>
                <a:endParaRPr b="0" sz="1200">
                  <a:solidFill>
                    <a:srgbClr val="1E293B"/>
                  </a:solidFill>
                  <a:latin typeface="Arial"/>
                  <a:ea typeface="Arial"/>
                  <a:cs typeface="Arial"/>
                  <a:sym typeface="Arial"/>
                </a:endParaRPr>
              </a:p>
            </p:txBody>
          </p:sp>
        </p:grpSp>
        <p:grpSp>
          <p:nvGrpSpPr>
            <p:cNvPr id="585" name="Google Shape;585;g409dbde18fd_0_1007"/>
            <p:cNvGrpSpPr/>
            <p:nvPr/>
          </p:nvGrpSpPr>
          <p:grpSpPr>
            <a:xfrm>
              <a:off x="228600" y="2400300"/>
              <a:ext cx="3238500" cy="571500"/>
              <a:chOff x="0" y="0"/>
              <a:chExt cx="3238500" cy="571500"/>
            </a:xfrm>
          </p:grpSpPr>
          <p:sp>
            <p:nvSpPr>
              <p:cNvPr id="586" name="Google Shape;586;g409dbde18fd_0_1007"/>
              <p:cNvSpPr/>
              <p:nvPr/>
            </p:nvSpPr>
            <p:spPr>
              <a:xfrm>
                <a:off x="0" y="0"/>
                <a:ext cx="3238500" cy="571500"/>
              </a:xfrm>
              <a:prstGeom prst="roundRect">
                <a:avLst>
                  <a:gd fmla="val 20000" name="adj"/>
                </a:avLst>
              </a:prstGeom>
              <a:solidFill>
                <a:srgbClr val="FEF2F2"/>
              </a:solidFill>
              <a:ln cap="flat" cmpd="sng" w="14300">
                <a:solidFill>
                  <a:srgbClr val="F8717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87" name="Google Shape;587;g409dbde18fd_0_1007"/>
              <p:cNvSpPr txBox="1"/>
              <p:nvPr/>
            </p:nvSpPr>
            <p:spPr>
              <a:xfrm>
                <a:off x="152400" y="0"/>
                <a:ext cx="29337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200">
                    <a:solidFill>
                      <a:srgbClr val="B91C1C"/>
                    </a:solidFill>
                    <a:latin typeface="Arial"/>
                    <a:ea typeface="Arial"/>
                    <a:cs typeface="Arial"/>
                    <a:sym typeface="Arial"/>
                  </a:rPr>
                  <a:t>👉 だからこそ確認が大切！</a:t>
                </a:r>
                <a:endParaRPr b="1" sz="1200">
                  <a:solidFill>
                    <a:srgbClr val="B91C1C"/>
                  </a:solidFill>
                  <a:latin typeface="Arial"/>
                  <a:ea typeface="Arial"/>
                  <a:cs typeface="Arial"/>
                  <a:sym typeface="Arial"/>
                </a:endParaRPr>
              </a:p>
            </p:txBody>
          </p:sp>
        </p:grpSp>
      </p:grpSp>
      <p:grpSp>
        <p:nvGrpSpPr>
          <p:cNvPr id="588" name="Google Shape;588;g409dbde18fd_0_1007"/>
          <p:cNvGrpSpPr/>
          <p:nvPr/>
        </p:nvGrpSpPr>
        <p:grpSpPr>
          <a:xfrm>
            <a:off x="4707255" y="1133475"/>
            <a:ext cx="3714900" cy="3257700"/>
            <a:chOff x="-9525" y="-9525"/>
            <a:chExt cx="3714900" cy="3257700"/>
          </a:xfrm>
        </p:grpSpPr>
        <p:pic>
          <p:nvPicPr>
            <p:cNvPr id="589" name="Google Shape;589;g409dbde18fd_0_1007"/>
            <p:cNvPicPr preferRelativeResize="0"/>
            <p:nvPr/>
          </p:nvPicPr>
          <p:blipFill rotWithShape="1">
            <a:blip r:embed="rId5">
              <a:alphaModFix/>
            </a:blip>
            <a:srcRect b="0" l="0" r="0" t="0"/>
            <a:stretch/>
          </p:blipFill>
          <p:spPr>
            <a:xfrm>
              <a:off x="-9525" y="-9525"/>
              <a:ext cx="3714900" cy="3257700"/>
            </a:xfrm>
            <a:prstGeom prst="rect">
              <a:avLst/>
            </a:prstGeom>
            <a:noFill/>
            <a:ln>
              <a:noFill/>
            </a:ln>
          </p:spPr>
        </p:pic>
        <p:sp>
          <p:nvSpPr>
            <p:cNvPr id="590" name="Google Shape;590;g409dbde18fd_0_1007"/>
            <p:cNvSpPr/>
            <p:nvPr/>
          </p:nvSpPr>
          <p:spPr>
            <a:xfrm>
              <a:off x="0" y="0"/>
              <a:ext cx="3695700" cy="762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591" name="Google Shape;591;g409dbde18fd_0_1007"/>
            <p:cNvGrpSpPr/>
            <p:nvPr/>
          </p:nvGrpSpPr>
          <p:grpSpPr>
            <a:xfrm>
              <a:off x="228600" y="228600"/>
              <a:ext cx="3238500" cy="381000"/>
              <a:chOff x="0" y="0"/>
              <a:chExt cx="3238500" cy="381000"/>
            </a:xfrm>
          </p:grpSpPr>
          <p:sp>
            <p:nvSpPr>
              <p:cNvPr id="592" name="Google Shape;592;g409dbde18fd_0_1007"/>
              <p:cNvSpPr/>
              <p:nvPr/>
            </p:nvSpPr>
            <p:spPr>
              <a:xfrm>
                <a:off x="0" y="0"/>
                <a:ext cx="381000" cy="381000"/>
              </a:xfrm>
              <a:prstGeom prst="roundRect">
                <a:avLst>
                  <a:gd fmla="val 50000"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93" name="Google Shape;593;g409dbde18fd_0_1007"/>
              <p:cNvSpPr txBox="1"/>
              <p:nvPr/>
            </p:nvSpPr>
            <p:spPr>
              <a:xfrm>
                <a:off x="0" y="0"/>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800"/>
                  <a:t>🤝</a:t>
                </a:r>
                <a:endParaRPr sz="1800"/>
              </a:p>
            </p:txBody>
          </p:sp>
          <p:sp>
            <p:nvSpPr>
              <p:cNvPr id="594" name="Google Shape;594;g409dbde18fd_0_1007"/>
              <p:cNvSpPr txBox="1"/>
              <p:nvPr/>
            </p:nvSpPr>
            <p:spPr>
              <a:xfrm>
                <a:off x="495300" y="0"/>
                <a:ext cx="27432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000">
                    <a:solidFill>
                      <a:srgbClr val="2563EB"/>
                    </a:solidFill>
                    <a:latin typeface="Arial"/>
                    <a:ea typeface="Arial"/>
                    <a:cs typeface="Arial"/>
                    <a:sym typeface="Arial"/>
                  </a:rPr>
                  <a:t>チームで確認！</a:t>
                </a:r>
                <a:endParaRPr b="1" sz="2000">
                  <a:solidFill>
                    <a:srgbClr val="2563EB"/>
                  </a:solidFill>
                  <a:latin typeface="Arial"/>
                  <a:ea typeface="Arial"/>
                  <a:cs typeface="Arial"/>
                  <a:sym typeface="Arial"/>
                </a:endParaRPr>
              </a:p>
            </p:txBody>
          </p:sp>
        </p:grpSp>
        <p:sp>
          <p:nvSpPr>
            <p:cNvPr id="595" name="Google Shape;595;g409dbde18fd_0_1007"/>
            <p:cNvSpPr/>
            <p:nvPr/>
          </p:nvSpPr>
          <p:spPr>
            <a:xfrm>
              <a:off x="228600" y="723900"/>
              <a:ext cx="3238500" cy="9600"/>
            </a:xfrm>
            <a:prstGeom prst="rect">
              <a:avLst/>
            </a:prstGeom>
            <a:solidFill>
              <a:srgbClr val="93C5F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596" name="Google Shape;596;g409dbde18fd_0_1007"/>
            <p:cNvGrpSpPr/>
            <p:nvPr/>
          </p:nvGrpSpPr>
          <p:grpSpPr>
            <a:xfrm>
              <a:off x="228600" y="876300"/>
              <a:ext cx="3238500" cy="419100"/>
              <a:chOff x="0" y="0"/>
              <a:chExt cx="3238500" cy="419100"/>
            </a:xfrm>
          </p:grpSpPr>
          <p:sp>
            <p:nvSpPr>
              <p:cNvPr id="597" name="Google Shape;597;g409dbde18fd_0_1007"/>
              <p:cNvSpPr/>
              <p:nvPr/>
            </p:nvSpPr>
            <p:spPr>
              <a:xfrm>
                <a:off x="0" y="0"/>
                <a:ext cx="3238500" cy="419100"/>
              </a:xfrm>
              <a:prstGeom prst="roundRect">
                <a:avLst>
                  <a:gd fmla="val 18181" name="adj"/>
                </a:avLst>
              </a:prstGeom>
              <a:solidFill>
                <a:srgbClr val="FFFFFF"/>
              </a:solidFill>
              <a:ln cap="flat" cmpd="sng" w="9525">
                <a:solidFill>
                  <a:srgbClr val="93C5F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98" name="Google Shape;598;g409dbde18fd_0_1007"/>
              <p:cNvSpPr txBox="1"/>
              <p:nvPr/>
            </p:nvSpPr>
            <p:spPr>
              <a:xfrm>
                <a:off x="114300" y="0"/>
                <a:ext cx="3009900" cy="419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300">
                    <a:solidFill>
                      <a:srgbClr val="475569"/>
                    </a:solidFill>
                    <a:latin typeface="Arial"/>
                    <a:ea typeface="Arial"/>
                    <a:cs typeface="Arial"/>
                    <a:sym typeface="Arial"/>
                  </a:rPr>
                  <a:t>一人で抱え込まななくてOK！</a:t>
                </a:r>
                <a:endParaRPr b="1" sz="1300">
                  <a:solidFill>
                    <a:srgbClr val="475569"/>
                  </a:solidFill>
                  <a:latin typeface="Arial"/>
                  <a:ea typeface="Arial"/>
                  <a:cs typeface="Arial"/>
                  <a:sym typeface="Arial"/>
                </a:endParaRPr>
              </a:p>
            </p:txBody>
          </p:sp>
        </p:grpSp>
        <p:grpSp>
          <p:nvGrpSpPr>
            <p:cNvPr id="599" name="Google Shape;599;g409dbde18fd_0_1007"/>
            <p:cNvGrpSpPr/>
            <p:nvPr/>
          </p:nvGrpSpPr>
          <p:grpSpPr>
            <a:xfrm>
              <a:off x="228600" y="1447800"/>
              <a:ext cx="3238500" cy="800100"/>
              <a:chOff x="0" y="0"/>
              <a:chExt cx="3238500" cy="800100"/>
            </a:xfrm>
          </p:grpSpPr>
          <p:sp>
            <p:nvSpPr>
              <p:cNvPr id="600" name="Google Shape;600;g409dbde18fd_0_1007"/>
              <p:cNvSpPr/>
              <p:nvPr/>
            </p:nvSpPr>
            <p:spPr>
              <a:xfrm>
                <a:off x="0" y="76200"/>
                <a:ext cx="57300" cy="573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01" name="Google Shape;601;g409dbde18fd_0_1007"/>
              <p:cNvSpPr txBox="1"/>
              <p:nvPr/>
            </p:nvSpPr>
            <p:spPr>
              <a:xfrm>
                <a:off x="152400" y="0"/>
                <a:ext cx="30861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200">
                    <a:solidFill>
                      <a:srgbClr val="1E293B"/>
                    </a:solidFill>
                    <a:latin typeface="Arial"/>
                    <a:ea typeface="Arial"/>
                    <a:cs typeface="Arial"/>
                    <a:sym typeface="Arial"/>
                  </a:rPr>
                  <a:t>「これ似てないかな？」と相談する</a:t>
                </a:r>
                <a:endParaRPr b="0" sz="1200">
                  <a:solidFill>
                    <a:srgbClr val="1E293B"/>
                  </a:solidFill>
                  <a:latin typeface="Arial"/>
                  <a:ea typeface="Arial"/>
                  <a:cs typeface="Arial"/>
                  <a:sym typeface="Arial"/>
                </a:endParaRPr>
              </a:p>
            </p:txBody>
          </p:sp>
          <p:sp>
            <p:nvSpPr>
              <p:cNvPr id="602" name="Google Shape;602;g409dbde18fd_0_1007"/>
              <p:cNvSpPr/>
              <p:nvPr/>
            </p:nvSpPr>
            <p:spPr>
              <a:xfrm>
                <a:off x="0" y="495300"/>
                <a:ext cx="57300" cy="573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03" name="Google Shape;603;g409dbde18fd_0_1007"/>
              <p:cNvSpPr txBox="1"/>
              <p:nvPr/>
            </p:nvSpPr>
            <p:spPr>
              <a:xfrm>
                <a:off x="152400" y="419100"/>
                <a:ext cx="30861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200">
                    <a:solidFill>
                      <a:srgbClr val="1E293B"/>
                    </a:solidFill>
                    <a:latin typeface="Arial"/>
                    <a:ea typeface="Arial"/>
                    <a:cs typeface="Arial"/>
                    <a:sym typeface="Arial"/>
                  </a:rPr>
                  <a:t>納品前のダブルチェック！</a:t>
                </a:r>
                <a:endParaRPr b="0" sz="1200">
                  <a:solidFill>
                    <a:srgbClr val="1E293B"/>
                  </a:solidFill>
                  <a:latin typeface="Arial"/>
                  <a:ea typeface="Arial"/>
                  <a:cs typeface="Arial"/>
                  <a:sym typeface="Arial"/>
                </a:endParaRPr>
              </a:p>
            </p:txBody>
          </p:sp>
        </p:grpSp>
        <p:grpSp>
          <p:nvGrpSpPr>
            <p:cNvPr id="604" name="Google Shape;604;g409dbde18fd_0_1007"/>
            <p:cNvGrpSpPr/>
            <p:nvPr/>
          </p:nvGrpSpPr>
          <p:grpSpPr>
            <a:xfrm>
              <a:off x="228600" y="2400300"/>
              <a:ext cx="3238500" cy="571500"/>
              <a:chOff x="0" y="0"/>
              <a:chExt cx="3238500" cy="571500"/>
            </a:xfrm>
          </p:grpSpPr>
          <p:sp>
            <p:nvSpPr>
              <p:cNvPr id="605" name="Google Shape;605;g409dbde18fd_0_1007"/>
              <p:cNvSpPr/>
              <p:nvPr/>
            </p:nvSpPr>
            <p:spPr>
              <a:xfrm>
                <a:off x="0" y="0"/>
                <a:ext cx="3238500" cy="571500"/>
              </a:xfrm>
              <a:prstGeom prst="roundRect">
                <a:avLst>
                  <a:gd fmla="val 20000" name="adj"/>
                </a:avLst>
              </a:prstGeom>
              <a:solidFill>
                <a:srgbClr val="EFF6FF"/>
              </a:solidFill>
              <a:ln cap="flat" cmpd="sng" w="14300">
                <a:solidFill>
                  <a:srgbClr val="60A5F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06" name="Google Shape;606;g409dbde18fd_0_1007"/>
              <p:cNvSpPr txBox="1"/>
              <p:nvPr/>
            </p:nvSpPr>
            <p:spPr>
              <a:xfrm>
                <a:off x="114300" y="0"/>
                <a:ext cx="30099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300">
                    <a:solidFill>
                      <a:srgbClr val="1E3A8A"/>
                    </a:solidFill>
                    <a:latin typeface="Arial"/>
                    <a:ea typeface="Arial"/>
                    <a:cs typeface="Arial"/>
                    <a:sym typeface="Arial"/>
                  </a:rPr>
                  <a:t>★「相談すること自体が、</a:t>
                </a:r>
                <a:br>
                  <a:rPr b="1" lang="en-US" sz="1300">
                    <a:solidFill>
                      <a:srgbClr val="1E3A8A"/>
                    </a:solidFill>
                    <a:latin typeface="Arial"/>
                    <a:ea typeface="Arial"/>
                    <a:cs typeface="Arial"/>
                    <a:sym typeface="Arial"/>
                  </a:rPr>
                </a:br>
                <a:r>
                  <a:rPr b="1" lang="en-US" sz="1300">
                    <a:solidFill>
                      <a:srgbClr val="1E3A8A"/>
                    </a:solidFill>
                    <a:latin typeface="Arial"/>
                    <a:ea typeface="Arial"/>
                    <a:cs typeface="Arial"/>
                    <a:sym typeface="Arial"/>
                  </a:rPr>
                  <a:t>プロの最大のスキル」です！</a:t>
                </a:r>
                <a:endParaRPr b="1" sz="1300">
                  <a:solidFill>
                    <a:srgbClr val="1E3A8A"/>
                  </a:solidFill>
                  <a:latin typeface="Arial"/>
                  <a:ea typeface="Arial"/>
                  <a:cs typeface="Arial"/>
                  <a:sym typeface="Arial"/>
                </a:endParaRPr>
              </a:p>
            </p:txBody>
          </p:sp>
        </p:grpSp>
      </p:gr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11" name="Shape 611"/>
        <p:cNvGrpSpPr/>
        <p:nvPr/>
      </p:nvGrpSpPr>
      <p:grpSpPr>
        <a:xfrm>
          <a:off x="0" y="0"/>
          <a:ext cx="0" cy="0"/>
          <a:chOff x="0" y="0"/>
          <a:chExt cx="0" cy="0"/>
        </a:xfrm>
      </p:grpSpPr>
      <p:sp>
        <p:nvSpPr>
          <p:cNvPr id="612" name="Google Shape;612;p26"/>
          <p:cNvSpPr/>
          <p:nvPr/>
        </p:nvSpPr>
        <p:spPr>
          <a:xfrm>
            <a:off x="731520" y="4709160"/>
            <a:ext cx="5486400" cy="320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18096"/>
              </a:buClr>
              <a:buSzPts val="1200"/>
              <a:buFont typeface="Meiryo"/>
              <a:buNone/>
            </a:pPr>
            <a:r>
              <a:rPr b="0" i="0" lang="en-US" sz="1200" u="none" cap="none" strike="noStrike">
                <a:solidFill>
                  <a:srgbClr val="718096"/>
                </a:solidFill>
                <a:latin typeface="Meiryo"/>
                <a:ea typeface="Meiryo"/>
                <a:cs typeface="Meiryo"/>
                <a:sym typeface="Meiryo"/>
              </a:rPr>
              <a:t>まとめ</a:t>
            </a:r>
            <a:endParaRPr b="0" i="0" sz="1200" u="none" cap="none" strike="noStrike">
              <a:solidFill>
                <a:schemeClr val="dk1"/>
              </a:solidFill>
              <a:latin typeface="Calibri"/>
              <a:ea typeface="Calibri"/>
              <a:cs typeface="Calibri"/>
              <a:sym typeface="Calibri"/>
            </a:endParaRPr>
          </a:p>
        </p:txBody>
      </p:sp>
      <p:sp>
        <p:nvSpPr>
          <p:cNvPr id="613" name="Google Shape;613;p26"/>
          <p:cNvSpPr/>
          <p:nvPr/>
        </p:nvSpPr>
        <p:spPr>
          <a:xfrm>
            <a:off x="7315200" y="4709160"/>
            <a:ext cx="1097400" cy="3201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718096"/>
              </a:buClr>
              <a:buSzPts val="1200"/>
              <a:buFont typeface="Meiryo"/>
              <a:buNone/>
            </a:pPr>
            <a:r>
              <a:rPr b="0" i="0" lang="en-US" sz="1200" u="none" cap="none" strike="noStrike">
                <a:solidFill>
                  <a:srgbClr val="718096"/>
                </a:solidFill>
                <a:latin typeface="Meiryo"/>
                <a:ea typeface="Meiryo"/>
                <a:cs typeface="Meiryo"/>
                <a:sym typeface="Meiryo"/>
              </a:rPr>
              <a:t>26 / 30</a:t>
            </a:r>
            <a:endParaRPr b="0" i="0" sz="1200" u="none" cap="none" strike="noStrike">
              <a:solidFill>
                <a:schemeClr val="dk1"/>
              </a:solidFill>
              <a:latin typeface="Calibri"/>
              <a:ea typeface="Calibri"/>
              <a:cs typeface="Calibri"/>
              <a:sym typeface="Calibri"/>
            </a:endParaRPr>
          </a:p>
        </p:txBody>
      </p:sp>
      <p:sp>
        <p:nvSpPr>
          <p:cNvPr id="614" name="Google Shape;614;p26"/>
          <p:cNvSpPr/>
          <p:nvPr/>
        </p:nvSpPr>
        <p:spPr>
          <a:xfrm>
            <a:off x="731520" y="381000"/>
            <a:ext cx="7680900" cy="548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2200">
                <a:solidFill>
                  <a:srgbClr val="1A202C"/>
                </a:solidFill>
                <a:latin typeface="Arial"/>
                <a:ea typeface="Arial"/>
                <a:cs typeface="Arial"/>
                <a:sym typeface="Arial"/>
              </a:rPr>
              <a:t>まとめ① 今日の話は「知っておくと安心」の話</a:t>
            </a:r>
            <a:endParaRPr b="1" sz="2200">
              <a:solidFill>
                <a:srgbClr val="1A202C"/>
              </a:solidFill>
              <a:latin typeface="Arial"/>
              <a:ea typeface="Arial"/>
              <a:cs typeface="Arial"/>
              <a:sym typeface="Arial"/>
            </a:endParaRPr>
          </a:p>
        </p:txBody>
      </p:sp>
      <p:grpSp>
        <p:nvGrpSpPr>
          <p:cNvPr id="615" name="Google Shape;615;p26"/>
          <p:cNvGrpSpPr/>
          <p:nvPr/>
        </p:nvGrpSpPr>
        <p:grpSpPr>
          <a:xfrm>
            <a:off x="731520" y="1047750"/>
            <a:ext cx="7680900" cy="609600"/>
            <a:chOff x="0" y="0"/>
            <a:chExt cx="7680900" cy="609600"/>
          </a:xfrm>
        </p:grpSpPr>
        <p:sp>
          <p:nvSpPr>
            <p:cNvPr id="616" name="Google Shape;616;p26"/>
            <p:cNvSpPr/>
            <p:nvPr/>
          </p:nvSpPr>
          <p:spPr>
            <a:xfrm>
              <a:off x="0" y="0"/>
              <a:ext cx="7680900" cy="609600"/>
            </a:xfrm>
            <a:prstGeom prst="roundRect">
              <a:avLst>
                <a:gd fmla="val 18750" name="adj"/>
              </a:avLst>
            </a:prstGeom>
            <a:solidFill>
              <a:srgbClr val="EBF8FF"/>
            </a:solidFill>
            <a:ln cap="flat" cmpd="sng" w="14300">
              <a:solidFill>
                <a:srgbClr val="3B82F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17" name="Google Shape;617;p26"/>
            <p:cNvSpPr txBox="1"/>
            <p:nvPr/>
          </p:nvSpPr>
          <p:spPr>
            <a:xfrm>
              <a:off x="0" y="0"/>
              <a:ext cx="7680900" cy="609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800">
                  <a:solidFill>
                    <a:srgbClr val="1D4ED8"/>
                  </a:solidFill>
                  <a:latin typeface="Arial"/>
                  <a:ea typeface="Arial"/>
                  <a:cs typeface="Arial"/>
                  <a:sym typeface="Arial"/>
                </a:rPr>
                <a:t>🛡️ 「守れ！」ではなく「自分と作品を守るための盾」</a:t>
              </a:r>
              <a:endParaRPr b="1" sz="1800">
                <a:solidFill>
                  <a:srgbClr val="1D4ED8"/>
                </a:solidFill>
                <a:latin typeface="Arial"/>
                <a:ea typeface="Arial"/>
                <a:cs typeface="Arial"/>
                <a:sym typeface="Arial"/>
              </a:endParaRPr>
            </a:p>
          </p:txBody>
        </p:sp>
      </p:grpSp>
      <p:grpSp>
        <p:nvGrpSpPr>
          <p:cNvPr id="618" name="Google Shape;618;p26"/>
          <p:cNvGrpSpPr/>
          <p:nvPr/>
        </p:nvGrpSpPr>
        <p:grpSpPr>
          <a:xfrm>
            <a:off x="731520" y="1828800"/>
            <a:ext cx="7681110" cy="1676400"/>
            <a:chOff x="0" y="0"/>
            <a:chExt cx="7681110" cy="1676400"/>
          </a:xfrm>
        </p:grpSpPr>
        <p:grpSp>
          <p:nvGrpSpPr>
            <p:cNvPr id="619" name="Google Shape;619;p26"/>
            <p:cNvGrpSpPr/>
            <p:nvPr/>
          </p:nvGrpSpPr>
          <p:grpSpPr>
            <a:xfrm>
              <a:off x="0" y="0"/>
              <a:ext cx="2457600" cy="1676400"/>
              <a:chOff x="0" y="0"/>
              <a:chExt cx="2457600" cy="1676400"/>
            </a:xfrm>
          </p:grpSpPr>
          <p:sp>
            <p:nvSpPr>
              <p:cNvPr id="620" name="Google Shape;620;p26"/>
              <p:cNvSpPr/>
              <p:nvPr/>
            </p:nvSpPr>
            <p:spPr>
              <a:xfrm>
                <a:off x="0" y="0"/>
                <a:ext cx="2457600" cy="1676400"/>
              </a:xfrm>
              <a:prstGeom prst="roundRect">
                <a:avLst>
                  <a:gd fmla="val 6818"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21" name="Google Shape;621;p26"/>
              <p:cNvSpPr/>
              <p:nvPr/>
            </p:nvSpPr>
            <p:spPr>
              <a:xfrm>
                <a:off x="0" y="0"/>
                <a:ext cx="2457600" cy="57300"/>
              </a:xfrm>
              <a:prstGeom prst="roundRect">
                <a:avLst>
                  <a:gd fmla="val 50000" name="adj"/>
                </a:avLst>
              </a:prstGeom>
              <a:solidFill>
                <a:srgbClr val="94A3B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22" name="Google Shape;622;p26"/>
              <p:cNvSpPr/>
              <p:nvPr/>
            </p:nvSpPr>
            <p:spPr>
              <a:xfrm>
                <a:off x="1038225" y="209550"/>
                <a:ext cx="381000" cy="381000"/>
              </a:xfrm>
              <a:prstGeom prst="ellipse">
                <a:avLst/>
              </a:prstGeom>
              <a:solidFill>
                <a:srgbClr val="F1F5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23" name="Google Shape;623;p26"/>
              <p:cNvSpPr txBox="1"/>
              <p:nvPr/>
            </p:nvSpPr>
            <p:spPr>
              <a:xfrm>
                <a:off x="1038225" y="209550"/>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800"/>
                  <a:t>📋</a:t>
                </a:r>
                <a:endParaRPr sz="1800"/>
              </a:p>
            </p:txBody>
          </p:sp>
          <p:sp>
            <p:nvSpPr>
              <p:cNvPr id="624" name="Google Shape;624;p26"/>
              <p:cNvSpPr txBox="1"/>
              <p:nvPr/>
            </p:nvSpPr>
            <p:spPr>
              <a:xfrm>
                <a:off x="152400" y="685800"/>
                <a:ext cx="2152800" cy="8574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US" sz="1300">
                    <a:solidFill>
                      <a:srgbClr val="334155"/>
                    </a:solidFill>
                    <a:latin typeface="Arial"/>
                    <a:ea typeface="Arial"/>
                    <a:cs typeface="Arial"/>
                    <a:sym typeface="Arial"/>
                  </a:rPr>
                  <a:t>押し付けではない</a:t>
                </a:r>
                <a:endParaRPr b="1" sz="1300">
                  <a:solidFill>
                    <a:srgbClr val="334155"/>
                  </a:solidFill>
                  <a:latin typeface="Arial"/>
                  <a:ea typeface="Arial"/>
                  <a:cs typeface="Arial"/>
                  <a:sym typeface="Arial"/>
                </a:endParaRPr>
              </a:p>
              <a:p>
                <a:pPr indent="0" lvl="0" marL="0" rtl="0" algn="ctr">
                  <a:spcBef>
                    <a:spcPts val="600"/>
                  </a:spcBef>
                  <a:spcAft>
                    <a:spcPts val="0"/>
                  </a:spcAft>
                  <a:buNone/>
                </a:pPr>
                <a:r>
                  <a:rPr lang="en-US" sz="1100">
                    <a:solidFill>
                      <a:srgbClr val="64748B"/>
                    </a:solidFill>
                    <a:latin typeface="Arial"/>
                    <a:ea typeface="Arial"/>
                    <a:cs typeface="Arial"/>
                    <a:sym typeface="Arial"/>
                  </a:rPr>
                  <a:t>今日の話は、禁止事項を押し付けるものではありません。</a:t>
                </a:r>
                <a:endParaRPr sz="1100">
                  <a:solidFill>
                    <a:srgbClr val="64748B"/>
                  </a:solidFill>
                  <a:latin typeface="Arial"/>
                  <a:ea typeface="Arial"/>
                  <a:cs typeface="Arial"/>
                  <a:sym typeface="Arial"/>
                </a:endParaRPr>
              </a:p>
            </p:txBody>
          </p:sp>
        </p:grpSp>
        <p:grpSp>
          <p:nvGrpSpPr>
            <p:cNvPr id="625" name="Google Shape;625;p26"/>
            <p:cNvGrpSpPr/>
            <p:nvPr/>
          </p:nvGrpSpPr>
          <p:grpSpPr>
            <a:xfrm>
              <a:off x="2611755" y="0"/>
              <a:ext cx="2457600" cy="1676400"/>
              <a:chOff x="0" y="0"/>
              <a:chExt cx="2457600" cy="1676400"/>
            </a:xfrm>
          </p:grpSpPr>
          <p:sp>
            <p:nvSpPr>
              <p:cNvPr id="626" name="Google Shape;626;p26"/>
              <p:cNvSpPr/>
              <p:nvPr/>
            </p:nvSpPr>
            <p:spPr>
              <a:xfrm>
                <a:off x="0" y="0"/>
                <a:ext cx="2457600" cy="1676400"/>
              </a:xfrm>
              <a:prstGeom prst="roundRect">
                <a:avLst>
                  <a:gd fmla="val 6818" name="adj"/>
                </a:avLst>
              </a:prstGeom>
              <a:solidFill>
                <a:srgbClr val="FFFFFF"/>
              </a:solidFill>
              <a:ln cap="flat" cmpd="sng" w="14300">
                <a:solidFill>
                  <a:srgbClr val="3B82F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27" name="Google Shape;627;p26"/>
              <p:cNvSpPr/>
              <p:nvPr/>
            </p:nvSpPr>
            <p:spPr>
              <a:xfrm>
                <a:off x="0" y="0"/>
                <a:ext cx="2457600" cy="573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28" name="Google Shape;628;p26"/>
              <p:cNvSpPr/>
              <p:nvPr/>
            </p:nvSpPr>
            <p:spPr>
              <a:xfrm>
                <a:off x="1038225" y="209550"/>
                <a:ext cx="381000" cy="381000"/>
              </a:xfrm>
              <a:prstGeom prst="ellipse">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29" name="Google Shape;629;p26"/>
              <p:cNvSpPr txBox="1"/>
              <p:nvPr/>
            </p:nvSpPr>
            <p:spPr>
              <a:xfrm>
                <a:off x="1038225" y="209550"/>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800"/>
                  <a:t>🛡️</a:t>
                </a:r>
                <a:endParaRPr sz="1800"/>
              </a:p>
            </p:txBody>
          </p:sp>
          <p:sp>
            <p:nvSpPr>
              <p:cNvPr id="630" name="Google Shape;630;p26"/>
              <p:cNvSpPr txBox="1"/>
              <p:nvPr/>
            </p:nvSpPr>
            <p:spPr>
              <a:xfrm>
                <a:off x="152400" y="685800"/>
                <a:ext cx="2152800" cy="8574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US" sz="1300">
                    <a:solidFill>
                      <a:srgbClr val="1D4ED8"/>
                    </a:solidFill>
                    <a:latin typeface="Arial"/>
                    <a:ea typeface="Arial"/>
                    <a:cs typeface="Arial"/>
                    <a:sym typeface="Arial"/>
                  </a:rPr>
                  <a:t>自分を守る「防具」</a:t>
                </a:r>
                <a:endParaRPr b="1" sz="1300">
                  <a:solidFill>
                    <a:srgbClr val="1D4ED8"/>
                  </a:solidFill>
                  <a:latin typeface="Arial"/>
                  <a:ea typeface="Arial"/>
                  <a:cs typeface="Arial"/>
                  <a:sym typeface="Arial"/>
                </a:endParaRPr>
              </a:p>
              <a:p>
                <a:pPr indent="0" lvl="0" marL="0" rtl="0" algn="ctr">
                  <a:spcBef>
                    <a:spcPts val="600"/>
                  </a:spcBef>
                  <a:spcAft>
                    <a:spcPts val="0"/>
                  </a:spcAft>
                  <a:buNone/>
                </a:pPr>
                <a:r>
                  <a:rPr lang="en-US" sz="1100">
                    <a:solidFill>
                      <a:srgbClr val="334155"/>
                    </a:solidFill>
                    <a:latin typeface="Arial"/>
                    <a:ea typeface="Arial"/>
                    <a:cs typeface="Arial"/>
                    <a:sym typeface="Arial"/>
                  </a:rPr>
                  <a:t>契約を知ることは、不当に損をせず自分と作品を守るため。</a:t>
                </a:r>
                <a:endParaRPr sz="1100">
                  <a:solidFill>
                    <a:srgbClr val="334155"/>
                  </a:solidFill>
                  <a:latin typeface="Arial"/>
                  <a:ea typeface="Arial"/>
                  <a:cs typeface="Arial"/>
                  <a:sym typeface="Arial"/>
                </a:endParaRPr>
              </a:p>
            </p:txBody>
          </p:sp>
        </p:grpSp>
        <p:grpSp>
          <p:nvGrpSpPr>
            <p:cNvPr id="631" name="Google Shape;631;p26"/>
            <p:cNvGrpSpPr/>
            <p:nvPr/>
          </p:nvGrpSpPr>
          <p:grpSpPr>
            <a:xfrm>
              <a:off x="5223510" y="0"/>
              <a:ext cx="2457600" cy="1676400"/>
              <a:chOff x="0" y="0"/>
              <a:chExt cx="2457600" cy="1676400"/>
            </a:xfrm>
          </p:grpSpPr>
          <p:sp>
            <p:nvSpPr>
              <p:cNvPr id="632" name="Google Shape;632;p26"/>
              <p:cNvSpPr/>
              <p:nvPr/>
            </p:nvSpPr>
            <p:spPr>
              <a:xfrm>
                <a:off x="0" y="0"/>
                <a:ext cx="2457600" cy="1676400"/>
              </a:xfrm>
              <a:prstGeom prst="roundRect">
                <a:avLst>
                  <a:gd fmla="val 6818"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33" name="Google Shape;633;p26"/>
              <p:cNvSpPr/>
              <p:nvPr/>
            </p:nvSpPr>
            <p:spPr>
              <a:xfrm>
                <a:off x="0" y="0"/>
                <a:ext cx="2457600" cy="57300"/>
              </a:xfrm>
              <a:prstGeom prst="roundRect">
                <a:avLst>
                  <a:gd fmla="val 50000" name="adj"/>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34" name="Google Shape;634;p26"/>
              <p:cNvSpPr/>
              <p:nvPr/>
            </p:nvSpPr>
            <p:spPr>
              <a:xfrm>
                <a:off x="1038225" y="209550"/>
                <a:ext cx="381000" cy="381000"/>
              </a:xfrm>
              <a:prstGeom prst="ellipse">
                <a:avLst/>
              </a:prstGeom>
              <a:solidFill>
                <a:srgbClr val="D1FAE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35" name="Google Shape;635;p26"/>
              <p:cNvSpPr txBox="1"/>
              <p:nvPr/>
            </p:nvSpPr>
            <p:spPr>
              <a:xfrm>
                <a:off x="1038225" y="209550"/>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800"/>
                  <a:t>💡</a:t>
                </a:r>
                <a:endParaRPr sz="1800"/>
              </a:p>
            </p:txBody>
          </p:sp>
          <p:sp>
            <p:nvSpPr>
              <p:cNvPr id="636" name="Google Shape;636;p26"/>
              <p:cNvSpPr txBox="1"/>
              <p:nvPr/>
            </p:nvSpPr>
            <p:spPr>
              <a:xfrm>
                <a:off x="152400" y="685800"/>
                <a:ext cx="2152800" cy="8574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US" sz="1300">
                    <a:solidFill>
                      <a:srgbClr val="047857"/>
                    </a:solidFill>
                    <a:latin typeface="Arial"/>
                    <a:ea typeface="Arial"/>
                    <a:cs typeface="Arial"/>
                    <a:sym typeface="Arial"/>
                  </a:rPr>
                  <a:t>丸暗記は不要</a:t>
                </a:r>
                <a:endParaRPr b="1" sz="1300">
                  <a:solidFill>
                    <a:srgbClr val="047857"/>
                  </a:solidFill>
                  <a:latin typeface="Arial"/>
                  <a:ea typeface="Arial"/>
                  <a:cs typeface="Arial"/>
                  <a:sym typeface="Arial"/>
                </a:endParaRPr>
              </a:p>
              <a:p>
                <a:pPr indent="0" lvl="0" marL="0" rtl="0" algn="ctr">
                  <a:spcBef>
                    <a:spcPts val="600"/>
                  </a:spcBef>
                  <a:spcAft>
                    <a:spcPts val="0"/>
                  </a:spcAft>
                  <a:buNone/>
                </a:pPr>
                <a:r>
                  <a:rPr lang="en-US" sz="1100">
                    <a:solidFill>
                      <a:srgbClr val="64748B"/>
                    </a:solidFill>
                    <a:latin typeface="Arial"/>
                    <a:ea typeface="Arial"/>
                    <a:cs typeface="Arial"/>
                    <a:sym typeface="Arial"/>
                  </a:rPr>
                  <a:t>難しい法律用語を丸暗記する必要はありません。</a:t>
                </a:r>
                <a:endParaRPr sz="1100">
                  <a:solidFill>
                    <a:srgbClr val="64748B"/>
                  </a:solidFill>
                  <a:latin typeface="Arial"/>
                  <a:ea typeface="Arial"/>
                  <a:cs typeface="Arial"/>
                  <a:sym typeface="Arial"/>
                </a:endParaRPr>
              </a:p>
            </p:txBody>
          </p:sp>
        </p:grpSp>
      </p:grpSp>
      <p:grpSp>
        <p:nvGrpSpPr>
          <p:cNvPr id="637" name="Google Shape;637;p26"/>
          <p:cNvGrpSpPr/>
          <p:nvPr/>
        </p:nvGrpSpPr>
        <p:grpSpPr>
          <a:xfrm>
            <a:off x="731520" y="3695700"/>
            <a:ext cx="7680900" cy="685800"/>
            <a:chOff x="0" y="0"/>
            <a:chExt cx="7680900" cy="685800"/>
          </a:xfrm>
        </p:grpSpPr>
        <p:sp>
          <p:nvSpPr>
            <p:cNvPr id="638" name="Google Shape;638;p26"/>
            <p:cNvSpPr/>
            <p:nvPr/>
          </p:nvSpPr>
          <p:spPr>
            <a:xfrm>
              <a:off x="0" y="0"/>
              <a:ext cx="7680900" cy="685800"/>
            </a:xfrm>
            <a:prstGeom prst="roundRect">
              <a:avLst>
                <a:gd fmla="val 16666" name="adj"/>
              </a:avLst>
            </a:prstGeom>
            <a:solidFill>
              <a:srgbClr val="FEF3C7"/>
            </a:solidFill>
            <a:ln cap="flat" cmpd="sng" w="14300">
              <a:solidFill>
                <a:srgbClr val="F59E0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39" name="Google Shape;639;p26"/>
            <p:cNvSpPr txBox="1"/>
            <p:nvPr/>
          </p:nvSpPr>
          <p:spPr>
            <a:xfrm>
              <a:off x="0" y="0"/>
              <a:ext cx="7680900" cy="685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600">
                  <a:solidFill>
                    <a:srgbClr val="B45309"/>
                  </a:solidFill>
                  <a:latin typeface="Arial"/>
                  <a:ea typeface="Arial"/>
                  <a:cs typeface="Arial"/>
                  <a:sym typeface="Arial"/>
                </a:rPr>
                <a:t>★「ひとつでも後で思い出せれば100点満点」です！</a:t>
              </a:r>
              <a:endParaRPr b="1" sz="1600">
                <a:solidFill>
                  <a:srgbClr val="B45309"/>
                </a:solidFill>
                <a:latin typeface="Arial"/>
                <a:ea typeface="Arial"/>
                <a:cs typeface="Arial"/>
                <a:sym typeface="Arial"/>
              </a:endParaRPr>
            </a:p>
          </p:txBody>
        </p:sp>
      </p:gr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44" name="Shape 644"/>
        <p:cNvGrpSpPr/>
        <p:nvPr/>
      </p:nvGrpSpPr>
      <p:grpSpPr>
        <a:xfrm>
          <a:off x="0" y="0"/>
          <a:ext cx="0" cy="0"/>
          <a:chOff x="0" y="0"/>
          <a:chExt cx="0" cy="0"/>
        </a:xfrm>
      </p:grpSpPr>
      <p:sp>
        <p:nvSpPr>
          <p:cNvPr id="645" name="Google Shape;645;p27"/>
          <p:cNvSpPr/>
          <p:nvPr/>
        </p:nvSpPr>
        <p:spPr>
          <a:xfrm>
            <a:off x="731520" y="4709160"/>
            <a:ext cx="5486400" cy="320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18096"/>
              </a:buClr>
              <a:buSzPts val="1200"/>
              <a:buFont typeface="Meiryo"/>
              <a:buNone/>
            </a:pPr>
            <a:r>
              <a:rPr b="0" i="0" lang="en-US" sz="1200" u="none" cap="none" strike="noStrike">
                <a:solidFill>
                  <a:srgbClr val="718096"/>
                </a:solidFill>
                <a:latin typeface="Meiryo"/>
                <a:ea typeface="Meiryo"/>
                <a:cs typeface="Meiryo"/>
                <a:sym typeface="Meiryo"/>
              </a:rPr>
              <a:t>まとめ</a:t>
            </a:r>
            <a:endParaRPr b="0" i="0" sz="1200" u="none" cap="none" strike="noStrike">
              <a:solidFill>
                <a:schemeClr val="dk1"/>
              </a:solidFill>
              <a:latin typeface="Calibri"/>
              <a:ea typeface="Calibri"/>
              <a:cs typeface="Calibri"/>
              <a:sym typeface="Calibri"/>
            </a:endParaRPr>
          </a:p>
        </p:txBody>
      </p:sp>
      <p:sp>
        <p:nvSpPr>
          <p:cNvPr id="646" name="Google Shape;646;p27"/>
          <p:cNvSpPr/>
          <p:nvPr/>
        </p:nvSpPr>
        <p:spPr>
          <a:xfrm>
            <a:off x="7315200" y="4709160"/>
            <a:ext cx="1097400" cy="3201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718096"/>
              </a:buClr>
              <a:buSzPts val="1200"/>
              <a:buFont typeface="Meiryo"/>
              <a:buNone/>
            </a:pPr>
            <a:r>
              <a:rPr b="0" i="0" lang="en-US" sz="1200" u="none" cap="none" strike="noStrike">
                <a:solidFill>
                  <a:srgbClr val="718096"/>
                </a:solidFill>
                <a:latin typeface="Meiryo"/>
                <a:ea typeface="Meiryo"/>
                <a:cs typeface="Meiryo"/>
                <a:sym typeface="Meiryo"/>
              </a:rPr>
              <a:t>27 / 30</a:t>
            </a:r>
            <a:endParaRPr b="0" i="0" sz="1200" u="none" cap="none" strike="noStrike">
              <a:solidFill>
                <a:schemeClr val="dk1"/>
              </a:solidFill>
              <a:latin typeface="Calibri"/>
              <a:ea typeface="Calibri"/>
              <a:cs typeface="Calibri"/>
              <a:sym typeface="Calibri"/>
            </a:endParaRPr>
          </a:p>
        </p:txBody>
      </p:sp>
      <p:sp>
        <p:nvSpPr>
          <p:cNvPr id="647" name="Google Shape;647;p27"/>
          <p:cNvSpPr/>
          <p:nvPr/>
        </p:nvSpPr>
        <p:spPr>
          <a:xfrm>
            <a:off x="731520" y="457200"/>
            <a:ext cx="76809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02C"/>
              </a:buClr>
              <a:buSzPts val="2600"/>
              <a:buFont typeface="Meiryo"/>
              <a:buNone/>
            </a:pPr>
            <a:r>
              <a:rPr b="1" i="0" lang="en-US" sz="2600" u="none" cap="none" strike="noStrike">
                <a:solidFill>
                  <a:srgbClr val="1A202C"/>
                </a:solidFill>
                <a:latin typeface="Meiryo"/>
                <a:ea typeface="Meiryo"/>
                <a:cs typeface="Meiryo"/>
                <a:sym typeface="Meiryo"/>
              </a:rPr>
              <a:t>まとめ② 皆さんは、すでに契約の世界で仕事をしている！</a:t>
            </a:r>
            <a:endParaRPr b="0" i="0" sz="2600" u="none" cap="none" strike="noStrike">
              <a:solidFill>
                <a:schemeClr val="dk1"/>
              </a:solidFill>
              <a:latin typeface="Calibri"/>
              <a:ea typeface="Calibri"/>
              <a:cs typeface="Calibri"/>
              <a:sym typeface="Calibri"/>
            </a:endParaRPr>
          </a:p>
        </p:txBody>
      </p:sp>
      <p:grpSp>
        <p:nvGrpSpPr>
          <p:cNvPr id="648" name="Google Shape;648;p27"/>
          <p:cNvGrpSpPr/>
          <p:nvPr/>
        </p:nvGrpSpPr>
        <p:grpSpPr>
          <a:xfrm>
            <a:off x="731520" y="1047750"/>
            <a:ext cx="7680900" cy="609600"/>
            <a:chOff x="0" y="0"/>
            <a:chExt cx="7680900" cy="609600"/>
          </a:xfrm>
        </p:grpSpPr>
        <p:sp>
          <p:nvSpPr>
            <p:cNvPr id="649" name="Google Shape;649;p27"/>
            <p:cNvSpPr/>
            <p:nvPr/>
          </p:nvSpPr>
          <p:spPr>
            <a:xfrm>
              <a:off x="0" y="0"/>
              <a:ext cx="7680900" cy="609600"/>
            </a:xfrm>
            <a:prstGeom prst="roundRect">
              <a:avLst>
                <a:gd fmla="val 18750" name="adj"/>
              </a:avLst>
            </a:prstGeom>
            <a:solidFill>
              <a:srgbClr val="EBF8FF"/>
            </a:solidFill>
            <a:ln cap="flat" cmpd="sng" w="14300">
              <a:solidFill>
                <a:srgbClr val="3B82F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50" name="Google Shape;650;p27"/>
            <p:cNvSpPr txBox="1"/>
            <p:nvPr/>
          </p:nvSpPr>
          <p:spPr>
            <a:xfrm>
              <a:off x="0" y="0"/>
              <a:ext cx="7680900" cy="609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800">
                  <a:solidFill>
                    <a:srgbClr val="1D4ED8"/>
                  </a:solidFill>
                  <a:latin typeface="Arial"/>
                  <a:ea typeface="Arial"/>
                  <a:cs typeface="Arial"/>
                  <a:sym typeface="Arial"/>
                </a:rPr>
                <a:t>💼 今の作業が、すでに「請負契約の履行」そのもの！</a:t>
              </a:r>
              <a:endParaRPr b="1" sz="1800">
                <a:solidFill>
                  <a:srgbClr val="1D4ED8"/>
                </a:solidFill>
                <a:latin typeface="Arial"/>
                <a:ea typeface="Arial"/>
                <a:cs typeface="Arial"/>
                <a:sym typeface="Arial"/>
              </a:endParaRPr>
            </a:p>
          </p:txBody>
        </p:sp>
      </p:grpSp>
      <p:grpSp>
        <p:nvGrpSpPr>
          <p:cNvPr id="651" name="Google Shape;651;p27"/>
          <p:cNvGrpSpPr/>
          <p:nvPr/>
        </p:nvGrpSpPr>
        <p:grpSpPr>
          <a:xfrm>
            <a:off x="731520" y="1828800"/>
            <a:ext cx="7681110" cy="1676400"/>
            <a:chOff x="0" y="0"/>
            <a:chExt cx="7681110" cy="1676400"/>
          </a:xfrm>
        </p:grpSpPr>
        <p:grpSp>
          <p:nvGrpSpPr>
            <p:cNvPr id="652" name="Google Shape;652;p27"/>
            <p:cNvGrpSpPr/>
            <p:nvPr/>
          </p:nvGrpSpPr>
          <p:grpSpPr>
            <a:xfrm>
              <a:off x="0" y="0"/>
              <a:ext cx="2457600" cy="1676400"/>
              <a:chOff x="0" y="0"/>
              <a:chExt cx="2457600" cy="1676400"/>
            </a:xfrm>
          </p:grpSpPr>
          <p:sp>
            <p:nvSpPr>
              <p:cNvPr id="653" name="Google Shape;653;p27"/>
              <p:cNvSpPr/>
              <p:nvPr/>
            </p:nvSpPr>
            <p:spPr>
              <a:xfrm>
                <a:off x="0" y="0"/>
                <a:ext cx="2457600" cy="1676400"/>
              </a:xfrm>
              <a:prstGeom prst="roundRect">
                <a:avLst>
                  <a:gd fmla="val 6818"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54" name="Google Shape;654;p27"/>
              <p:cNvSpPr/>
              <p:nvPr/>
            </p:nvSpPr>
            <p:spPr>
              <a:xfrm>
                <a:off x="0" y="0"/>
                <a:ext cx="2457600" cy="573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55" name="Google Shape;655;p27"/>
              <p:cNvSpPr/>
              <p:nvPr/>
            </p:nvSpPr>
            <p:spPr>
              <a:xfrm>
                <a:off x="1038225" y="209550"/>
                <a:ext cx="381000" cy="381000"/>
              </a:xfrm>
              <a:prstGeom prst="ellipse">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56" name="Google Shape;656;p27"/>
              <p:cNvSpPr txBox="1"/>
              <p:nvPr/>
            </p:nvSpPr>
            <p:spPr>
              <a:xfrm>
                <a:off x="1038225" y="209550"/>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800"/>
                  <a:t>🎨</a:t>
                </a:r>
                <a:endParaRPr sz="1800"/>
              </a:p>
            </p:txBody>
          </p:sp>
          <p:sp>
            <p:nvSpPr>
              <p:cNvPr id="657" name="Google Shape;657;p27"/>
              <p:cNvSpPr txBox="1"/>
              <p:nvPr/>
            </p:nvSpPr>
            <p:spPr>
              <a:xfrm>
                <a:off x="152400" y="685800"/>
                <a:ext cx="2152800" cy="8574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US" sz="1300">
                    <a:solidFill>
                      <a:srgbClr val="1D4ED8"/>
                    </a:solidFill>
                    <a:latin typeface="Arial"/>
                    <a:ea typeface="Arial"/>
                    <a:cs typeface="Arial"/>
                    <a:sym typeface="Arial"/>
                  </a:rPr>
                  <a:t>立派な契約履行</a:t>
                </a:r>
                <a:endParaRPr b="1" sz="1300">
                  <a:solidFill>
                    <a:srgbClr val="1D4ED8"/>
                  </a:solidFill>
                  <a:latin typeface="Arial"/>
                  <a:ea typeface="Arial"/>
                  <a:cs typeface="Arial"/>
                  <a:sym typeface="Arial"/>
                </a:endParaRPr>
              </a:p>
              <a:p>
                <a:pPr indent="0" lvl="0" marL="0" rtl="0" algn="ctr">
                  <a:spcBef>
                    <a:spcPts val="600"/>
                  </a:spcBef>
                  <a:spcAft>
                    <a:spcPts val="0"/>
                  </a:spcAft>
                  <a:buNone/>
                </a:pPr>
                <a:r>
                  <a:rPr b="0" lang="en-US" sz="1100">
                    <a:solidFill>
                      <a:srgbClr val="334155"/>
                    </a:solidFill>
                    <a:latin typeface="Arial"/>
                    <a:ea typeface="Arial"/>
                    <a:cs typeface="Arial"/>
                    <a:sym typeface="Arial"/>
                  </a:rPr>
                  <a:t>AIで作った作品が誰かに届く＝請負契約の立派な履行。</a:t>
                </a:r>
                <a:endParaRPr b="0" sz="1100">
                  <a:solidFill>
                    <a:srgbClr val="334155"/>
                  </a:solidFill>
                  <a:latin typeface="Arial"/>
                  <a:ea typeface="Arial"/>
                  <a:cs typeface="Arial"/>
                  <a:sym typeface="Arial"/>
                </a:endParaRPr>
              </a:p>
            </p:txBody>
          </p:sp>
        </p:grpSp>
        <p:grpSp>
          <p:nvGrpSpPr>
            <p:cNvPr id="658" name="Google Shape;658;p27"/>
            <p:cNvGrpSpPr/>
            <p:nvPr/>
          </p:nvGrpSpPr>
          <p:grpSpPr>
            <a:xfrm>
              <a:off x="2611755" y="0"/>
              <a:ext cx="2457600" cy="1676400"/>
              <a:chOff x="0" y="0"/>
              <a:chExt cx="2457600" cy="1676400"/>
            </a:xfrm>
          </p:grpSpPr>
          <p:sp>
            <p:nvSpPr>
              <p:cNvPr id="659" name="Google Shape;659;p27"/>
              <p:cNvSpPr/>
              <p:nvPr/>
            </p:nvSpPr>
            <p:spPr>
              <a:xfrm>
                <a:off x="0" y="0"/>
                <a:ext cx="2457600" cy="1676400"/>
              </a:xfrm>
              <a:prstGeom prst="roundRect">
                <a:avLst>
                  <a:gd fmla="val 6818"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60" name="Google Shape;660;p27"/>
              <p:cNvSpPr/>
              <p:nvPr/>
            </p:nvSpPr>
            <p:spPr>
              <a:xfrm>
                <a:off x="0" y="0"/>
                <a:ext cx="2457600" cy="57300"/>
              </a:xfrm>
              <a:prstGeom prst="roundRect">
                <a:avLst>
                  <a:gd fmla="val 50000" name="adj"/>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61" name="Google Shape;661;p27"/>
              <p:cNvSpPr/>
              <p:nvPr/>
            </p:nvSpPr>
            <p:spPr>
              <a:xfrm>
                <a:off x="1038225" y="209550"/>
                <a:ext cx="381000" cy="381000"/>
              </a:xfrm>
              <a:prstGeom prst="ellipse">
                <a:avLst/>
              </a:prstGeom>
              <a:solidFill>
                <a:srgbClr val="D1FAE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62" name="Google Shape;662;p27"/>
              <p:cNvSpPr txBox="1"/>
              <p:nvPr/>
            </p:nvSpPr>
            <p:spPr>
              <a:xfrm>
                <a:off x="1038225" y="209550"/>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800"/>
                  <a:t>🔄</a:t>
                </a:r>
                <a:endParaRPr sz="1800"/>
              </a:p>
            </p:txBody>
          </p:sp>
          <p:sp>
            <p:nvSpPr>
              <p:cNvPr id="663" name="Google Shape;663;p27"/>
              <p:cNvSpPr txBox="1"/>
              <p:nvPr/>
            </p:nvSpPr>
            <p:spPr>
              <a:xfrm>
                <a:off x="152400" y="685800"/>
                <a:ext cx="2152800" cy="8574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US" sz="1300">
                    <a:solidFill>
                      <a:srgbClr val="047857"/>
                    </a:solidFill>
                    <a:latin typeface="Arial"/>
                    <a:ea typeface="Arial"/>
                    <a:cs typeface="Arial"/>
                    <a:sym typeface="Arial"/>
                  </a:rPr>
                  <a:t>基本サイクル</a:t>
                </a:r>
                <a:endParaRPr b="1" sz="1300">
                  <a:solidFill>
                    <a:srgbClr val="047857"/>
                  </a:solidFill>
                  <a:latin typeface="Arial"/>
                  <a:ea typeface="Arial"/>
                  <a:cs typeface="Arial"/>
                  <a:sym typeface="Arial"/>
                </a:endParaRPr>
              </a:p>
              <a:p>
                <a:pPr indent="0" lvl="0" marL="0" rtl="0" algn="ctr">
                  <a:spcBef>
                    <a:spcPts val="600"/>
                  </a:spcBef>
                  <a:spcAft>
                    <a:spcPts val="0"/>
                  </a:spcAft>
                  <a:buNone/>
                </a:pPr>
                <a:r>
                  <a:rPr b="0" lang="en-US" sz="1100">
                    <a:solidFill>
                      <a:srgbClr val="334155"/>
                    </a:solidFill>
                    <a:latin typeface="Arial"/>
                    <a:ea typeface="Arial"/>
                    <a:cs typeface="Arial"/>
                    <a:sym typeface="Arial"/>
                  </a:rPr>
                  <a:t>「約束を受けて、形にして、納める」というビジネスの基本。</a:t>
                </a:r>
                <a:endParaRPr b="0" sz="1100">
                  <a:solidFill>
                    <a:srgbClr val="334155"/>
                  </a:solidFill>
                  <a:latin typeface="Arial"/>
                  <a:ea typeface="Arial"/>
                  <a:cs typeface="Arial"/>
                  <a:sym typeface="Arial"/>
                </a:endParaRPr>
              </a:p>
            </p:txBody>
          </p:sp>
        </p:grpSp>
        <p:grpSp>
          <p:nvGrpSpPr>
            <p:cNvPr id="664" name="Google Shape;664;p27"/>
            <p:cNvGrpSpPr/>
            <p:nvPr/>
          </p:nvGrpSpPr>
          <p:grpSpPr>
            <a:xfrm>
              <a:off x="5223510" y="0"/>
              <a:ext cx="2457600" cy="1676400"/>
              <a:chOff x="0" y="0"/>
              <a:chExt cx="2457600" cy="1676400"/>
            </a:xfrm>
          </p:grpSpPr>
          <p:sp>
            <p:nvSpPr>
              <p:cNvPr id="665" name="Google Shape;665;p27"/>
              <p:cNvSpPr/>
              <p:nvPr/>
            </p:nvSpPr>
            <p:spPr>
              <a:xfrm>
                <a:off x="0" y="0"/>
                <a:ext cx="2457600" cy="1676400"/>
              </a:xfrm>
              <a:prstGeom prst="roundRect">
                <a:avLst>
                  <a:gd fmla="val 6818"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66" name="Google Shape;666;p27"/>
              <p:cNvSpPr/>
              <p:nvPr/>
            </p:nvSpPr>
            <p:spPr>
              <a:xfrm>
                <a:off x="0" y="0"/>
                <a:ext cx="2457600" cy="57300"/>
              </a:xfrm>
              <a:prstGeom prst="roundRect">
                <a:avLst>
                  <a:gd fmla="val 50000" name="adj"/>
                </a:avLst>
              </a:prstGeom>
              <a:solidFill>
                <a:srgbClr val="8B5C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67" name="Google Shape;667;p27"/>
              <p:cNvSpPr/>
              <p:nvPr/>
            </p:nvSpPr>
            <p:spPr>
              <a:xfrm>
                <a:off x="1038225" y="209550"/>
                <a:ext cx="381000" cy="381000"/>
              </a:xfrm>
              <a:prstGeom prst="ellipse">
                <a:avLst/>
              </a:prstGeom>
              <a:solidFill>
                <a:srgbClr val="EDE9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68" name="Google Shape;668;p27"/>
              <p:cNvSpPr txBox="1"/>
              <p:nvPr/>
            </p:nvSpPr>
            <p:spPr>
              <a:xfrm>
                <a:off x="1038225" y="209550"/>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800"/>
                  <a:t>👔</a:t>
                </a:r>
                <a:endParaRPr sz="1800"/>
              </a:p>
            </p:txBody>
          </p:sp>
          <p:sp>
            <p:nvSpPr>
              <p:cNvPr id="669" name="Google Shape;669;p27"/>
              <p:cNvSpPr txBox="1"/>
              <p:nvPr/>
            </p:nvSpPr>
            <p:spPr>
              <a:xfrm>
                <a:off x="152400" y="685800"/>
                <a:ext cx="2152800" cy="8574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US" sz="1300">
                    <a:solidFill>
                      <a:srgbClr val="6D28D9"/>
                    </a:solidFill>
                    <a:latin typeface="Arial"/>
                    <a:ea typeface="Arial"/>
                    <a:cs typeface="Arial"/>
                    <a:sym typeface="Arial"/>
                  </a:rPr>
                  <a:t>プロと同じ経験</a:t>
                </a:r>
                <a:endParaRPr b="1" sz="1300">
                  <a:solidFill>
                    <a:srgbClr val="6D28D9"/>
                  </a:solidFill>
                  <a:latin typeface="Arial"/>
                  <a:ea typeface="Arial"/>
                  <a:cs typeface="Arial"/>
                  <a:sym typeface="Arial"/>
                </a:endParaRPr>
              </a:p>
              <a:p>
                <a:pPr indent="0" lvl="0" marL="0" rtl="0" algn="ctr">
                  <a:spcBef>
                    <a:spcPts val="600"/>
                  </a:spcBef>
                  <a:spcAft>
                    <a:spcPts val="0"/>
                  </a:spcAft>
                  <a:buNone/>
                </a:pPr>
                <a:r>
                  <a:rPr b="0" lang="en-US" sz="1100">
                    <a:solidFill>
                      <a:srgbClr val="334155"/>
                    </a:solidFill>
                    <a:latin typeface="Arial"/>
                    <a:ea typeface="Arial"/>
                    <a:cs typeface="Arial"/>
                    <a:sym typeface="Arial"/>
                  </a:rPr>
                  <a:t>一般就労のプロと同じ仕事の流れをすでに経験しています。</a:t>
                </a:r>
                <a:endParaRPr b="0" sz="1100">
                  <a:solidFill>
                    <a:srgbClr val="334155"/>
                  </a:solidFill>
                  <a:latin typeface="Arial"/>
                  <a:ea typeface="Arial"/>
                  <a:cs typeface="Arial"/>
                  <a:sym typeface="Arial"/>
                </a:endParaRPr>
              </a:p>
            </p:txBody>
          </p:sp>
        </p:grpSp>
      </p:grpSp>
      <p:grpSp>
        <p:nvGrpSpPr>
          <p:cNvPr id="670" name="Google Shape;670;p27"/>
          <p:cNvGrpSpPr/>
          <p:nvPr/>
        </p:nvGrpSpPr>
        <p:grpSpPr>
          <a:xfrm>
            <a:off x="731520" y="3695700"/>
            <a:ext cx="7680900" cy="685800"/>
            <a:chOff x="0" y="0"/>
            <a:chExt cx="7680900" cy="685800"/>
          </a:xfrm>
        </p:grpSpPr>
        <p:sp>
          <p:nvSpPr>
            <p:cNvPr id="671" name="Google Shape;671;p27"/>
            <p:cNvSpPr/>
            <p:nvPr/>
          </p:nvSpPr>
          <p:spPr>
            <a:xfrm>
              <a:off x="0" y="0"/>
              <a:ext cx="7680900" cy="685800"/>
            </a:xfrm>
            <a:prstGeom prst="roundRect">
              <a:avLst>
                <a:gd fmla="val 16666" name="adj"/>
              </a:avLst>
            </a:prstGeom>
            <a:solidFill>
              <a:srgbClr val="FEF3C7"/>
            </a:solidFill>
            <a:ln cap="flat" cmpd="sng" w="14300">
              <a:solidFill>
                <a:srgbClr val="F59E0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72" name="Google Shape;672;p27"/>
            <p:cNvSpPr txBox="1"/>
            <p:nvPr/>
          </p:nvSpPr>
          <p:spPr>
            <a:xfrm>
              <a:off x="0" y="0"/>
              <a:ext cx="7680900" cy="685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600">
                  <a:solidFill>
                    <a:srgbClr val="B45309"/>
                  </a:solidFill>
                  <a:latin typeface="Arial"/>
                  <a:ea typeface="Arial"/>
                  <a:cs typeface="Arial"/>
                  <a:sym typeface="Arial"/>
                </a:rPr>
                <a:t>★ この経験は、将来の大きな強み・自信になります！</a:t>
              </a:r>
              <a:endParaRPr b="1" sz="1600">
                <a:solidFill>
                  <a:srgbClr val="B45309"/>
                </a:solidFill>
                <a:latin typeface="Arial"/>
                <a:ea typeface="Arial"/>
                <a:cs typeface="Arial"/>
                <a:sym typeface="Arial"/>
              </a:endParaRPr>
            </a:p>
          </p:txBody>
        </p:sp>
      </p:gr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77" name="Shape 677"/>
        <p:cNvGrpSpPr/>
        <p:nvPr/>
      </p:nvGrpSpPr>
      <p:grpSpPr>
        <a:xfrm>
          <a:off x="0" y="0"/>
          <a:ext cx="0" cy="0"/>
          <a:chOff x="0" y="0"/>
          <a:chExt cx="0" cy="0"/>
        </a:xfrm>
      </p:grpSpPr>
      <p:sp>
        <p:nvSpPr>
          <p:cNvPr id="678" name="Google Shape;678;p28"/>
          <p:cNvSpPr/>
          <p:nvPr/>
        </p:nvSpPr>
        <p:spPr>
          <a:xfrm>
            <a:off x="731520" y="4709160"/>
            <a:ext cx="5486400" cy="320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18096"/>
              </a:buClr>
              <a:buSzPts val="1200"/>
              <a:buFont typeface="Meiryo"/>
              <a:buNone/>
            </a:pPr>
            <a:r>
              <a:rPr b="0" i="0" lang="en-US" sz="1200" u="none" cap="none" strike="noStrike">
                <a:solidFill>
                  <a:srgbClr val="718096"/>
                </a:solidFill>
                <a:latin typeface="Meiryo"/>
                <a:ea typeface="Meiryo"/>
                <a:cs typeface="Meiryo"/>
                <a:sym typeface="Meiryo"/>
              </a:rPr>
              <a:t>まとめ</a:t>
            </a:r>
            <a:endParaRPr b="0" i="0" sz="1200" u="none" cap="none" strike="noStrike">
              <a:solidFill>
                <a:schemeClr val="dk1"/>
              </a:solidFill>
              <a:latin typeface="Calibri"/>
              <a:ea typeface="Calibri"/>
              <a:cs typeface="Calibri"/>
              <a:sym typeface="Calibri"/>
            </a:endParaRPr>
          </a:p>
        </p:txBody>
      </p:sp>
      <p:sp>
        <p:nvSpPr>
          <p:cNvPr id="679" name="Google Shape;679;p28"/>
          <p:cNvSpPr/>
          <p:nvPr/>
        </p:nvSpPr>
        <p:spPr>
          <a:xfrm>
            <a:off x="7315200" y="4709160"/>
            <a:ext cx="1097400" cy="3201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718096"/>
              </a:buClr>
              <a:buSzPts val="1200"/>
              <a:buFont typeface="Meiryo"/>
              <a:buNone/>
            </a:pPr>
            <a:r>
              <a:rPr b="0" i="0" lang="en-US" sz="1200" u="none" cap="none" strike="noStrike">
                <a:solidFill>
                  <a:srgbClr val="718096"/>
                </a:solidFill>
                <a:latin typeface="Meiryo"/>
                <a:ea typeface="Meiryo"/>
                <a:cs typeface="Meiryo"/>
                <a:sym typeface="Meiryo"/>
              </a:rPr>
              <a:t>28 / 30</a:t>
            </a:r>
            <a:endParaRPr b="0" i="0" sz="1200" u="none" cap="none" strike="noStrike">
              <a:solidFill>
                <a:schemeClr val="dk1"/>
              </a:solidFill>
              <a:latin typeface="Calibri"/>
              <a:ea typeface="Calibri"/>
              <a:cs typeface="Calibri"/>
              <a:sym typeface="Calibri"/>
            </a:endParaRPr>
          </a:p>
        </p:txBody>
      </p:sp>
      <p:sp>
        <p:nvSpPr>
          <p:cNvPr id="680" name="Google Shape;680;p28"/>
          <p:cNvSpPr/>
          <p:nvPr/>
        </p:nvSpPr>
        <p:spPr>
          <a:xfrm>
            <a:off x="731520" y="457200"/>
            <a:ext cx="76809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02C"/>
              </a:buClr>
              <a:buSzPts val="2600"/>
              <a:buFont typeface="Meiryo"/>
              <a:buNone/>
            </a:pPr>
            <a:r>
              <a:rPr b="1" i="0" lang="en-US" sz="2600" u="none" cap="none" strike="noStrike">
                <a:solidFill>
                  <a:srgbClr val="1A202C"/>
                </a:solidFill>
                <a:latin typeface="Meiryo"/>
                <a:ea typeface="Meiryo"/>
                <a:cs typeface="Meiryo"/>
                <a:sym typeface="Meiryo"/>
              </a:rPr>
              <a:t>まとめ③ 一般就労に進むとき、今日の話が「自分の権利」になる</a:t>
            </a:r>
            <a:endParaRPr b="0" i="0" sz="2600" u="none" cap="none" strike="noStrike">
              <a:solidFill>
                <a:schemeClr val="dk1"/>
              </a:solidFill>
              <a:latin typeface="Calibri"/>
              <a:ea typeface="Calibri"/>
              <a:cs typeface="Calibri"/>
              <a:sym typeface="Calibri"/>
            </a:endParaRPr>
          </a:p>
        </p:txBody>
      </p:sp>
      <p:grpSp>
        <p:nvGrpSpPr>
          <p:cNvPr id="681" name="Google Shape;681;p28"/>
          <p:cNvGrpSpPr/>
          <p:nvPr/>
        </p:nvGrpSpPr>
        <p:grpSpPr>
          <a:xfrm>
            <a:off x="731520" y="1047750"/>
            <a:ext cx="7680900" cy="609600"/>
            <a:chOff x="0" y="0"/>
            <a:chExt cx="7680900" cy="609600"/>
          </a:xfrm>
        </p:grpSpPr>
        <p:sp>
          <p:nvSpPr>
            <p:cNvPr id="682" name="Google Shape;682;p28"/>
            <p:cNvSpPr/>
            <p:nvPr/>
          </p:nvSpPr>
          <p:spPr>
            <a:xfrm>
              <a:off x="0" y="0"/>
              <a:ext cx="7680900" cy="609600"/>
            </a:xfrm>
            <a:prstGeom prst="roundRect">
              <a:avLst>
                <a:gd fmla="val 18750" name="adj"/>
              </a:avLst>
            </a:prstGeom>
            <a:solidFill>
              <a:srgbClr val="EBF8FF"/>
            </a:solidFill>
            <a:ln cap="flat" cmpd="sng" w="14300">
              <a:solidFill>
                <a:srgbClr val="3B82F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83" name="Google Shape;683;p28"/>
            <p:cNvSpPr txBox="1"/>
            <p:nvPr/>
          </p:nvSpPr>
          <p:spPr>
            <a:xfrm>
              <a:off x="0" y="0"/>
              <a:ext cx="7680900" cy="609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800">
                  <a:solidFill>
                    <a:srgbClr val="1D4ED8"/>
                  </a:solidFill>
                  <a:latin typeface="Arial"/>
                  <a:ea typeface="Arial"/>
                  <a:cs typeface="Arial"/>
                  <a:sym typeface="Arial"/>
                </a:rPr>
                <a:t>🚀 労働契約を結んだ瞬間、手厚い「権利」が手に入る！</a:t>
              </a:r>
              <a:endParaRPr b="1" sz="1800">
                <a:solidFill>
                  <a:srgbClr val="1D4ED8"/>
                </a:solidFill>
                <a:latin typeface="Arial"/>
                <a:ea typeface="Arial"/>
                <a:cs typeface="Arial"/>
                <a:sym typeface="Arial"/>
              </a:endParaRPr>
            </a:p>
          </p:txBody>
        </p:sp>
      </p:grpSp>
      <p:grpSp>
        <p:nvGrpSpPr>
          <p:cNvPr id="684" name="Google Shape;684;p28"/>
          <p:cNvGrpSpPr/>
          <p:nvPr/>
        </p:nvGrpSpPr>
        <p:grpSpPr>
          <a:xfrm>
            <a:off x="731520" y="1828800"/>
            <a:ext cx="7681110" cy="1676400"/>
            <a:chOff x="0" y="0"/>
            <a:chExt cx="7681110" cy="1676400"/>
          </a:xfrm>
        </p:grpSpPr>
        <p:grpSp>
          <p:nvGrpSpPr>
            <p:cNvPr id="685" name="Google Shape;685;p28"/>
            <p:cNvGrpSpPr/>
            <p:nvPr/>
          </p:nvGrpSpPr>
          <p:grpSpPr>
            <a:xfrm>
              <a:off x="0" y="0"/>
              <a:ext cx="2457600" cy="1676400"/>
              <a:chOff x="0" y="0"/>
              <a:chExt cx="2457600" cy="1676400"/>
            </a:xfrm>
          </p:grpSpPr>
          <p:sp>
            <p:nvSpPr>
              <p:cNvPr id="686" name="Google Shape;686;p28"/>
              <p:cNvSpPr/>
              <p:nvPr/>
            </p:nvSpPr>
            <p:spPr>
              <a:xfrm>
                <a:off x="0" y="0"/>
                <a:ext cx="2457600" cy="1676400"/>
              </a:xfrm>
              <a:prstGeom prst="roundRect">
                <a:avLst>
                  <a:gd fmla="val 6818"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87" name="Google Shape;687;p28"/>
              <p:cNvSpPr/>
              <p:nvPr/>
            </p:nvSpPr>
            <p:spPr>
              <a:xfrm>
                <a:off x="0" y="0"/>
                <a:ext cx="2457600" cy="573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88" name="Google Shape;688;p28"/>
              <p:cNvSpPr/>
              <p:nvPr/>
            </p:nvSpPr>
            <p:spPr>
              <a:xfrm>
                <a:off x="1038225" y="209550"/>
                <a:ext cx="381000" cy="381000"/>
              </a:xfrm>
              <a:prstGeom prst="ellipse">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89" name="Google Shape;689;p28"/>
              <p:cNvSpPr txBox="1"/>
              <p:nvPr/>
            </p:nvSpPr>
            <p:spPr>
              <a:xfrm>
                <a:off x="1038225" y="209550"/>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800">
                    <a:solidFill>
                      <a:srgbClr val="000000"/>
                    </a:solidFill>
                    <a:latin typeface="Arial"/>
                    <a:ea typeface="Arial"/>
                    <a:cs typeface="Arial"/>
                    <a:sym typeface="Arial"/>
                  </a:rPr>
                  <a:t>💰</a:t>
                </a:r>
                <a:endParaRPr b="0" sz="1800">
                  <a:solidFill>
                    <a:srgbClr val="000000"/>
                  </a:solidFill>
                  <a:latin typeface="Arial"/>
                  <a:ea typeface="Arial"/>
                  <a:cs typeface="Arial"/>
                  <a:sym typeface="Arial"/>
                </a:endParaRPr>
              </a:p>
            </p:txBody>
          </p:sp>
          <p:sp>
            <p:nvSpPr>
              <p:cNvPr id="690" name="Google Shape;690;p28"/>
              <p:cNvSpPr txBox="1"/>
              <p:nvPr/>
            </p:nvSpPr>
            <p:spPr>
              <a:xfrm>
                <a:off x="152400" y="685800"/>
                <a:ext cx="2152800" cy="8574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US" sz="1300">
                    <a:solidFill>
                      <a:srgbClr val="1D4ED8"/>
                    </a:solidFill>
                    <a:latin typeface="Arial"/>
                    <a:ea typeface="Arial"/>
                    <a:cs typeface="Arial"/>
                    <a:sym typeface="Arial"/>
                  </a:rPr>
                  <a:t>権利が手に入る</a:t>
                </a:r>
                <a:endParaRPr b="1" sz="1300">
                  <a:solidFill>
                    <a:srgbClr val="1D4ED8"/>
                  </a:solidFill>
                  <a:latin typeface="Arial"/>
                  <a:ea typeface="Arial"/>
                  <a:cs typeface="Arial"/>
                  <a:sym typeface="Arial"/>
                </a:endParaRPr>
              </a:p>
              <a:p>
                <a:pPr indent="0" lvl="0" marL="0" rtl="0" algn="ctr">
                  <a:spcBef>
                    <a:spcPts val="600"/>
                  </a:spcBef>
                  <a:spcAft>
                    <a:spcPts val="0"/>
                  </a:spcAft>
                  <a:buNone/>
                </a:pPr>
                <a:r>
                  <a:rPr b="0" lang="en-US" sz="1050">
                    <a:solidFill>
                      <a:srgbClr val="334155"/>
                    </a:solidFill>
                    <a:latin typeface="Arial"/>
                    <a:ea typeface="Arial"/>
                    <a:cs typeface="Arial"/>
                    <a:sym typeface="Arial"/>
                  </a:rPr>
                  <a:t>給料を受け取る権利、安全に配慮してもらう権利が自分のものになる！</a:t>
                </a:r>
                <a:endParaRPr b="0" sz="1050">
                  <a:solidFill>
                    <a:srgbClr val="334155"/>
                  </a:solidFill>
                  <a:latin typeface="Arial"/>
                  <a:ea typeface="Arial"/>
                  <a:cs typeface="Arial"/>
                  <a:sym typeface="Arial"/>
                </a:endParaRPr>
              </a:p>
            </p:txBody>
          </p:sp>
        </p:grpSp>
        <p:grpSp>
          <p:nvGrpSpPr>
            <p:cNvPr id="691" name="Google Shape;691;p28"/>
            <p:cNvGrpSpPr/>
            <p:nvPr/>
          </p:nvGrpSpPr>
          <p:grpSpPr>
            <a:xfrm>
              <a:off x="2611755" y="0"/>
              <a:ext cx="2457600" cy="1676400"/>
              <a:chOff x="0" y="0"/>
              <a:chExt cx="2457600" cy="1676400"/>
            </a:xfrm>
          </p:grpSpPr>
          <p:sp>
            <p:nvSpPr>
              <p:cNvPr id="692" name="Google Shape;692;p28"/>
              <p:cNvSpPr/>
              <p:nvPr/>
            </p:nvSpPr>
            <p:spPr>
              <a:xfrm>
                <a:off x="0" y="0"/>
                <a:ext cx="2457600" cy="1676400"/>
              </a:xfrm>
              <a:prstGeom prst="roundRect">
                <a:avLst>
                  <a:gd fmla="val 6818"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93" name="Google Shape;693;p28"/>
              <p:cNvSpPr/>
              <p:nvPr/>
            </p:nvSpPr>
            <p:spPr>
              <a:xfrm>
                <a:off x="0" y="0"/>
                <a:ext cx="2457600" cy="57300"/>
              </a:xfrm>
              <a:prstGeom prst="roundRect">
                <a:avLst>
                  <a:gd fmla="val 50000" name="adj"/>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94" name="Google Shape;694;p28"/>
              <p:cNvSpPr/>
              <p:nvPr/>
            </p:nvSpPr>
            <p:spPr>
              <a:xfrm>
                <a:off x="1038225" y="209550"/>
                <a:ext cx="381000" cy="381000"/>
              </a:xfrm>
              <a:prstGeom prst="ellipse">
                <a:avLst/>
              </a:prstGeom>
              <a:solidFill>
                <a:srgbClr val="D1FAE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95" name="Google Shape;695;p28"/>
              <p:cNvSpPr txBox="1"/>
              <p:nvPr/>
            </p:nvSpPr>
            <p:spPr>
              <a:xfrm>
                <a:off x="1038225" y="209550"/>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800">
                    <a:solidFill>
                      <a:srgbClr val="000000"/>
                    </a:solidFill>
                    <a:latin typeface="Arial"/>
                    <a:ea typeface="Arial"/>
                    <a:cs typeface="Arial"/>
                    <a:sym typeface="Arial"/>
                  </a:rPr>
                  <a:t>🛡️</a:t>
                </a:r>
                <a:endParaRPr b="0" sz="1800">
                  <a:solidFill>
                    <a:srgbClr val="000000"/>
                  </a:solidFill>
                  <a:latin typeface="Arial"/>
                  <a:ea typeface="Arial"/>
                  <a:cs typeface="Arial"/>
                  <a:sym typeface="Arial"/>
                </a:endParaRPr>
              </a:p>
            </p:txBody>
          </p:sp>
          <p:sp>
            <p:nvSpPr>
              <p:cNvPr id="696" name="Google Shape;696;p28"/>
              <p:cNvSpPr txBox="1"/>
              <p:nvPr/>
            </p:nvSpPr>
            <p:spPr>
              <a:xfrm>
                <a:off x="152400" y="685800"/>
                <a:ext cx="2152800" cy="8574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US" sz="1300">
                    <a:solidFill>
                      <a:srgbClr val="047857"/>
                    </a:solidFill>
                    <a:latin typeface="Arial"/>
                    <a:ea typeface="Arial"/>
                    <a:cs typeface="Arial"/>
                    <a:sym typeface="Arial"/>
                  </a:rPr>
                  <a:t>法律で強力に保護</a:t>
                </a:r>
                <a:endParaRPr b="1" sz="1300">
                  <a:solidFill>
                    <a:srgbClr val="047857"/>
                  </a:solidFill>
                  <a:latin typeface="Arial"/>
                  <a:ea typeface="Arial"/>
                  <a:cs typeface="Arial"/>
                  <a:sym typeface="Arial"/>
                </a:endParaRPr>
              </a:p>
              <a:p>
                <a:pPr indent="0" lvl="0" marL="0" rtl="0" algn="ctr">
                  <a:spcBef>
                    <a:spcPts val="600"/>
                  </a:spcBef>
                  <a:spcAft>
                    <a:spcPts val="0"/>
                  </a:spcAft>
                  <a:buNone/>
                </a:pPr>
                <a:r>
                  <a:rPr b="0" lang="en-US" sz="1050">
                    <a:solidFill>
                      <a:srgbClr val="334155"/>
                    </a:solidFill>
                    <a:latin typeface="Arial"/>
                    <a:ea typeface="Arial"/>
                    <a:cs typeface="Arial"/>
                    <a:sym typeface="Arial"/>
                  </a:rPr>
                  <a:t>指示に従い集中して働く責任とともに、法律で強く守られます。</a:t>
                </a:r>
                <a:endParaRPr b="0" sz="1050">
                  <a:solidFill>
                    <a:srgbClr val="334155"/>
                  </a:solidFill>
                  <a:latin typeface="Arial"/>
                  <a:ea typeface="Arial"/>
                  <a:cs typeface="Arial"/>
                  <a:sym typeface="Arial"/>
                </a:endParaRPr>
              </a:p>
            </p:txBody>
          </p:sp>
        </p:grpSp>
        <p:grpSp>
          <p:nvGrpSpPr>
            <p:cNvPr id="697" name="Google Shape;697;p28"/>
            <p:cNvGrpSpPr/>
            <p:nvPr/>
          </p:nvGrpSpPr>
          <p:grpSpPr>
            <a:xfrm>
              <a:off x="5223510" y="0"/>
              <a:ext cx="2457600" cy="1676400"/>
              <a:chOff x="0" y="0"/>
              <a:chExt cx="2457600" cy="1676400"/>
            </a:xfrm>
          </p:grpSpPr>
          <p:sp>
            <p:nvSpPr>
              <p:cNvPr id="698" name="Google Shape;698;p28"/>
              <p:cNvSpPr/>
              <p:nvPr/>
            </p:nvSpPr>
            <p:spPr>
              <a:xfrm>
                <a:off x="0" y="0"/>
                <a:ext cx="2457600" cy="1676400"/>
              </a:xfrm>
              <a:prstGeom prst="roundRect">
                <a:avLst>
                  <a:gd fmla="val 6818"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99" name="Google Shape;699;p28"/>
              <p:cNvSpPr/>
              <p:nvPr/>
            </p:nvSpPr>
            <p:spPr>
              <a:xfrm>
                <a:off x="0" y="0"/>
                <a:ext cx="2457600" cy="57300"/>
              </a:xfrm>
              <a:prstGeom prst="roundRect">
                <a:avLst>
                  <a:gd fmla="val 50000" name="adj"/>
                </a:avLst>
              </a:prstGeom>
              <a:solidFill>
                <a:srgbClr val="8B5C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00" name="Google Shape;700;p28"/>
              <p:cNvSpPr/>
              <p:nvPr/>
            </p:nvSpPr>
            <p:spPr>
              <a:xfrm>
                <a:off x="1038225" y="209550"/>
                <a:ext cx="381000" cy="381000"/>
              </a:xfrm>
              <a:prstGeom prst="ellipse">
                <a:avLst/>
              </a:prstGeom>
              <a:solidFill>
                <a:srgbClr val="EDE9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01" name="Google Shape;701;p28"/>
              <p:cNvSpPr txBox="1"/>
              <p:nvPr/>
            </p:nvSpPr>
            <p:spPr>
              <a:xfrm>
                <a:off x="1038225" y="209550"/>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800">
                    <a:solidFill>
                      <a:srgbClr val="000000"/>
                    </a:solidFill>
                    <a:latin typeface="Arial"/>
                    <a:ea typeface="Arial"/>
                    <a:cs typeface="Arial"/>
                    <a:sym typeface="Arial"/>
                  </a:rPr>
                  <a:t>🎒</a:t>
                </a:r>
                <a:endParaRPr b="0" sz="1800">
                  <a:solidFill>
                    <a:srgbClr val="000000"/>
                  </a:solidFill>
                  <a:latin typeface="Arial"/>
                  <a:ea typeface="Arial"/>
                  <a:cs typeface="Arial"/>
                  <a:sym typeface="Arial"/>
                </a:endParaRPr>
              </a:p>
            </p:txBody>
          </p:sp>
          <p:sp>
            <p:nvSpPr>
              <p:cNvPr id="702" name="Google Shape;702;p28"/>
              <p:cNvSpPr txBox="1"/>
              <p:nvPr/>
            </p:nvSpPr>
            <p:spPr>
              <a:xfrm>
                <a:off x="152400" y="685800"/>
                <a:ext cx="2152800" cy="8574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US" sz="1300">
                    <a:solidFill>
                      <a:srgbClr val="6D28D9"/>
                    </a:solidFill>
                    <a:latin typeface="Arial"/>
                    <a:ea typeface="Arial"/>
                    <a:cs typeface="Arial"/>
                    <a:sym typeface="Arial"/>
                  </a:rPr>
                  <a:t>最高のお守り・予習</a:t>
                </a:r>
                <a:endParaRPr b="1" sz="1300">
                  <a:solidFill>
                    <a:srgbClr val="6D28D9"/>
                  </a:solidFill>
                  <a:latin typeface="Arial"/>
                  <a:ea typeface="Arial"/>
                  <a:cs typeface="Arial"/>
                  <a:sym typeface="Arial"/>
                </a:endParaRPr>
              </a:p>
              <a:p>
                <a:pPr indent="0" lvl="0" marL="0" rtl="0" algn="ctr">
                  <a:spcBef>
                    <a:spcPts val="600"/>
                  </a:spcBef>
                  <a:spcAft>
                    <a:spcPts val="0"/>
                  </a:spcAft>
                  <a:buNone/>
                </a:pPr>
                <a:r>
                  <a:rPr b="0" lang="en-US" sz="1050">
                    <a:solidFill>
                      <a:srgbClr val="334155"/>
                    </a:solidFill>
                    <a:latin typeface="Arial"/>
                    <a:ea typeface="Arial"/>
                    <a:cs typeface="Arial"/>
                    <a:sym typeface="Arial"/>
                  </a:rPr>
                  <a:t>今日の話は、「知らなかった」で困らないための最高のお守り・予習！</a:t>
                </a:r>
                <a:endParaRPr b="0" sz="1050">
                  <a:solidFill>
                    <a:srgbClr val="334155"/>
                  </a:solidFill>
                  <a:latin typeface="Arial"/>
                  <a:ea typeface="Arial"/>
                  <a:cs typeface="Arial"/>
                  <a:sym typeface="Arial"/>
                </a:endParaRPr>
              </a:p>
            </p:txBody>
          </p:sp>
        </p:grpSp>
      </p:grpSp>
      <p:grpSp>
        <p:nvGrpSpPr>
          <p:cNvPr id="703" name="Google Shape;703;p28"/>
          <p:cNvGrpSpPr/>
          <p:nvPr/>
        </p:nvGrpSpPr>
        <p:grpSpPr>
          <a:xfrm>
            <a:off x="731520" y="3695700"/>
            <a:ext cx="7680900" cy="685800"/>
            <a:chOff x="0" y="0"/>
            <a:chExt cx="7680900" cy="685800"/>
          </a:xfrm>
        </p:grpSpPr>
        <p:sp>
          <p:nvSpPr>
            <p:cNvPr id="704" name="Google Shape;704;p28"/>
            <p:cNvSpPr/>
            <p:nvPr/>
          </p:nvSpPr>
          <p:spPr>
            <a:xfrm>
              <a:off x="0" y="0"/>
              <a:ext cx="7680900" cy="685800"/>
            </a:xfrm>
            <a:prstGeom prst="roundRect">
              <a:avLst>
                <a:gd fmla="val 16666" name="adj"/>
              </a:avLst>
            </a:prstGeom>
            <a:solidFill>
              <a:srgbClr val="FEF3C7"/>
            </a:solidFill>
            <a:ln cap="flat" cmpd="sng" w="14300">
              <a:solidFill>
                <a:srgbClr val="F59E0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05" name="Google Shape;705;p28"/>
            <p:cNvSpPr txBox="1"/>
            <p:nvPr/>
          </p:nvSpPr>
          <p:spPr>
            <a:xfrm>
              <a:off x="0" y="0"/>
              <a:ext cx="7680900" cy="685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600">
                  <a:solidFill>
                    <a:srgbClr val="B45309"/>
                  </a:solidFill>
                  <a:latin typeface="Arial"/>
                  <a:ea typeface="Arial"/>
                  <a:cs typeface="Arial"/>
                  <a:sym typeface="Arial"/>
                </a:rPr>
                <a:t>★ 権利を味方につけて、堂々と一般就労へ進みましょう！</a:t>
              </a:r>
              <a:endParaRPr b="1" sz="1600">
                <a:solidFill>
                  <a:srgbClr val="B45309"/>
                </a:solidFill>
                <a:latin typeface="Arial"/>
                <a:ea typeface="Arial"/>
                <a:cs typeface="Arial"/>
                <a:sym typeface="Arial"/>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10" name="Shape 710"/>
        <p:cNvGrpSpPr/>
        <p:nvPr/>
      </p:nvGrpSpPr>
      <p:grpSpPr>
        <a:xfrm>
          <a:off x="0" y="0"/>
          <a:ext cx="0" cy="0"/>
          <a:chOff x="0" y="0"/>
          <a:chExt cx="0" cy="0"/>
        </a:xfrm>
      </p:grpSpPr>
      <p:sp>
        <p:nvSpPr>
          <p:cNvPr id="711" name="Google Shape;711;p29"/>
          <p:cNvSpPr/>
          <p:nvPr/>
        </p:nvSpPr>
        <p:spPr>
          <a:xfrm>
            <a:off x="731520" y="4709160"/>
            <a:ext cx="54864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18096"/>
              </a:buClr>
              <a:buSzPts val="1200"/>
              <a:buFont typeface="Meiryo"/>
              <a:buNone/>
            </a:pPr>
            <a:r>
              <a:rPr b="0" i="0" lang="en-US" sz="1200" u="none" cap="none" strike="noStrike">
                <a:solidFill>
                  <a:srgbClr val="718096"/>
                </a:solidFill>
                <a:latin typeface="Meiryo"/>
                <a:ea typeface="Meiryo"/>
                <a:cs typeface="Meiryo"/>
                <a:sym typeface="Meiryo"/>
              </a:rPr>
              <a:t>まとめ</a:t>
            </a:r>
            <a:endParaRPr b="0" i="0" sz="1200" u="none" cap="none" strike="noStrike">
              <a:solidFill>
                <a:schemeClr val="dk1"/>
              </a:solidFill>
              <a:latin typeface="Calibri"/>
              <a:ea typeface="Calibri"/>
              <a:cs typeface="Calibri"/>
              <a:sym typeface="Calibri"/>
            </a:endParaRPr>
          </a:p>
        </p:txBody>
      </p:sp>
      <p:sp>
        <p:nvSpPr>
          <p:cNvPr id="712" name="Google Shape;712;p29"/>
          <p:cNvSpPr/>
          <p:nvPr/>
        </p:nvSpPr>
        <p:spPr>
          <a:xfrm>
            <a:off x="7315200" y="4709160"/>
            <a:ext cx="1097280" cy="32004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718096"/>
              </a:buClr>
              <a:buSzPts val="1200"/>
              <a:buFont typeface="Meiryo"/>
              <a:buNone/>
            </a:pPr>
            <a:r>
              <a:rPr b="0" i="0" lang="en-US" sz="1200" u="none" cap="none" strike="noStrike">
                <a:solidFill>
                  <a:srgbClr val="718096"/>
                </a:solidFill>
                <a:latin typeface="Meiryo"/>
                <a:ea typeface="Meiryo"/>
                <a:cs typeface="Meiryo"/>
                <a:sym typeface="Meiryo"/>
              </a:rPr>
              <a:t>29 / 30</a:t>
            </a:r>
            <a:endParaRPr b="0" i="0" sz="1200" u="none" cap="none" strike="noStrike">
              <a:solidFill>
                <a:schemeClr val="dk1"/>
              </a:solidFill>
              <a:latin typeface="Calibri"/>
              <a:ea typeface="Calibri"/>
              <a:cs typeface="Calibri"/>
              <a:sym typeface="Calibri"/>
            </a:endParaRPr>
          </a:p>
        </p:txBody>
      </p:sp>
      <p:sp>
        <p:nvSpPr>
          <p:cNvPr id="713" name="Google Shape;713;p29"/>
          <p:cNvSpPr/>
          <p:nvPr/>
        </p:nvSpPr>
        <p:spPr>
          <a:xfrm>
            <a:off x="731520" y="457200"/>
            <a:ext cx="768096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02C"/>
              </a:buClr>
              <a:buSzPts val="2600"/>
              <a:buFont typeface="Meiryo"/>
              <a:buNone/>
            </a:pPr>
            <a:r>
              <a:rPr b="1" i="0" lang="en-US" sz="2600" u="none" cap="none" strike="noStrike">
                <a:solidFill>
                  <a:srgbClr val="1A202C"/>
                </a:solidFill>
                <a:latin typeface="Meiryo"/>
                <a:ea typeface="Meiryo"/>
                <a:cs typeface="Meiryo"/>
                <a:sym typeface="Meiryo"/>
              </a:rPr>
              <a:t>まとめ④ 迷ったときは、一人で抱えず「聞く」</a:t>
            </a:r>
            <a:endParaRPr b="0" i="0" sz="2600" u="none" cap="none" strike="noStrike">
              <a:solidFill>
                <a:schemeClr val="dk1"/>
              </a:solidFill>
              <a:latin typeface="Calibri"/>
              <a:ea typeface="Calibri"/>
              <a:cs typeface="Calibri"/>
              <a:sym typeface="Calibri"/>
            </a:endParaRPr>
          </a:p>
        </p:txBody>
      </p:sp>
      <p:sp>
        <p:nvSpPr>
          <p:cNvPr id="714" name="Google Shape;714;p29"/>
          <p:cNvSpPr/>
          <p:nvPr/>
        </p:nvSpPr>
        <p:spPr>
          <a:xfrm>
            <a:off x="731520" y="1188720"/>
            <a:ext cx="7680960" cy="3200400"/>
          </a:xfrm>
          <a:prstGeom prst="roundRect">
            <a:avLst>
              <a:gd fmla="val 16667" name="adj"/>
            </a:avLst>
          </a:prstGeom>
          <a:solidFill>
            <a:srgbClr val="F8FAFC"/>
          </a:solidFill>
          <a:ln cap="flat" cmpd="sng" w="31750">
            <a:solidFill>
              <a:srgbClr val="1A73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29"/>
          <p:cNvSpPr/>
          <p:nvPr/>
        </p:nvSpPr>
        <p:spPr>
          <a:xfrm>
            <a:off x="914400" y="1371600"/>
            <a:ext cx="731520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SzPts val="4800"/>
              <a:buFont typeface="Calibri"/>
              <a:buNone/>
            </a:pPr>
            <a:r>
              <a:rPr b="0" i="0" lang="en-US" sz="4800" u="none" cap="none" strike="noStrike">
                <a:solidFill>
                  <a:srgbClr val="000000"/>
                </a:solidFill>
                <a:latin typeface="Calibri"/>
                <a:ea typeface="Calibri"/>
                <a:cs typeface="Calibri"/>
                <a:sym typeface="Calibri"/>
              </a:rPr>
              <a:t>🤝</a:t>
            </a:r>
            <a:endParaRPr b="0" i="0" sz="4800" u="none" cap="none" strike="noStrike">
              <a:solidFill>
                <a:schemeClr val="dk1"/>
              </a:solidFill>
              <a:latin typeface="Calibri"/>
              <a:ea typeface="Calibri"/>
              <a:cs typeface="Calibri"/>
              <a:sym typeface="Calibri"/>
            </a:endParaRPr>
          </a:p>
        </p:txBody>
      </p:sp>
      <p:sp>
        <p:nvSpPr>
          <p:cNvPr id="716" name="Google Shape;716;p29"/>
          <p:cNvSpPr/>
          <p:nvPr/>
        </p:nvSpPr>
        <p:spPr>
          <a:xfrm>
            <a:off x="914400" y="2103120"/>
            <a:ext cx="7315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73E8"/>
              </a:buClr>
              <a:buSzPts val="2600"/>
              <a:buFont typeface="Meiryo"/>
              <a:buNone/>
            </a:pPr>
            <a:r>
              <a:rPr b="1" i="0" lang="en-US" sz="2300" u="none" cap="none" strike="noStrike">
                <a:solidFill>
                  <a:srgbClr val="1A73E8"/>
                </a:solidFill>
                <a:latin typeface="Meiryo"/>
                <a:ea typeface="Meiryo"/>
                <a:cs typeface="Meiryo"/>
                <a:sym typeface="Meiryo"/>
              </a:rPr>
              <a:t>「相談すること自体が、契約を守る一番確実な方法」</a:t>
            </a:r>
            <a:endParaRPr b="0" i="0" sz="2300" u="none" cap="none" strike="noStrike">
              <a:solidFill>
                <a:schemeClr val="dk1"/>
              </a:solidFill>
              <a:latin typeface="Calibri"/>
              <a:ea typeface="Calibri"/>
              <a:cs typeface="Calibri"/>
              <a:sym typeface="Calibri"/>
            </a:endParaRPr>
          </a:p>
        </p:txBody>
      </p:sp>
      <p:sp>
        <p:nvSpPr>
          <p:cNvPr id="717" name="Google Shape;717;p29"/>
          <p:cNvSpPr/>
          <p:nvPr/>
        </p:nvSpPr>
        <p:spPr>
          <a:xfrm>
            <a:off x="914400" y="2651760"/>
            <a:ext cx="7315200" cy="15544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02C"/>
              </a:buClr>
              <a:buSzPts val="2000"/>
              <a:buFont typeface="Meiryo"/>
              <a:buNone/>
            </a:pPr>
            <a:r>
              <a:rPr b="0" i="0" lang="en-US" sz="2000" u="none" cap="none" strike="noStrike">
                <a:solidFill>
                  <a:srgbClr val="1A202C"/>
                </a:solidFill>
                <a:latin typeface="Meiryo"/>
                <a:ea typeface="Meiryo"/>
                <a:cs typeface="Meiryo"/>
                <a:sym typeface="Meiryo"/>
              </a:rPr>
              <a:t>・</a:t>
            </a:r>
            <a:r>
              <a:rPr b="0" i="0" lang="en-US" sz="1600" u="none" cap="none" strike="noStrike">
                <a:solidFill>
                  <a:srgbClr val="1A202C"/>
                </a:solidFill>
                <a:latin typeface="Meiryo"/>
                <a:ea typeface="Meiryo"/>
                <a:cs typeface="Meiryo"/>
                <a:sym typeface="Meiryo"/>
              </a:rPr>
              <a:t>納期が厳しそう、権利侵害が不安…迷ったらすぐ職員や支援員に相談！</a:t>
            </a:r>
            <a:endParaRPr b="0" i="0" sz="16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A202C"/>
              </a:buClr>
              <a:buSzPts val="2000"/>
              <a:buFont typeface="Meiryo"/>
              <a:buNone/>
            </a:pPr>
            <a:r>
              <a:rPr b="0" i="0" lang="en-US" sz="1600" u="none" cap="none" strike="noStrike">
                <a:solidFill>
                  <a:srgbClr val="1A202C"/>
                </a:solidFill>
                <a:latin typeface="Meiryo"/>
                <a:ea typeface="Meiryo"/>
                <a:cs typeface="Meiryo"/>
                <a:sym typeface="Meiryo"/>
              </a:rPr>
              <a:t>・AIは道具、責任は人。でも「人」は一人で背負う必要はありません！</a:t>
            </a:r>
            <a:endParaRPr b="0" i="0" sz="16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A202C"/>
              </a:buClr>
              <a:buSzPts val="2000"/>
              <a:buFont typeface="Meiryo"/>
              <a:buNone/>
            </a:pPr>
            <a:r>
              <a:rPr b="0" i="0" lang="en-US" sz="1600" u="none" cap="none" strike="noStrike">
                <a:solidFill>
                  <a:srgbClr val="1A202C"/>
                </a:solidFill>
                <a:latin typeface="Meiryo"/>
                <a:ea typeface="Meiryo"/>
                <a:cs typeface="Meiryo"/>
                <a:sym typeface="Meiryo"/>
              </a:rPr>
              <a:t>・チームで助け合うことこそが、一番確実なプロの仕事の進め方です。</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22" name="Shape 722"/>
        <p:cNvGrpSpPr/>
        <p:nvPr/>
      </p:nvGrpSpPr>
      <p:grpSpPr>
        <a:xfrm>
          <a:off x="0" y="0"/>
          <a:ext cx="0" cy="0"/>
          <a:chOff x="0" y="0"/>
          <a:chExt cx="0" cy="0"/>
        </a:xfrm>
      </p:grpSpPr>
      <p:sp>
        <p:nvSpPr>
          <p:cNvPr id="723" name="Google Shape;723;p30"/>
          <p:cNvSpPr/>
          <p:nvPr/>
        </p:nvSpPr>
        <p:spPr>
          <a:xfrm>
            <a:off x="731520" y="4709160"/>
            <a:ext cx="5486400" cy="320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18096"/>
              </a:buClr>
              <a:buSzPts val="1200"/>
              <a:buFont typeface="Meiryo"/>
              <a:buNone/>
            </a:pPr>
            <a:r>
              <a:rPr b="0" i="0" lang="en-US" sz="1200" u="none" cap="none" strike="noStrike">
                <a:solidFill>
                  <a:srgbClr val="718096"/>
                </a:solidFill>
                <a:latin typeface="Meiryo"/>
                <a:ea typeface="Meiryo"/>
                <a:cs typeface="Meiryo"/>
                <a:sym typeface="Meiryo"/>
              </a:rPr>
              <a:t>まとめ</a:t>
            </a:r>
            <a:endParaRPr b="0" i="0" sz="1200" u="none" cap="none" strike="noStrike">
              <a:solidFill>
                <a:schemeClr val="dk1"/>
              </a:solidFill>
              <a:latin typeface="Calibri"/>
              <a:ea typeface="Calibri"/>
              <a:cs typeface="Calibri"/>
              <a:sym typeface="Calibri"/>
            </a:endParaRPr>
          </a:p>
        </p:txBody>
      </p:sp>
      <p:sp>
        <p:nvSpPr>
          <p:cNvPr id="724" name="Google Shape;724;p30"/>
          <p:cNvSpPr/>
          <p:nvPr/>
        </p:nvSpPr>
        <p:spPr>
          <a:xfrm>
            <a:off x="7315200" y="4709160"/>
            <a:ext cx="1097400" cy="3201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718096"/>
              </a:buClr>
              <a:buSzPts val="1200"/>
              <a:buFont typeface="Meiryo"/>
              <a:buNone/>
            </a:pPr>
            <a:r>
              <a:rPr b="0" i="0" lang="en-US" sz="1200" u="none" cap="none" strike="noStrike">
                <a:solidFill>
                  <a:srgbClr val="718096"/>
                </a:solidFill>
                <a:latin typeface="Meiryo"/>
                <a:ea typeface="Meiryo"/>
                <a:cs typeface="Meiryo"/>
                <a:sym typeface="Meiryo"/>
              </a:rPr>
              <a:t>30 / 30</a:t>
            </a:r>
            <a:endParaRPr b="0" i="0" sz="1200" u="none" cap="none" strike="noStrike">
              <a:solidFill>
                <a:schemeClr val="dk1"/>
              </a:solidFill>
              <a:latin typeface="Calibri"/>
              <a:ea typeface="Calibri"/>
              <a:cs typeface="Calibri"/>
              <a:sym typeface="Calibri"/>
            </a:endParaRPr>
          </a:p>
        </p:txBody>
      </p:sp>
      <p:sp>
        <p:nvSpPr>
          <p:cNvPr id="725" name="Google Shape;725;p30"/>
          <p:cNvSpPr/>
          <p:nvPr/>
        </p:nvSpPr>
        <p:spPr>
          <a:xfrm>
            <a:off x="731520" y="381000"/>
            <a:ext cx="7680900" cy="548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i="0" lang="en-US" sz="2200">
                <a:solidFill>
                  <a:srgbClr val="1A202C"/>
                </a:solidFill>
                <a:latin typeface="Arial"/>
                <a:ea typeface="Arial"/>
                <a:cs typeface="Arial"/>
                <a:sym typeface="Arial"/>
              </a:rPr>
              <a:t>まとめ⑤ 結び ― 誇りを持って未来へ！ ＆ ご質問をどうぞ</a:t>
            </a:r>
            <a:endParaRPr b="1" i="0" sz="2200">
              <a:solidFill>
                <a:srgbClr val="1A202C"/>
              </a:solidFill>
              <a:latin typeface="Arial"/>
              <a:ea typeface="Arial"/>
              <a:cs typeface="Arial"/>
              <a:sym typeface="Arial"/>
            </a:endParaRPr>
          </a:p>
        </p:txBody>
      </p:sp>
      <p:grpSp>
        <p:nvGrpSpPr>
          <p:cNvPr id="726" name="Google Shape;726;p30"/>
          <p:cNvGrpSpPr/>
          <p:nvPr/>
        </p:nvGrpSpPr>
        <p:grpSpPr>
          <a:xfrm>
            <a:off x="731520" y="1047750"/>
            <a:ext cx="7680900" cy="609600"/>
            <a:chOff x="0" y="0"/>
            <a:chExt cx="7680900" cy="609600"/>
          </a:xfrm>
        </p:grpSpPr>
        <p:sp>
          <p:nvSpPr>
            <p:cNvPr id="727" name="Google Shape;727;p30"/>
            <p:cNvSpPr/>
            <p:nvPr/>
          </p:nvSpPr>
          <p:spPr>
            <a:xfrm>
              <a:off x="0" y="0"/>
              <a:ext cx="7680900" cy="609600"/>
            </a:xfrm>
            <a:prstGeom prst="roundRect">
              <a:avLst>
                <a:gd fmla="val 18750" name="adj"/>
              </a:avLst>
            </a:prstGeom>
            <a:solidFill>
              <a:srgbClr val="EBF8FF"/>
            </a:solidFill>
            <a:ln cap="flat" cmpd="sng" w="14300">
              <a:solidFill>
                <a:srgbClr val="3B82F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28" name="Google Shape;728;p30"/>
            <p:cNvSpPr txBox="1"/>
            <p:nvPr/>
          </p:nvSpPr>
          <p:spPr>
            <a:xfrm>
              <a:off x="0" y="0"/>
              <a:ext cx="7680900" cy="609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i="0" lang="en-US" sz="1700">
                  <a:solidFill>
                    <a:srgbClr val="1D4ED8"/>
                  </a:solidFill>
                  <a:latin typeface="Arial"/>
                  <a:ea typeface="Arial"/>
                  <a:cs typeface="Arial"/>
                  <a:sym typeface="Arial"/>
                </a:rPr>
                <a:t>🌈 今日のセミナーはゴールではなく、未来への「きっかけ」</a:t>
              </a:r>
              <a:endParaRPr b="1" i="0" sz="1700">
                <a:solidFill>
                  <a:srgbClr val="1D4ED8"/>
                </a:solidFill>
                <a:latin typeface="Arial"/>
                <a:ea typeface="Arial"/>
                <a:cs typeface="Arial"/>
                <a:sym typeface="Arial"/>
              </a:endParaRPr>
            </a:p>
          </p:txBody>
        </p:sp>
      </p:grpSp>
      <p:grpSp>
        <p:nvGrpSpPr>
          <p:cNvPr id="729" name="Google Shape;729;p30"/>
          <p:cNvGrpSpPr/>
          <p:nvPr/>
        </p:nvGrpSpPr>
        <p:grpSpPr>
          <a:xfrm>
            <a:off x="731520" y="1828800"/>
            <a:ext cx="7681080" cy="1676400"/>
            <a:chOff x="0" y="0"/>
            <a:chExt cx="7681080" cy="1676400"/>
          </a:xfrm>
        </p:grpSpPr>
        <p:grpSp>
          <p:nvGrpSpPr>
            <p:cNvPr id="730" name="Google Shape;730;p30"/>
            <p:cNvGrpSpPr/>
            <p:nvPr/>
          </p:nvGrpSpPr>
          <p:grpSpPr>
            <a:xfrm>
              <a:off x="0" y="0"/>
              <a:ext cx="3726300" cy="1676400"/>
              <a:chOff x="0" y="0"/>
              <a:chExt cx="3726300" cy="1676400"/>
            </a:xfrm>
          </p:grpSpPr>
          <p:sp>
            <p:nvSpPr>
              <p:cNvPr id="731" name="Google Shape;731;p30"/>
              <p:cNvSpPr/>
              <p:nvPr/>
            </p:nvSpPr>
            <p:spPr>
              <a:xfrm>
                <a:off x="0" y="0"/>
                <a:ext cx="3726300" cy="1676400"/>
              </a:xfrm>
              <a:prstGeom prst="roundRect">
                <a:avLst>
                  <a:gd fmla="val 6818"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32" name="Google Shape;732;p30"/>
              <p:cNvSpPr/>
              <p:nvPr/>
            </p:nvSpPr>
            <p:spPr>
              <a:xfrm>
                <a:off x="0" y="0"/>
                <a:ext cx="3726300" cy="573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33" name="Google Shape;733;p30"/>
              <p:cNvSpPr/>
              <p:nvPr/>
            </p:nvSpPr>
            <p:spPr>
              <a:xfrm>
                <a:off x="1672590" y="190500"/>
                <a:ext cx="381000" cy="381000"/>
              </a:xfrm>
              <a:prstGeom prst="ellipse">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34" name="Google Shape;734;p30"/>
              <p:cNvSpPr txBox="1"/>
              <p:nvPr/>
            </p:nvSpPr>
            <p:spPr>
              <a:xfrm>
                <a:off x="1672590" y="190500"/>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800"/>
                  <a:t>🚀</a:t>
                </a:r>
                <a:endParaRPr sz="1800"/>
              </a:p>
            </p:txBody>
          </p:sp>
          <p:sp>
            <p:nvSpPr>
              <p:cNvPr id="735" name="Google Shape;735;p30"/>
              <p:cNvSpPr txBox="1"/>
              <p:nvPr/>
            </p:nvSpPr>
            <p:spPr>
              <a:xfrm>
                <a:off x="190500" y="647700"/>
                <a:ext cx="3345300" cy="9144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US" sz="1300">
                    <a:solidFill>
                      <a:srgbClr val="1D4ED8"/>
                    </a:solidFill>
                    <a:latin typeface="Arial"/>
                    <a:ea typeface="Arial"/>
                    <a:cs typeface="Arial"/>
                    <a:sym typeface="Arial"/>
                  </a:rPr>
                  <a:t>一般就労への道がひらける</a:t>
                </a:r>
                <a:endParaRPr b="1" sz="1300">
                  <a:solidFill>
                    <a:srgbClr val="1D4ED8"/>
                  </a:solidFill>
                  <a:latin typeface="Arial"/>
                  <a:ea typeface="Arial"/>
                  <a:cs typeface="Arial"/>
                  <a:sym typeface="Arial"/>
                </a:endParaRPr>
              </a:p>
              <a:p>
                <a:pPr indent="0" lvl="0" marL="0" rtl="0" algn="ctr">
                  <a:spcBef>
                    <a:spcPts val="800"/>
                  </a:spcBef>
                  <a:spcAft>
                    <a:spcPts val="0"/>
                  </a:spcAft>
                  <a:buNone/>
                </a:pPr>
                <a:r>
                  <a:rPr b="0" lang="en-US" sz="1100">
                    <a:solidFill>
                      <a:srgbClr val="334155"/>
                    </a:solidFill>
                    <a:latin typeface="Arial"/>
                    <a:ea typeface="Arial"/>
                    <a:cs typeface="Arial"/>
                    <a:sym typeface="Arial"/>
                  </a:rPr>
                  <a:t>法律やルールを味方につけてAIスキルを磨けば、一般就労の道がひらける！</a:t>
                </a:r>
                <a:endParaRPr b="0" sz="1100">
                  <a:solidFill>
                    <a:srgbClr val="334155"/>
                  </a:solidFill>
                  <a:latin typeface="Arial"/>
                  <a:ea typeface="Arial"/>
                  <a:cs typeface="Arial"/>
                  <a:sym typeface="Arial"/>
                </a:endParaRPr>
              </a:p>
            </p:txBody>
          </p:sp>
        </p:grpSp>
        <p:grpSp>
          <p:nvGrpSpPr>
            <p:cNvPr id="736" name="Google Shape;736;p30"/>
            <p:cNvGrpSpPr/>
            <p:nvPr/>
          </p:nvGrpSpPr>
          <p:grpSpPr>
            <a:xfrm>
              <a:off x="3954780" y="0"/>
              <a:ext cx="3726300" cy="1676400"/>
              <a:chOff x="0" y="0"/>
              <a:chExt cx="3726300" cy="1676400"/>
            </a:xfrm>
          </p:grpSpPr>
          <p:sp>
            <p:nvSpPr>
              <p:cNvPr id="737" name="Google Shape;737;p30"/>
              <p:cNvSpPr/>
              <p:nvPr/>
            </p:nvSpPr>
            <p:spPr>
              <a:xfrm>
                <a:off x="0" y="0"/>
                <a:ext cx="3726300" cy="1676400"/>
              </a:xfrm>
              <a:prstGeom prst="roundRect">
                <a:avLst>
                  <a:gd fmla="val 6818"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38" name="Google Shape;738;p30"/>
              <p:cNvSpPr/>
              <p:nvPr/>
            </p:nvSpPr>
            <p:spPr>
              <a:xfrm>
                <a:off x="0" y="0"/>
                <a:ext cx="3726300" cy="57300"/>
              </a:xfrm>
              <a:prstGeom prst="roundRect">
                <a:avLst>
                  <a:gd fmla="val 50000" name="adj"/>
                </a:avLst>
              </a:prstGeom>
              <a:solidFill>
                <a:srgbClr val="8B5C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39" name="Google Shape;739;p30"/>
              <p:cNvSpPr/>
              <p:nvPr/>
            </p:nvSpPr>
            <p:spPr>
              <a:xfrm>
                <a:off x="1672590" y="190500"/>
                <a:ext cx="381000" cy="381000"/>
              </a:xfrm>
              <a:prstGeom prst="ellipse">
                <a:avLst/>
              </a:prstGeom>
              <a:solidFill>
                <a:srgbClr val="EDE9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40" name="Google Shape;740;p30"/>
              <p:cNvSpPr txBox="1"/>
              <p:nvPr/>
            </p:nvSpPr>
            <p:spPr>
              <a:xfrm>
                <a:off x="1672590" y="190500"/>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800"/>
                  <a:t>✨</a:t>
                </a:r>
                <a:endParaRPr sz="1800"/>
              </a:p>
            </p:txBody>
          </p:sp>
          <p:sp>
            <p:nvSpPr>
              <p:cNvPr id="741" name="Google Shape;741;p30"/>
              <p:cNvSpPr txBox="1"/>
              <p:nvPr/>
            </p:nvSpPr>
            <p:spPr>
              <a:xfrm>
                <a:off x="190500" y="647700"/>
                <a:ext cx="3345300" cy="9144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US" sz="1300">
                    <a:solidFill>
                      <a:srgbClr val="6D28D9"/>
                    </a:solidFill>
                    <a:latin typeface="Arial"/>
                    <a:ea typeface="Arial"/>
                    <a:cs typeface="Arial"/>
                    <a:sym typeface="Arial"/>
                  </a:rPr>
                  <a:t>作品と約束への誇り</a:t>
                </a:r>
                <a:endParaRPr b="1" sz="1300">
                  <a:solidFill>
                    <a:srgbClr val="6D28D9"/>
                  </a:solidFill>
                  <a:latin typeface="Arial"/>
                  <a:ea typeface="Arial"/>
                  <a:cs typeface="Arial"/>
                  <a:sym typeface="Arial"/>
                </a:endParaRPr>
              </a:p>
              <a:p>
                <a:pPr indent="0" lvl="0" marL="0" rtl="0" algn="ctr">
                  <a:spcBef>
                    <a:spcPts val="800"/>
                  </a:spcBef>
                  <a:spcAft>
                    <a:spcPts val="0"/>
                  </a:spcAft>
                  <a:buNone/>
                </a:pPr>
                <a:r>
                  <a:rPr b="0" lang="en-US" sz="1100">
                    <a:solidFill>
                      <a:srgbClr val="334155"/>
                    </a:solidFill>
                    <a:latin typeface="Arial"/>
                    <a:ea typeface="Arial"/>
                    <a:cs typeface="Arial"/>
                    <a:sym typeface="Arial"/>
                  </a:rPr>
                  <a:t>皆さんの作品が、契約という約束の上で誰かの役に立っていることを誇りに思ってください！</a:t>
                </a:r>
                <a:endParaRPr b="0" sz="1100">
                  <a:solidFill>
                    <a:srgbClr val="334155"/>
                  </a:solidFill>
                  <a:latin typeface="Arial"/>
                  <a:ea typeface="Arial"/>
                  <a:cs typeface="Arial"/>
                  <a:sym typeface="Arial"/>
                </a:endParaRPr>
              </a:p>
            </p:txBody>
          </p:sp>
        </p:grpSp>
      </p:grpSp>
      <p:grpSp>
        <p:nvGrpSpPr>
          <p:cNvPr id="742" name="Google Shape;742;p30"/>
          <p:cNvGrpSpPr/>
          <p:nvPr/>
        </p:nvGrpSpPr>
        <p:grpSpPr>
          <a:xfrm>
            <a:off x="731520" y="3695700"/>
            <a:ext cx="7680900" cy="723900"/>
            <a:chOff x="0" y="0"/>
            <a:chExt cx="7680900" cy="723900"/>
          </a:xfrm>
        </p:grpSpPr>
        <p:sp>
          <p:nvSpPr>
            <p:cNvPr id="743" name="Google Shape;743;p30"/>
            <p:cNvSpPr/>
            <p:nvPr/>
          </p:nvSpPr>
          <p:spPr>
            <a:xfrm>
              <a:off x="0" y="0"/>
              <a:ext cx="7680900" cy="723900"/>
            </a:xfrm>
            <a:prstGeom prst="roundRect">
              <a:avLst>
                <a:gd fmla="val 15789" name="adj"/>
              </a:avLst>
            </a:prstGeom>
            <a:solidFill>
              <a:srgbClr val="FEF3C7"/>
            </a:solidFill>
            <a:ln cap="flat" cmpd="sng" w="14300">
              <a:solidFill>
                <a:srgbClr val="F59E0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44" name="Google Shape;744;p30"/>
            <p:cNvSpPr txBox="1"/>
            <p:nvPr/>
          </p:nvSpPr>
          <p:spPr>
            <a:xfrm>
              <a:off x="0" y="0"/>
              <a:ext cx="7680900" cy="723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i="0" lang="en-US" sz="1400">
                  <a:solidFill>
                    <a:srgbClr val="B45309"/>
                  </a:solidFill>
                  <a:latin typeface="Arial"/>
                  <a:ea typeface="Arial"/>
                  <a:cs typeface="Arial"/>
                  <a:sym typeface="Arial"/>
                </a:rPr>
                <a:t>🌸 ご清聴ありがとうございました！</a:t>
              </a:r>
              <a:endParaRPr b="1" i="0" sz="1400">
                <a:solidFill>
                  <a:srgbClr val="B45309"/>
                </a:solidFill>
                <a:latin typeface="Arial"/>
                <a:ea typeface="Arial"/>
                <a:cs typeface="Arial"/>
                <a:sym typeface="Arial"/>
              </a:endParaRPr>
            </a:p>
            <a:p>
              <a:pPr indent="0" lvl="0" marL="0" rtl="0" algn="ctr">
                <a:spcBef>
                  <a:spcPts val="300"/>
                </a:spcBef>
                <a:spcAft>
                  <a:spcPts val="0"/>
                </a:spcAft>
                <a:buNone/>
              </a:pPr>
              <a:r>
                <a:rPr b="1" i="0" lang="en-US" sz="1300">
                  <a:solidFill>
                    <a:srgbClr val="B45309"/>
                  </a:solidFill>
                  <a:latin typeface="Arial"/>
                  <a:ea typeface="Arial"/>
                  <a:cs typeface="Arial"/>
                  <a:sym typeface="Arial"/>
                </a:rPr>
                <a:t>どんな些細なことでも、お気軽にご質問・ご感想をどうぞ！</a:t>
              </a:r>
              <a:endParaRPr b="1" i="0" sz="1300">
                <a:solidFill>
                  <a:srgbClr val="B45309"/>
                </a:solidFill>
                <a:latin typeface="Arial"/>
                <a:ea typeface="Arial"/>
                <a:cs typeface="Arial"/>
                <a:sym typeface="Arial"/>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2026-09-13T10:14:29Z</dcterms:created>
  <dc:creator>PptxGenJS</dc:creator>
</cp:coreProperties>
</file>