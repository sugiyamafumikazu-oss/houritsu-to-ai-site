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【話す内容の要点・語りかけ】
・皆さん、こんにちは！本日はお時間をいただきありがとうございます。
・テーマは「法律とAI ― 契約を知って、AIのスキルで一般就労へ」です。
・「法律」と聞くと難しそう、怒られそうと思うかもしれませんが、全く逆です。「自分を守るため」「自分の作品を守るため」の安心の知恵をお届けします。
・皆さんが今磨いているAI画像・動画制作のスキルは、すでに一般就労の仕事に直結しています。
・リラックスして、肩の力を抜いて聴いてくださいね！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【話す内容の要点・語りかけ】
・社労士は「働くことのルール」の専門家です。就職したときの安心や権利を守ります。
・行政書士は「仕事の約束を形にする契約書」の専門家です。
・皆さんが今事業所で制作している作品、そして将来一般企業で働く道。その両方を法律の両輪から全力で後押しします！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【話す内容の要点・語りかけ】
・最初のクイズです！「今日家を出てから、契約をいくつ結びましたか？」
・コンビニでお茶を買う、スマホで地図を見る、AIツールを開く…全部が立派な契約です！
・知らなくても、皆さんは毎日契約を大成功させています。
・今日は特別な勉強ではなく、「普段当たり前にできていること」に名前をつけて自信に変える時間です。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【話す内容の要点・語りかけ】
・契約とは、要するに「お互いの合意（約束）」です。
・買主の「これください」と、売主の「はい、どうぞ」が通じ合った瞬間に成立します。
・大事なのは、印鑑や契約書がなくても言葉だけで成立すること（諾成契約）。
・コンビニのレシートは契約書ではなく、「確かにお金を払った」という証拠なんですね。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【話す内容の要点・語りかけ】
・売買契約には3つの性質があります。「双務・有償・諾成」。
・双務はお互いに義務があること。有償は対価があること。諾成は合意だけで成立すること。
・この3つのルールは、後で出てくる「働く契約」でも全く同じです！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【話す内容の要点・語りかけ】
・法律用語の「債務」と「債権」です。
・債務＝しなければならないこと、債権＝求めてよいことです。
・相手の義務は自分の権利。表裏一体のペアです。
・そしてお互いが義務を果たし終えることを「完遂（かんすい）」と呼びます。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【話す内容の要点・語りかけ】
・図1をご覧ください。左に売主（お店）、右に買主（お客さん）がいます。
・上の矢印は商品の引渡し、下の矢印は代金の支払いです。
・赤の義務と青の権利がイコールで結ばれていますね。
・義務を果たし終えることが契約のゴール「完遂」です。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【話す内容の要点・語りかけ】
・生成AIを使うときの「利用規約に同意する」も立派な契約（定型約款）です。
・そして一番大事なこと：AIは人間ではないので、契約の当事者になれません。
・約束をし、責任を負うのは必ず使う人間です。「AIのせい」にはできません。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【話す内容の要点・語りかけ】
・第2部は労働契約です。クイズ：働くことで手に入る最大の権利は？
・給料をもらう権利はもちろん、安全や健康に配慮してもらう権利も手に入ります。
・働くことは義務で縛られるのではなく、法律で手厚く守られることなのです！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【話す内容の要点・語りかけ】
・労働契約法第6条の基本です。「働くこと」と「給料」の交換です。
・会社には指示する権限（指揮命令権）がありますが、同時に働く人の安全を守る義務（安全配慮義務）があります。
・お互いに対等なパートナーシップです。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【話す内容の要点・語りかけ】
・図2をご覧ください。左が会社、右が労働者です。
・上部に点線矢印で「指揮命令権」があります。
・会社の下には「安全配慮義務」の別枠があります。
・AIの指示も指揮命令権であり、秘密を守ることは秩序遵守義務の一部です。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【話す内容の要点・語りかけ】
・会社でAIを使うときのルールです。会社の秘密をAIに入力してはいけません。
・そしてとても大事なこと。画面疲れや心の負担を感じたら、遠慮なく申し出てください。
・働く人の健康を守ることは、法律で定められた会社の義務（安全配慮義務）だからです。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【話す内容の要点・語りかけ】
・皆さんが今いらっしゃるB型事業所は「利用契約」です。
・労働基準法の厳しい縛りがない代わりに、体調に合わせて無理なく通える配慮があります。
・事業所がしっかり安全に配慮し支援してくれます。安心してスキルを磨いてください。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【話す内容の要点・語りかけ】
・図4をご覧ください。図2と全く同じ形をしています。
・違うのは、点線矢印が命令ではなく「支援・助言（≠指揮命令）」であること。
・タグは「要式（書面が必要）」です。温かい支援と保護が仕組み化されています。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【話す内容の要点・語りかけ】
・図5の比較表です。労働契約と利用契約の違いを並べました。
・共通しているのは「安全への配慮」です。
・そして下のバナーをご覧ください。「将来一般就労に進んだときは、図2の権利がそのまま自分のものになる」。
・今の学びは、未来の自分の権利を使うための準備です。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【話す内容の要点・語りかけ】
・第3部は委託契約（作品を納める契約）です。
・クイズ：発注元の会社は作り方まで口出しできる？答えは「できない」です。
・労働契約と違って指揮命令権はありません。結果で勝負するプロの仕事です。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【話す内容の要点・語りかけ】
・委託には「請負」と「準委任」があります。皆さんが携わっているのは「請負」です。
・完成させて納品する仕事です。
・皆さんは日々、企業の請負契約を立派に完遂させています。自信を持ってください。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【話す内容の要点・語りかけ】
・図3をご覧ください。左が発注者、右が受注者（事業所）です。
・「指揮命令権なし」と大きく×がついています。
・契約書の6項目、債務不履行警告、履行フローが1枚にまとまっています。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【話す内容の要点・語りかけ】
・契約書に書かれている6大チェック項目です。
・特に「修正回数」を決めておくことは重要です。無限の修正要求から自分を守る盾になります。
・約束どおりに納めて初めて「履行」になります。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【話す内容の要点・語りかけ】
・納期に遅れると「債務不履行」になりますが、怖がる必要はありません。
・皆さんが直接揉めないように、事業所の支援員が契約を調整し、盾となって守っています。
・皆さんは安心して制作に専念してください。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【話す内容の要点・語りかけ】
・仕事の流れは、確認から制作、納品、検収、支払い、完遂へと進みます。
・将来のために覚えておいてほしいのが「偽装請負」です。委託と言いながら指示命令するのは違法です。
・法律は名前ではなく実態で判断します。自分を守る知識にしてください。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【話す内容の要点・語りかけ】
・第4部はAI生成物の法律問題です。クイズ：AIが出した絵は誰のもの？
・原則として誰のものでもありません（著作権なし）。
・皆さんの工夫や加筆が入って初めて著作権が生まれるのです。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【話す内容の要点・語りかけ】
・皆さんがプロンプトを練り、加筆修正した部分には皆さんの創作性が宿ります。
・だからこそ、契約書で「権利をどう扱うか」を決めておくことがトラブル防止になります。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【話す内容の要点・語りかけ】
・AIを使う上で、絶対にやってはいけない4つの注意点です。
・アニメキャラ、有名人の顔、特定作家の作風、身近な仲間の写真。
・他人の権利を大切にすることが、自分の作品を守ることにつながります。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【話す内容の要点・語りかけ】
・責任は人間が負いますが、一人で抱え込む必要はありません。
・事業所チームで納品前にダブルチェックしましょう。
・迷ったら相談する。相談できる人は、プロとして一番信頼されます。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【話す内容の要点・語りかけ】
・まとめの1つ目：「知っておくと安心の話」です。
・「ルールを守れ」と怒る話ではありません。自分を守る盾です。
・何か1つでも心に残れば、今日のセミナーは大成功です。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【話す内容の要点・語りかけ】
・まとめの2つ目：「すでに契約の世界で仕事をしている」。
・皆さんの作業は請負の履行そのものです。一般就労と同じサイクルを回しています。
・自信と誇りを持ってください。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【話す内容の要点・語りかけ】
・まとめの3つ目：「一般就労で自分の権利になる」。
・就職した瞬間、賃金請求権や健康配慮を受ける権利が手に入ります。
・今日の話はその予習です。堂々と進みましょう！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【話す内容の要点・語りかけ】
・まとめの4つ目：「迷ったときは、一人で抱えず、聞く」。
・不安なときはすぐ支援員に相談してください。
・相談すること自体が契約を守る最善の行動です。チームで助け合いましょう。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【話す内容の要点・語りかけ】
・最後の結びです。今日のセミナーはゴールではなく未来へのきっかけです。
・皆さんの作品は誰かの役に立っています。誇りを持って進みましょう！
・ご清聴、本当にありがとうございました！ご質問をどうぞ！</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1005840"/>
            <a:ext cx="137160" cy="2286000"/>
          </a:xfrm>
          <a:prstGeom prst="rect">
            <a:avLst/>
          </a:prstGeom>
          <a:solidFill>
            <a:srgbClr val="1A73E8"/>
          </a:solidFill>
          <a:ln w="12700">
            <a:solidFill>
              <a:srgbClr val="1A73E8"/>
            </a:solidFill>
            <a:prstDash val="solid"/>
          </a:ln>
        </p:spPr>
      </p:sp>
      <p:sp>
        <p:nvSpPr>
          <p:cNvPr id="3" name="Text 1"/>
          <p:cNvSpPr/>
          <p:nvPr/>
        </p:nvSpPr>
        <p:spPr>
          <a:xfrm>
            <a:off x="1005840" y="914400"/>
            <a:ext cx="7315200" cy="822960"/>
          </a:xfrm>
          <a:prstGeom prst="rect">
            <a:avLst/>
          </a:prstGeom>
          <a:noFill/>
          <a:ln/>
        </p:spPr>
        <p:txBody>
          <a:bodyPr wrap="square" rtlCol="0" anchor="ctr"/>
          <a:lstStyle/>
          <a:p>
            <a:pPr indent="0" marL="0">
              <a:buNone/>
            </a:pPr>
            <a:r>
              <a:rPr lang="en-US" sz="4000" b="1" dirty="0">
                <a:solidFill>
                  <a:srgbClr val="1A202C"/>
                </a:solidFill>
                <a:latin typeface="Meiryo" pitchFamily="34" charset="0"/>
                <a:ea typeface="Meiryo" pitchFamily="34" charset="-122"/>
                <a:cs typeface="Meiryo" pitchFamily="34" charset="-120"/>
              </a:rPr>
              <a:t>法律とAI</a:t>
            </a:r>
            <a:endParaRPr lang="en-US" sz="4000" dirty="0"/>
          </a:p>
        </p:txBody>
      </p:sp>
      <p:sp>
        <p:nvSpPr>
          <p:cNvPr id="4" name="Text 2"/>
          <p:cNvSpPr/>
          <p:nvPr/>
        </p:nvSpPr>
        <p:spPr>
          <a:xfrm>
            <a:off x="1005840" y="1737360"/>
            <a:ext cx="7315200" cy="640080"/>
          </a:xfrm>
          <a:prstGeom prst="rect">
            <a:avLst/>
          </a:prstGeom>
          <a:noFill/>
          <a:ln/>
        </p:spPr>
        <p:txBody>
          <a:bodyPr wrap="square" rtlCol="0" anchor="ctr"/>
          <a:lstStyle/>
          <a:p>
            <a:pPr indent="0" marL="0">
              <a:buNone/>
            </a:pPr>
            <a:r>
              <a:rPr lang="en-US" sz="2600" b="1" dirty="0">
                <a:solidFill>
                  <a:srgbClr val="1A73E8"/>
                </a:solidFill>
                <a:latin typeface="Meiryo" pitchFamily="34" charset="0"/>
                <a:ea typeface="Meiryo" pitchFamily="34" charset="-122"/>
                <a:cs typeface="Meiryo" pitchFamily="34" charset="-120"/>
              </a:rPr>
              <a:t>契約を知って、AIのスキルで一般就労へ</a:t>
            </a:r>
            <a:endParaRPr lang="en-US" sz="2600" dirty="0"/>
          </a:p>
        </p:txBody>
      </p:sp>
      <p:sp>
        <p:nvSpPr>
          <p:cNvPr id="5" name="Text 3"/>
          <p:cNvSpPr/>
          <p:nvPr/>
        </p:nvSpPr>
        <p:spPr>
          <a:xfrm>
            <a:off x="1005840" y="2377440"/>
            <a:ext cx="7315200" cy="457200"/>
          </a:xfrm>
          <a:prstGeom prst="rect">
            <a:avLst/>
          </a:prstGeom>
          <a:noFill/>
          <a:ln/>
        </p:spPr>
        <p:txBody>
          <a:bodyPr wrap="square" rtlCol="0" anchor="ctr"/>
          <a:lstStyle/>
          <a:p>
            <a:pPr indent="0" marL="0">
              <a:buNone/>
            </a:pPr>
            <a:r>
              <a:rPr lang="en-US" sz="1800" dirty="0">
                <a:solidFill>
                  <a:srgbClr val="718096"/>
                </a:solidFill>
                <a:latin typeface="Meiryo" pitchFamily="34" charset="0"/>
                <a:ea typeface="Meiryo" pitchFamily="34" charset="-122"/>
                <a:cs typeface="Meiryo" pitchFamily="34" charset="-120"/>
              </a:rPr>
              <a:t>〜 知っていると自分と作品を守れる、未来へのステップ 〜</a:t>
            </a:r>
            <a:endParaRPr lang="en-US" sz="1800" dirty="0"/>
          </a:p>
        </p:txBody>
      </p:sp>
      <p:sp>
        <p:nvSpPr>
          <p:cNvPr id="6" name="Shape 4"/>
          <p:cNvSpPr/>
          <p:nvPr/>
        </p:nvSpPr>
        <p:spPr>
          <a:xfrm>
            <a:off x="1005840" y="3017520"/>
            <a:ext cx="7132320" cy="914400"/>
          </a:xfrm>
          <a:prstGeom prst="roundRect">
            <a:avLst/>
          </a:prstGeom>
          <a:solidFill>
            <a:srgbClr val="EBF8FF"/>
          </a:solidFill>
          <a:ln w="25400">
            <a:solidFill>
              <a:srgbClr val="BEE3F8"/>
            </a:solidFill>
            <a:prstDash val="solid"/>
          </a:ln>
        </p:spPr>
      </p:sp>
      <p:sp>
        <p:nvSpPr>
          <p:cNvPr id="7" name="Text 5"/>
          <p:cNvSpPr/>
          <p:nvPr/>
        </p:nvSpPr>
        <p:spPr>
          <a:xfrm>
            <a:off x="1097280" y="3246120"/>
            <a:ext cx="6949440" cy="457200"/>
          </a:xfrm>
          <a:prstGeom prst="rect">
            <a:avLst/>
          </a:prstGeom>
          <a:noFill/>
          <a:ln/>
        </p:spPr>
        <p:txBody>
          <a:bodyPr wrap="square" rtlCol="0" anchor="ctr"/>
          <a:lstStyle/>
          <a:p>
            <a:pPr algn="ctr" indent="0" marL="0">
              <a:buNone/>
            </a:pPr>
            <a:r>
              <a:rPr lang="en-US" sz="2000" b="1" dirty="0">
                <a:solidFill>
                  <a:srgbClr val="1A73E8"/>
                </a:solidFill>
                <a:latin typeface="Meiryo" pitchFamily="34" charset="0"/>
                <a:ea typeface="Meiryo" pitchFamily="34" charset="-122"/>
                <a:cs typeface="Meiryo" pitchFamily="34" charset="-120"/>
              </a:rPr>
              <a:t>🤖 AI制作スキル　＋　📜 契約のルール　＝　🚀 一般就労への確かな道！</a:t>
            </a:r>
            <a:endParaRPr lang="en-US" sz="2000" dirty="0"/>
          </a:p>
        </p:txBody>
      </p:sp>
      <p:sp>
        <p:nvSpPr>
          <p:cNvPr id="8" name="Text 6"/>
          <p:cNvSpPr/>
          <p:nvPr/>
        </p:nvSpPr>
        <p:spPr>
          <a:xfrm>
            <a:off x="731520" y="4709160"/>
            <a:ext cx="7680960" cy="320040"/>
          </a:xfrm>
          <a:prstGeom prst="rect">
            <a:avLst/>
          </a:prstGeom>
          <a:noFill/>
          <a:ln/>
        </p:spPr>
        <p:txBody>
          <a:bodyPr wrap="square" rtlCol="0" anchor="ctr"/>
          <a:lstStyle/>
          <a:p>
            <a:pPr indent="0" marL="0">
              <a:buNone/>
            </a:pPr>
            <a:r>
              <a:rPr lang="en-US" sz="1200" dirty="0">
                <a:solidFill>
                  <a:srgbClr val="718096"/>
                </a:solidFill>
                <a:latin typeface="Meiryo" pitchFamily="34" charset="0"/>
                <a:ea typeface="Meiryo" pitchFamily="34" charset="-122"/>
                <a:cs typeface="Meiryo" pitchFamily="34" charset="-120"/>
              </a:rPr>
              <a:t>講師：社会保険労務士・行政書士　／　就労継続支援B型事業所向けセミナー（60分）</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709160"/>
            <a:ext cx="5486400" cy="320040"/>
          </a:xfrm>
          <a:prstGeom prst="rect">
            <a:avLst/>
          </a:prstGeom>
          <a:noFill/>
          <a:ln/>
        </p:spPr>
        <p:txBody>
          <a:bodyPr wrap="square" rtlCol="0" anchor="ctr"/>
          <a:lstStyle/>
          <a:p>
            <a:pPr indent="0" marL="0">
              <a:buNone/>
            </a:pPr>
            <a:r>
              <a:rPr lang="en-US" sz="1200" dirty="0">
                <a:solidFill>
                  <a:srgbClr val="718096"/>
                </a:solidFill>
                <a:latin typeface="Meiryo" pitchFamily="34" charset="0"/>
                <a:ea typeface="Meiryo" pitchFamily="34" charset="-122"/>
                <a:cs typeface="Meiryo" pitchFamily="34" charset="-120"/>
              </a:rPr>
              <a:t>導入</a:t>
            </a:r>
            <a:endParaRPr lang="en-US" sz="1200" dirty="0"/>
          </a:p>
        </p:txBody>
      </p:sp>
      <p:sp>
        <p:nvSpPr>
          <p:cNvPr id="3" name="Text 1"/>
          <p:cNvSpPr/>
          <p:nvPr/>
        </p:nvSpPr>
        <p:spPr>
          <a:xfrm>
            <a:off x="7315200" y="4709160"/>
            <a:ext cx="1097280" cy="320040"/>
          </a:xfrm>
          <a:prstGeom prst="rect">
            <a:avLst/>
          </a:prstGeom>
          <a:noFill/>
          <a:ln/>
        </p:spPr>
        <p:txBody>
          <a:bodyPr wrap="square" rtlCol="0" anchor="ctr"/>
          <a:lstStyle/>
          <a:p>
            <a:pPr algn="r" indent="0" marL="0">
              <a:buNone/>
            </a:pPr>
            <a:r>
              <a:rPr lang="en-US" sz="1200" dirty="0">
                <a:solidFill>
                  <a:srgbClr val="718096"/>
                </a:solidFill>
                <a:latin typeface="Meiryo" pitchFamily="34" charset="0"/>
                <a:ea typeface="Meiryo" pitchFamily="34" charset="-122"/>
                <a:cs typeface="Meiryo" pitchFamily="34" charset="-120"/>
              </a:rPr>
              <a:t>2 / 30</a:t>
            </a:r>
            <a:endParaRPr lang="en-US" sz="1200" dirty="0"/>
          </a:p>
        </p:txBody>
      </p:sp>
      <p:sp>
        <p:nvSpPr>
          <p:cNvPr id="4" name="Text 2"/>
          <p:cNvSpPr/>
          <p:nvPr/>
        </p:nvSpPr>
        <p:spPr>
          <a:xfrm>
            <a:off x="731520" y="457200"/>
            <a:ext cx="7680960" cy="548640"/>
          </a:xfrm>
          <a:prstGeom prst="rect">
            <a:avLst/>
          </a:prstGeom>
          <a:noFill/>
          <a:ln/>
        </p:spPr>
        <p:txBody>
          <a:bodyPr wrap="square" rtlCol="0" anchor="ctr"/>
          <a:lstStyle/>
          <a:p>
            <a:pPr indent="0" marL="0">
              <a:buNone/>
            </a:pPr>
            <a:r>
              <a:rPr lang="en-US" sz="2600" b="1" dirty="0">
                <a:solidFill>
                  <a:srgbClr val="1A202C"/>
                </a:solidFill>
                <a:latin typeface="Meiryo" pitchFamily="34" charset="0"/>
                <a:ea typeface="Meiryo" pitchFamily="34" charset="-122"/>
                <a:cs typeface="Meiryo" pitchFamily="34" charset="-120"/>
              </a:rPr>
              <a:t>講師の立場 ― 2つの専門知識で皆さんを応援します！</a:t>
            </a:r>
            <a:endParaRPr lang="en-US" sz="2600" dirty="0"/>
          </a:p>
        </p:txBody>
      </p:sp>
      <p:sp>
        <p:nvSpPr>
          <p:cNvPr id="5" name="Shape 3"/>
          <p:cNvSpPr/>
          <p:nvPr/>
        </p:nvSpPr>
        <p:spPr>
          <a:xfrm>
            <a:off x="731520" y="1188720"/>
            <a:ext cx="3657600" cy="3108960"/>
          </a:xfrm>
          <a:prstGeom prst="roundRect">
            <a:avLst/>
          </a:prstGeom>
          <a:solidFill>
            <a:srgbClr val="EBF8FF"/>
          </a:solidFill>
          <a:ln w="31750">
            <a:solidFill>
              <a:srgbClr val="1A73E8"/>
            </a:solidFill>
            <a:prstDash val="solid"/>
          </a:ln>
        </p:spPr>
      </p:sp>
      <p:sp>
        <p:nvSpPr>
          <p:cNvPr id="6" name="Text 4"/>
          <p:cNvSpPr/>
          <p:nvPr/>
        </p:nvSpPr>
        <p:spPr>
          <a:xfrm>
            <a:off x="914400" y="1371600"/>
            <a:ext cx="3291840" cy="457200"/>
          </a:xfrm>
          <a:prstGeom prst="rect">
            <a:avLst/>
          </a:prstGeom>
          <a:noFill/>
          <a:ln/>
        </p:spPr>
        <p:txBody>
          <a:bodyPr wrap="square" rtlCol="0" anchor="ctr"/>
          <a:lstStyle/>
          <a:p>
            <a:pPr algn="ctr" indent="0" marL="0">
              <a:buNone/>
            </a:pPr>
            <a:r>
              <a:rPr lang="en-US" sz="2400" b="1" dirty="0">
                <a:solidFill>
                  <a:srgbClr val="1A73E8"/>
                </a:solidFill>
                <a:latin typeface="Meiryo" pitchFamily="34" charset="0"/>
                <a:ea typeface="Meiryo" pitchFamily="34" charset="-122"/>
                <a:cs typeface="Meiryo" pitchFamily="34" charset="-120"/>
              </a:rPr>
              <a:t>👔 社会保険労務士</a:t>
            </a:r>
            <a:endParaRPr lang="en-US" sz="2400" dirty="0"/>
          </a:p>
        </p:txBody>
      </p:sp>
      <p:sp>
        <p:nvSpPr>
          <p:cNvPr id="7" name="Text 5"/>
          <p:cNvSpPr/>
          <p:nvPr/>
        </p:nvSpPr>
        <p:spPr>
          <a:xfrm>
            <a:off x="914400" y="1920240"/>
            <a:ext cx="3291840" cy="365760"/>
          </a:xfrm>
          <a:prstGeom prst="rect">
            <a:avLst/>
          </a:prstGeom>
          <a:noFill/>
          <a:ln/>
        </p:spPr>
        <p:txBody>
          <a:bodyPr wrap="square" rtlCol="0" anchor="ctr"/>
          <a:lstStyle/>
          <a:p>
            <a:pPr algn="ctr" indent="0" marL="0">
              <a:buNone/>
            </a:pPr>
            <a:r>
              <a:rPr lang="en-US" sz="2000" b="1" dirty="0">
                <a:solidFill>
                  <a:srgbClr val="1A202C"/>
                </a:solidFill>
                <a:latin typeface="Meiryo" pitchFamily="34" charset="0"/>
                <a:ea typeface="Meiryo" pitchFamily="34" charset="-122"/>
                <a:cs typeface="Meiryo" pitchFamily="34" charset="-120"/>
              </a:rPr>
              <a:t>＝「働く契約」の専門家</a:t>
            </a:r>
            <a:endParaRPr lang="en-US" sz="2000" dirty="0"/>
          </a:p>
        </p:txBody>
      </p:sp>
      <p:sp>
        <p:nvSpPr>
          <p:cNvPr id="8" name="Text 6"/>
          <p:cNvSpPr/>
          <p:nvPr/>
        </p:nvSpPr>
        <p:spPr>
          <a:xfrm>
            <a:off x="1097280" y="2468880"/>
            <a:ext cx="2926080" cy="1554480"/>
          </a:xfrm>
          <a:prstGeom prst="rect">
            <a:avLst/>
          </a:prstGeom>
          <a:noFill/>
          <a:ln/>
        </p:spPr>
        <p:txBody>
          <a:bodyPr wrap="square" rtlCol="0" anchor="ctr"/>
          <a:lstStyle/>
          <a:p>
            <a:pPr indent="0" marL="0">
              <a:buNone/>
            </a:pPr>
            <a:r>
              <a:rPr lang="en-US" sz="1800" dirty="0">
                <a:solidFill>
                  <a:srgbClr val="1A202C"/>
                </a:solidFill>
                <a:latin typeface="Meiryo" pitchFamily="34" charset="0"/>
                <a:ea typeface="Meiryo" pitchFamily="34" charset="-122"/>
                <a:cs typeface="Meiryo" pitchFamily="34" charset="-120"/>
              </a:rPr>
              <a:t>🏢 会社と働く人のルール（労働法）</a:t>
            </a:r>
            <a:endParaRPr lang="en-US" sz="1800" dirty="0"/>
          </a:p>
          <a:p>
            <a:pPr indent="0" marL="0">
              <a:buNone/>
            </a:pPr>
            <a:r>
              <a:rPr lang="en-US" sz="1800" dirty="0">
                <a:solidFill>
                  <a:srgbClr val="1A202C"/>
                </a:solidFill>
                <a:latin typeface="Meiryo" pitchFamily="34" charset="0"/>
                <a:ea typeface="Meiryo" pitchFamily="34" charset="-122"/>
                <a:cs typeface="Meiryo" pitchFamily="34" charset="-120"/>
              </a:rPr>
              <a:t>🛡️ 安心して働ける環境を守る</a:t>
            </a:r>
            <a:endParaRPr lang="en-US" sz="1800" dirty="0"/>
          </a:p>
          <a:p>
            <a:pPr indent="0" marL="0">
              <a:buNone/>
            </a:pPr>
            <a:r>
              <a:rPr lang="en-US" sz="1800" dirty="0">
                <a:solidFill>
                  <a:srgbClr val="1A202C"/>
                </a:solidFill>
                <a:latin typeface="Meiryo" pitchFamily="34" charset="0"/>
                <a:ea typeface="Meiryo" pitchFamily="34" charset="-122"/>
                <a:cs typeface="Meiryo" pitchFamily="34" charset="-120"/>
              </a:rPr>
              <a:t>🚀 一般就労したときの権利を支える</a:t>
            </a:r>
            <a:endParaRPr lang="en-US" sz="1800" dirty="0"/>
          </a:p>
        </p:txBody>
      </p:sp>
      <p:sp>
        <p:nvSpPr>
          <p:cNvPr id="9" name="Shape 7"/>
          <p:cNvSpPr/>
          <p:nvPr/>
        </p:nvSpPr>
        <p:spPr>
          <a:xfrm>
            <a:off x="4754880" y="1188720"/>
            <a:ext cx="3657600" cy="3108960"/>
          </a:xfrm>
          <a:prstGeom prst="roundRect">
            <a:avLst/>
          </a:prstGeom>
          <a:solidFill>
            <a:srgbClr val="FFF5F5"/>
          </a:solidFill>
          <a:ln w="31750">
            <a:solidFill>
              <a:srgbClr val="D9383A"/>
            </a:solidFill>
            <a:prstDash val="solid"/>
          </a:ln>
        </p:spPr>
      </p:sp>
      <p:sp>
        <p:nvSpPr>
          <p:cNvPr id="10" name="Text 8"/>
          <p:cNvSpPr/>
          <p:nvPr/>
        </p:nvSpPr>
        <p:spPr>
          <a:xfrm>
            <a:off x="4937760" y="1371600"/>
            <a:ext cx="3291840" cy="457200"/>
          </a:xfrm>
          <a:prstGeom prst="rect">
            <a:avLst/>
          </a:prstGeom>
          <a:noFill/>
          <a:ln/>
        </p:spPr>
        <p:txBody>
          <a:bodyPr wrap="square" rtlCol="0" anchor="ctr"/>
          <a:lstStyle/>
          <a:p>
            <a:pPr algn="ctr" indent="0" marL="0">
              <a:buNone/>
            </a:pPr>
            <a:r>
              <a:rPr lang="en-US" sz="2400" b="1" dirty="0">
                <a:solidFill>
                  <a:srgbClr val="D9383A"/>
                </a:solidFill>
                <a:latin typeface="Meiryo" pitchFamily="34" charset="0"/>
                <a:ea typeface="Meiryo" pitchFamily="34" charset="-122"/>
                <a:cs typeface="Meiryo" pitchFamily="34" charset="-120"/>
              </a:rPr>
              <a:t>📜 行政書士</a:t>
            </a:r>
            <a:endParaRPr lang="en-US" sz="2400" dirty="0"/>
          </a:p>
        </p:txBody>
      </p:sp>
      <p:sp>
        <p:nvSpPr>
          <p:cNvPr id="11" name="Text 9"/>
          <p:cNvSpPr/>
          <p:nvPr/>
        </p:nvSpPr>
        <p:spPr>
          <a:xfrm>
            <a:off x="4937760" y="1920240"/>
            <a:ext cx="3291840" cy="365760"/>
          </a:xfrm>
          <a:prstGeom prst="rect">
            <a:avLst/>
          </a:prstGeom>
          <a:noFill/>
          <a:ln/>
        </p:spPr>
        <p:txBody>
          <a:bodyPr wrap="square" rtlCol="0" anchor="ctr"/>
          <a:lstStyle/>
          <a:p>
            <a:pPr algn="ctr" indent="0" marL="0">
              <a:buNone/>
            </a:pPr>
            <a:r>
              <a:rPr lang="en-US" sz="2000" b="1" dirty="0">
                <a:solidFill>
                  <a:srgbClr val="1A202C"/>
                </a:solidFill>
                <a:latin typeface="Meiryo" pitchFamily="34" charset="0"/>
                <a:ea typeface="Meiryo" pitchFamily="34" charset="-122"/>
                <a:cs typeface="Meiryo" pitchFamily="34" charset="-120"/>
              </a:rPr>
              <a:t>＝「契約書・書類」の専門家</a:t>
            </a:r>
            <a:endParaRPr lang="en-US" sz="2000" dirty="0"/>
          </a:p>
        </p:txBody>
      </p:sp>
      <p:sp>
        <p:nvSpPr>
          <p:cNvPr id="12" name="Text 10"/>
          <p:cNvSpPr/>
          <p:nvPr/>
        </p:nvSpPr>
        <p:spPr>
          <a:xfrm>
            <a:off x="5120640" y="2468880"/>
            <a:ext cx="2926080" cy="1554480"/>
          </a:xfrm>
          <a:prstGeom prst="rect">
            <a:avLst/>
          </a:prstGeom>
          <a:noFill/>
          <a:ln/>
        </p:spPr>
        <p:txBody>
          <a:bodyPr wrap="square" rtlCol="0" anchor="ctr"/>
          <a:lstStyle/>
          <a:p>
            <a:pPr indent="0" marL="0">
              <a:buNone/>
            </a:pPr>
            <a:r>
              <a:rPr lang="en-US" sz="1800" dirty="0">
                <a:solidFill>
                  <a:srgbClr val="1A202C"/>
                </a:solidFill>
                <a:latin typeface="Meiryo" pitchFamily="34" charset="0"/>
                <a:ea typeface="Meiryo" pitchFamily="34" charset="-122"/>
                <a:cs typeface="Meiryo" pitchFamily="34" charset="-120"/>
              </a:rPr>
              <a:t>🤝 ビジネスの約束を形にするプロ</a:t>
            </a:r>
            <a:endParaRPr lang="en-US" sz="1800" dirty="0"/>
          </a:p>
          <a:p>
            <a:pPr indent="0" marL="0">
              <a:buNone/>
            </a:pPr>
            <a:r>
              <a:rPr lang="en-US" sz="1800" dirty="0">
                <a:solidFill>
                  <a:srgbClr val="1A202C"/>
                </a:solidFill>
                <a:latin typeface="Meiryo" pitchFamily="34" charset="0"/>
                <a:ea typeface="Meiryo" pitchFamily="34" charset="-122"/>
                <a:cs typeface="Meiryo" pitchFamily="34" charset="-120"/>
              </a:rPr>
              <a:t>⚠️ トラブルを未然に防ぐ</a:t>
            </a:r>
            <a:endParaRPr lang="en-US" sz="1800" dirty="0"/>
          </a:p>
          <a:p>
            <a:pPr indent="0" marL="0">
              <a:buNone/>
            </a:pPr>
            <a:r>
              <a:rPr lang="en-US" sz="1800" dirty="0">
                <a:solidFill>
                  <a:srgbClr val="1A202C"/>
                </a:solidFill>
                <a:latin typeface="Meiryo" pitchFamily="34" charset="0"/>
                <a:ea typeface="Meiryo" pitchFamily="34" charset="-122"/>
                <a:cs typeface="Meiryo" pitchFamily="34" charset="-120"/>
              </a:rPr>
              <a:t>🎨 皆さんの作品を社会に届ける</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709160"/>
            <a:ext cx="5486400" cy="320040"/>
          </a:xfrm>
          <a:prstGeom prst="rect">
            <a:avLst/>
          </a:prstGeom>
          <a:noFill/>
          <a:ln/>
        </p:spPr>
        <p:txBody>
          <a:bodyPr wrap="square" rtlCol="0" anchor="ctr"/>
          <a:lstStyle/>
          <a:p>
            <a:pPr indent="0" marL="0">
              <a:buNone/>
            </a:pPr>
            <a:r>
              <a:rPr lang="en-US" sz="1200" dirty="0">
                <a:solidFill>
                  <a:srgbClr val="718096"/>
                </a:solidFill>
                <a:latin typeface="Meiryo" pitchFamily="34" charset="0"/>
                <a:ea typeface="Meiryo" pitchFamily="34" charset="-122"/>
                <a:cs typeface="Meiryo" pitchFamily="34" charset="-120"/>
              </a:rPr>
              <a:t>導入</a:t>
            </a:r>
            <a:endParaRPr lang="en-US" sz="1200" dirty="0"/>
          </a:p>
        </p:txBody>
      </p:sp>
      <p:sp>
        <p:nvSpPr>
          <p:cNvPr id="3" name="Text 1"/>
          <p:cNvSpPr/>
          <p:nvPr/>
        </p:nvSpPr>
        <p:spPr>
          <a:xfrm>
            <a:off x="7315200" y="4709160"/>
            <a:ext cx="1097280" cy="320040"/>
          </a:xfrm>
          <a:prstGeom prst="rect">
            <a:avLst/>
          </a:prstGeom>
          <a:noFill/>
          <a:ln/>
        </p:spPr>
        <p:txBody>
          <a:bodyPr wrap="square" rtlCol="0" anchor="ctr"/>
          <a:lstStyle/>
          <a:p>
            <a:pPr algn="r" indent="0" marL="0">
              <a:buNone/>
            </a:pPr>
            <a:r>
              <a:rPr lang="en-US" sz="1200" dirty="0">
                <a:solidFill>
                  <a:srgbClr val="718096"/>
                </a:solidFill>
                <a:latin typeface="Meiryo" pitchFamily="34" charset="0"/>
                <a:ea typeface="Meiryo" pitchFamily="34" charset="-122"/>
                <a:cs typeface="Meiryo" pitchFamily="34" charset="-120"/>
              </a:rPr>
              <a:t>3 / 30</a:t>
            </a:r>
            <a:endParaRPr lang="en-US" sz="1200" dirty="0"/>
          </a:p>
        </p:txBody>
      </p:sp>
      <p:sp>
        <p:nvSpPr>
          <p:cNvPr id="4" name="Text 2"/>
          <p:cNvSpPr/>
          <p:nvPr/>
        </p:nvSpPr>
        <p:spPr>
          <a:xfrm>
            <a:off x="731520" y="457200"/>
            <a:ext cx="7680960" cy="548640"/>
          </a:xfrm>
          <a:prstGeom prst="rect">
            <a:avLst/>
          </a:prstGeom>
          <a:noFill/>
          <a:ln/>
        </p:spPr>
        <p:txBody>
          <a:bodyPr wrap="square" rtlCol="0" anchor="ctr"/>
          <a:lstStyle/>
          <a:p>
            <a:pPr indent="0" marL="0">
              <a:buNone/>
            </a:pPr>
            <a:r>
              <a:rPr lang="en-US" sz="2600" b="1" dirty="0">
                <a:solidFill>
                  <a:srgbClr val="1A202C"/>
                </a:solidFill>
                <a:latin typeface="Meiryo" pitchFamily="34" charset="0"/>
                <a:ea typeface="Meiryo" pitchFamily="34" charset="-122"/>
                <a:cs typeface="Meiryo" pitchFamily="34" charset="-120"/>
              </a:rPr>
              <a:t>【クイズ】皆さんは今日、いくつ契約を結びましたか？</a:t>
            </a:r>
            <a:endParaRPr lang="en-US" sz="2600" dirty="0"/>
          </a:p>
        </p:txBody>
      </p:sp>
      <p:sp>
        <p:nvSpPr>
          <p:cNvPr id="5" name="Shape 3"/>
          <p:cNvSpPr/>
          <p:nvPr/>
        </p:nvSpPr>
        <p:spPr>
          <a:xfrm>
            <a:off x="731520" y="1188720"/>
            <a:ext cx="2377440" cy="2011680"/>
          </a:xfrm>
          <a:prstGeom prst="roundRect">
            <a:avLst/>
          </a:prstGeom>
          <a:solidFill>
            <a:srgbClr val="F8FAFC"/>
          </a:solidFill>
          <a:ln w="25400">
            <a:solidFill>
              <a:srgbClr val="E2E8F0"/>
            </a:solidFill>
            <a:prstDash val="solid"/>
          </a:ln>
        </p:spPr>
      </p:sp>
      <p:sp>
        <p:nvSpPr>
          <p:cNvPr id="6" name="Text 4"/>
          <p:cNvSpPr/>
          <p:nvPr/>
        </p:nvSpPr>
        <p:spPr>
          <a:xfrm>
            <a:off x="731520" y="1371600"/>
            <a:ext cx="2377440" cy="731520"/>
          </a:xfrm>
          <a:prstGeom prst="rect">
            <a:avLst/>
          </a:prstGeom>
          <a:noFill/>
          <a:ln/>
        </p:spPr>
        <p:txBody>
          <a:bodyPr wrap="square" rtlCol="0" anchor="ctr"/>
          <a:lstStyle/>
          <a:p>
            <a:pPr algn="ctr" indent="0" marL="0">
              <a:buNone/>
            </a:pPr>
            <a:r>
              <a:rPr lang="en-US" sz="4000" dirty="0">
                <a:solidFill>
                  <a:srgbClr val="000000"/>
                </a:solidFill>
              </a:rPr>
              <a:t>🏪</a:t>
            </a:r>
            <a:endParaRPr lang="en-US" sz="4000" dirty="0"/>
          </a:p>
        </p:txBody>
      </p:sp>
      <p:sp>
        <p:nvSpPr>
          <p:cNvPr id="7" name="Text 5"/>
          <p:cNvSpPr/>
          <p:nvPr/>
        </p:nvSpPr>
        <p:spPr>
          <a:xfrm>
            <a:off x="822960" y="2194560"/>
            <a:ext cx="2194560" cy="457200"/>
          </a:xfrm>
          <a:prstGeom prst="rect">
            <a:avLst/>
          </a:prstGeom>
          <a:noFill/>
          <a:ln/>
        </p:spPr>
        <p:txBody>
          <a:bodyPr wrap="square" rtlCol="0" anchor="ctr"/>
          <a:lstStyle/>
          <a:p>
            <a:pPr algn="ctr" indent="0" marL="0">
              <a:buNone/>
            </a:pPr>
            <a:r>
              <a:rPr lang="en-US" sz="1800" b="1" dirty="0">
                <a:solidFill>
                  <a:srgbClr val="1A202C"/>
                </a:solidFill>
                <a:latin typeface="Meiryo" pitchFamily="34" charset="0"/>
                <a:ea typeface="Meiryo" pitchFamily="34" charset="-122"/>
                <a:cs typeface="Meiryo" pitchFamily="34" charset="-120"/>
              </a:rPr>
              <a:t>コンビニの買い物</a:t>
            </a:r>
            <a:endParaRPr lang="en-US" sz="1800" dirty="0"/>
          </a:p>
        </p:txBody>
      </p:sp>
      <p:sp>
        <p:nvSpPr>
          <p:cNvPr id="8" name="Text 6"/>
          <p:cNvSpPr/>
          <p:nvPr/>
        </p:nvSpPr>
        <p:spPr>
          <a:xfrm>
            <a:off x="822960" y="2651760"/>
            <a:ext cx="2194560" cy="365760"/>
          </a:xfrm>
          <a:prstGeom prst="rect">
            <a:avLst/>
          </a:prstGeom>
          <a:noFill/>
          <a:ln/>
        </p:spPr>
        <p:txBody>
          <a:bodyPr wrap="square" rtlCol="0" anchor="ctr"/>
          <a:lstStyle/>
          <a:p>
            <a:pPr algn="ctr" indent="0" marL="0">
              <a:buNone/>
            </a:pPr>
            <a:r>
              <a:rPr lang="en-US" sz="1500" dirty="0">
                <a:solidFill>
                  <a:srgbClr val="718096"/>
                </a:solidFill>
                <a:latin typeface="Meiryo" pitchFamily="34" charset="0"/>
                <a:ea typeface="Meiryo" pitchFamily="34" charset="-122"/>
                <a:cs typeface="Meiryo" pitchFamily="34" charset="-120"/>
              </a:rPr>
              <a:t>売買契約</a:t>
            </a:r>
            <a:endParaRPr lang="en-US" sz="1500" dirty="0"/>
          </a:p>
        </p:txBody>
      </p:sp>
      <p:sp>
        <p:nvSpPr>
          <p:cNvPr id="9" name="Shape 7"/>
          <p:cNvSpPr/>
          <p:nvPr/>
        </p:nvSpPr>
        <p:spPr>
          <a:xfrm>
            <a:off x="3383280" y="1188720"/>
            <a:ext cx="2377440" cy="2011680"/>
          </a:xfrm>
          <a:prstGeom prst="roundRect">
            <a:avLst/>
          </a:prstGeom>
          <a:solidFill>
            <a:srgbClr val="F8FAFC"/>
          </a:solidFill>
          <a:ln w="25400">
            <a:solidFill>
              <a:srgbClr val="E2E8F0"/>
            </a:solidFill>
            <a:prstDash val="solid"/>
          </a:ln>
        </p:spPr>
      </p:sp>
      <p:sp>
        <p:nvSpPr>
          <p:cNvPr id="10" name="Text 8"/>
          <p:cNvSpPr/>
          <p:nvPr/>
        </p:nvSpPr>
        <p:spPr>
          <a:xfrm>
            <a:off x="3383280" y="1371600"/>
            <a:ext cx="2377440" cy="731520"/>
          </a:xfrm>
          <a:prstGeom prst="rect">
            <a:avLst/>
          </a:prstGeom>
          <a:noFill/>
          <a:ln/>
        </p:spPr>
        <p:txBody>
          <a:bodyPr wrap="square" rtlCol="0" anchor="ctr"/>
          <a:lstStyle/>
          <a:p>
            <a:pPr algn="ctr" indent="0" marL="0">
              <a:buNone/>
            </a:pPr>
            <a:r>
              <a:rPr lang="en-US" sz="4000" dirty="0">
                <a:solidFill>
                  <a:srgbClr val="000000"/>
                </a:solidFill>
              </a:rPr>
              <a:t>📱</a:t>
            </a:r>
            <a:endParaRPr lang="en-US" sz="4000" dirty="0"/>
          </a:p>
        </p:txBody>
      </p:sp>
      <p:sp>
        <p:nvSpPr>
          <p:cNvPr id="11" name="Text 9"/>
          <p:cNvSpPr/>
          <p:nvPr/>
        </p:nvSpPr>
        <p:spPr>
          <a:xfrm>
            <a:off x="3474720" y="2194560"/>
            <a:ext cx="2194560" cy="457200"/>
          </a:xfrm>
          <a:prstGeom prst="rect">
            <a:avLst/>
          </a:prstGeom>
          <a:noFill/>
          <a:ln/>
        </p:spPr>
        <p:txBody>
          <a:bodyPr wrap="square" rtlCol="0" anchor="ctr"/>
          <a:lstStyle/>
          <a:p>
            <a:pPr algn="ctr" indent="0" marL="0">
              <a:buNone/>
            </a:pPr>
            <a:r>
              <a:rPr lang="en-US" sz="1800" b="1" dirty="0">
                <a:solidFill>
                  <a:srgbClr val="1A202C"/>
                </a:solidFill>
                <a:latin typeface="Meiryo" pitchFamily="34" charset="0"/>
                <a:ea typeface="Meiryo" pitchFamily="34" charset="-122"/>
                <a:cs typeface="Meiryo" pitchFamily="34" charset="-120"/>
              </a:rPr>
              <a:t>スマホのアプリ利用</a:t>
            </a:r>
            <a:endParaRPr lang="en-US" sz="1800" dirty="0"/>
          </a:p>
        </p:txBody>
      </p:sp>
      <p:sp>
        <p:nvSpPr>
          <p:cNvPr id="12" name="Text 10"/>
          <p:cNvSpPr/>
          <p:nvPr/>
        </p:nvSpPr>
        <p:spPr>
          <a:xfrm>
            <a:off x="3474720" y="2651760"/>
            <a:ext cx="2194560" cy="365760"/>
          </a:xfrm>
          <a:prstGeom prst="rect">
            <a:avLst/>
          </a:prstGeom>
          <a:noFill/>
          <a:ln/>
        </p:spPr>
        <p:txBody>
          <a:bodyPr wrap="square" rtlCol="0" anchor="ctr"/>
          <a:lstStyle/>
          <a:p>
            <a:pPr algn="ctr" indent="0" marL="0">
              <a:buNone/>
            </a:pPr>
            <a:r>
              <a:rPr lang="en-US" sz="1500" dirty="0">
                <a:solidFill>
                  <a:srgbClr val="718096"/>
                </a:solidFill>
                <a:latin typeface="Meiryo" pitchFamily="34" charset="0"/>
                <a:ea typeface="Meiryo" pitchFamily="34" charset="-122"/>
                <a:cs typeface="Meiryo" pitchFamily="34" charset="-120"/>
              </a:rPr>
              <a:t>利用契約</a:t>
            </a:r>
            <a:endParaRPr lang="en-US" sz="1500" dirty="0"/>
          </a:p>
        </p:txBody>
      </p:sp>
      <p:sp>
        <p:nvSpPr>
          <p:cNvPr id="13" name="Shape 11"/>
          <p:cNvSpPr/>
          <p:nvPr/>
        </p:nvSpPr>
        <p:spPr>
          <a:xfrm>
            <a:off x="6035040" y="1188720"/>
            <a:ext cx="2377440" cy="2011680"/>
          </a:xfrm>
          <a:prstGeom prst="roundRect">
            <a:avLst/>
          </a:prstGeom>
          <a:solidFill>
            <a:srgbClr val="F8FAFC"/>
          </a:solidFill>
          <a:ln w="25400">
            <a:solidFill>
              <a:srgbClr val="E2E8F0"/>
            </a:solidFill>
            <a:prstDash val="solid"/>
          </a:ln>
        </p:spPr>
      </p:sp>
      <p:sp>
        <p:nvSpPr>
          <p:cNvPr id="14" name="Text 12"/>
          <p:cNvSpPr/>
          <p:nvPr/>
        </p:nvSpPr>
        <p:spPr>
          <a:xfrm>
            <a:off x="6035040" y="1371600"/>
            <a:ext cx="2377440" cy="731520"/>
          </a:xfrm>
          <a:prstGeom prst="rect">
            <a:avLst/>
          </a:prstGeom>
          <a:noFill/>
          <a:ln/>
        </p:spPr>
        <p:txBody>
          <a:bodyPr wrap="square" rtlCol="0" anchor="ctr"/>
          <a:lstStyle/>
          <a:p>
            <a:pPr algn="ctr" indent="0" marL="0">
              <a:buNone/>
            </a:pPr>
            <a:r>
              <a:rPr lang="en-US" sz="4000" dirty="0">
                <a:solidFill>
                  <a:srgbClr val="000000"/>
                </a:solidFill>
              </a:rPr>
              <a:t>🤖</a:t>
            </a:r>
            <a:endParaRPr lang="en-US" sz="4000" dirty="0"/>
          </a:p>
        </p:txBody>
      </p:sp>
      <p:sp>
        <p:nvSpPr>
          <p:cNvPr id="15" name="Text 13"/>
          <p:cNvSpPr/>
          <p:nvPr/>
        </p:nvSpPr>
        <p:spPr>
          <a:xfrm>
            <a:off x="6126480" y="2194560"/>
            <a:ext cx="2194560" cy="457200"/>
          </a:xfrm>
          <a:prstGeom prst="rect">
            <a:avLst/>
          </a:prstGeom>
          <a:noFill/>
          <a:ln/>
        </p:spPr>
        <p:txBody>
          <a:bodyPr wrap="square" rtlCol="0" anchor="ctr"/>
          <a:lstStyle/>
          <a:p>
            <a:pPr algn="ctr" indent="0" marL="0">
              <a:buNone/>
            </a:pPr>
            <a:r>
              <a:rPr lang="en-US" sz="1800" b="1" dirty="0">
                <a:solidFill>
                  <a:srgbClr val="1A202C"/>
                </a:solidFill>
                <a:latin typeface="Meiryo" pitchFamily="34" charset="0"/>
                <a:ea typeface="Meiryo" pitchFamily="34" charset="-122"/>
                <a:cs typeface="Meiryo" pitchFamily="34" charset="-120"/>
              </a:rPr>
              <a:t>画像生成AIの起動</a:t>
            </a:r>
            <a:endParaRPr lang="en-US" sz="1800" dirty="0"/>
          </a:p>
        </p:txBody>
      </p:sp>
      <p:sp>
        <p:nvSpPr>
          <p:cNvPr id="16" name="Text 14"/>
          <p:cNvSpPr/>
          <p:nvPr/>
        </p:nvSpPr>
        <p:spPr>
          <a:xfrm>
            <a:off x="6126480" y="2651760"/>
            <a:ext cx="2194560" cy="365760"/>
          </a:xfrm>
          <a:prstGeom prst="rect">
            <a:avLst/>
          </a:prstGeom>
          <a:noFill/>
          <a:ln/>
        </p:spPr>
        <p:txBody>
          <a:bodyPr wrap="square" rtlCol="0" anchor="ctr"/>
          <a:lstStyle/>
          <a:p>
            <a:pPr algn="ctr" indent="0" marL="0">
              <a:buNone/>
            </a:pPr>
            <a:r>
              <a:rPr lang="en-US" sz="1500" dirty="0">
                <a:solidFill>
                  <a:srgbClr val="718096"/>
                </a:solidFill>
                <a:latin typeface="Meiryo" pitchFamily="34" charset="0"/>
                <a:ea typeface="Meiryo" pitchFamily="34" charset="-122"/>
                <a:cs typeface="Meiryo" pitchFamily="34" charset="-120"/>
              </a:rPr>
              <a:t>AI利用規約同意</a:t>
            </a:r>
            <a:endParaRPr lang="en-US" sz="1500" dirty="0"/>
          </a:p>
        </p:txBody>
      </p:sp>
      <p:sp>
        <p:nvSpPr>
          <p:cNvPr id="17" name="Shape 15"/>
          <p:cNvSpPr/>
          <p:nvPr/>
        </p:nvSpPr>
        <p:spPr>
          <a:xfrm>
            <a:off x="731520" y="3383280"/>
            <a:ext cx="7680960" cy="1097280"/>
          </a:xfrm>
          <a:prstGeom prst="roundRect">
            <a:avLst/>
          </a:prstGeom>
          <a:solidFill>
            <a:srgbClr val="EBF8FF"/>
          </a:solidFill>
          <a:ln w="25400">
            <a:solidFill>
              <a:srgbClr val="1A73E8"/>
            </a:solidFill>
            <a:prstDash val="solid"/>
          </a:ln>
        </p:spPr>
      </p:sp>
      <p:sp>
        <p:nvSpPr>
          <p:cNvPr id="18" name="Text 16"/>
          <p:cNvSpPr/>
          <p:nvPr/>
        </p:nvSpPr>
        <p:spPr>
          <a:xfrm>
            <a:off x="914400" y="3520440"/>
            <a:ext cx="7315200" cy="411480"/>
          </a:xfrm>
          <a:prstGeom prst="rect">
            <a:avLst/>
          </a:prstGeom>
          <a:noFill/>
          <a:ln/>
        </p:spPr>
        <p:txBody>
          <a:bodyPr wrap="square" rtlCol="0" anchor="ctr"/>
          <a:lstStyle/>
          <a:p>
            <a:pPr algn="ctr" indent="0" marL="0">
              <a:buNone/>
            </a:pPr>
            <a:r>
              <a:rPr lang="en-US" sz="2200" b="1" dirty="0">
                <a:solidFill>
                  <a:srgbClr val="1A73E8"/>
                </a:solidFill>
                <a:latin typeface="Meiryo" pitchFamily="34" charset="0"/>
                <a:ea typeface="Meiryo" pitchFamily="34" charset="-122"/>
                <a:cs typeface="Meiryo" pitchFamily="34" charset="-120"/>
              </a:rPr>
              <a:t>👉 答え：全部が「契約」！皆さんは毎日すでに契約できています！</a:t>
            </a:r>
            <a:endParaRPr lang="en-US" sz="2200" dirty="0"/>
          </a:p>
        </p:txBody>
      </p:sp>
      <p:sp>
        <p:nvSpPr>
          <p:cNvPr id="19" name="Text 17"/>
          <p:cNvSpPr/>
          <p:nvPr/>
        </p:nvSpPr>
        <p:spPr>
          <a:xfrm>
            <a:off x="914400" y="3977640"/>
            <a:ext cx="7315200" cy="365760"/>
          </a:xfrm>
          <a:prstGeom prst="rect">
            <a:avLst/>
          </a:prstGeom>
          <a:noFill/>
          <a:ln/>
        </p:spPr>
        <p:txBody>
          <a:bodyPr wrap="square" rtlCol="0" anchor="ctr"/>
          <a:lstStyle/>
          <a:p>
            <a:pPr algn="ctr" indent="0" marL="0">
              <a:buNone/>
            </a:pPr>
            <a:r>
              <a:rPr lang="en-US" sz="1800" dirty="0">
                <a:solidFill>
                  <a:srgbClr val="1A202C"/>
                </a:solidFill>
                <a:latin typeface="Meiryo" pitchFamily="34" charset="0"/>
                <a:ea typeface="Meiryo" pitchFamily="34" charset="-122"/>
                <a:cs typeface="Meiryo" pitchFamily="34" charset="-120"/>
              </a:rPr>
              <a:t>★「知らなくても皆さんはちゃんと契約できている。今日はそれに名前をつけるだけ」</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709160"/>
            <a:ext cx="5486400" cy="320040"/>
          </a:xfrm>
          <a:prstGeom prst="rect">
            <a:avLst/>
          </a:prstGeom>
          <a:noFill/>
          <a:ln/>
        </p:spPr>
        <p:txBody>
          <a:bodyPr wrap="square" rtlCol="0" anchor="ctr"/>
          <a:lstStyle/>
          <a:p>
            <a:pPr indent="0" marL="0">
              <a:buNone/>
            </a:pPr>
            <a:r>
              <a:rPr lang="en-US" sz="1200" dirty="0">
                <a:solidFill>
                  <a:srgbClr val="718096"/>
                </a:solidFill>
                <a:latin typeface="Meiryo" pitchFamily="34" charset="0"/>
                <a:ea typeface="Meiryo" pitchFamily="34" charset="-122"/>
                <a:cs typeface="Meiryo" pitchFamily="34" charset="-120"/>
              </a:rPr>
              <a:t>第1部 契約の基本 ― 売買契約</a:t>
            </a:r>
            <a:endParaRPr lang="en-US" sz="1200" dirty="0"/>
          </a:p>
        </p:txBody>
      </p:sp>
      <p:sp>
        <p:nvSpPr>
          <p:cNvPr id="3" name="Text 1"/>
          <p:cNvSpPr/>
          <p:nvPr/>
        </p:nvSpPr>
        <p:spPr>
          <a:xfrm>
            <a:off x="7315200" y="4709160"/>
            <a:ext cx="1097280" cy="320040"/>
          </a:xfrm>
          <a:prstGeom prst="rect">
            <a:avLst/>
          </a:prstGeom>
          <a:noFill/>
          <a:ln/>
        </p:spPr>
        <p:txBody>
          <a:bodyPr wrap="square" rtlCol="0" anchor="ctr"/>
          <a:lstStyle/>
          <a:p>
            <a:pPr algn="r" indent="0" marL="0">
              <a:buNone/>
            </a:pPr>
            <a:r>
              <a:rPr lang="en-US" sz="1200" dirty="0">
                <a:solidFill>
                  <a:srgbClr val="718096"/>
                </a:solidFill>
                <a:latin typeface="Meiryo" pitchFamily="34" charset="0"/>
                <a:ea typeface="Meiryo" pitchFamily="34" charset="-122"/>
                <a:cs typeface="Meiryo" pitchFamily="34" charset="-120"/>
              </a:rPr>
              <a:t>4 / 30</a:t>
            </a:r>
            <a:endParaRPr lang="en-US" sz="1200" dirty="0"/>
          </a:p>
        </p:txBody>
      </p:sp>
      <p:sp>
        <p:nvSpPr>
          <p:cNvPr id="4" name="Text 2"/>
          <p:cNvSpPr/>
          <p:nvPr/>
        </p:nvSpPr>
        <p:spPr>
          <a:xfrm>
            <a:off x="731520" y="457200"/>
            <a:ext cx="7680960" cy="548640"/>
          </a:xfrm>
          <a:prstGeom prst="rect">
            <a:avLst/>
          </a:prstGeom>
          <a:noFill/>
          <a:ln/>
        </p:spPr>
        <p:txBody>
          <a:bodyPr wrap="square" rtlCol="0" anchor="ctr"/>
          <a:lstStyle/>
          <a:p>
            <a:pPr indent="0" marL="0">
              <a:buNone/>
            </a:pPr>
            <a:r>
              <a:rPr lang="en-US" sz="2600" b="1" dirty="0">
                <a:solidFill>
                  <a:srgbClr val="1A202C"/>
                </a:solidFill>
                <a:latin typeface="Meiryo" pitchFamily="34" charset="0"/>
                <a:ea typeface="Meiryo" pitchFamily="34" charset="-122"/>
                <a:cs typeface="Meiryo" pitchFamily="34" charset="-120"/>
              </a:rPr>
              <a:t>契約ってなんだろう？ ―「約束」の基本ルール</a:t>
            </a:r>
            <a:endParaRPr lang="en-US" sz="2600" dirty="0"/>
          </a:p>
        </p:txBody>
      </p:sp>
      <p:sp>
        <p:nvSpPr>
          <p:cNvPr id="5" name="Shape 3"/>
          <p:cNvSpPr/>
          <p:nvPr/>
        </p:nvSpPr>
        <p:spPr>
          <a:xfrm>
            <a:off x="731520" y="1188720"/>
            <a:ext cx="3474720" cy="1828800"/>
          </a:xfrm>
          <a:prstGeom prst="roundRect">
            <a:avLst/>
          </a:prstGeom>
          <a:solidFill>
            <a:srgbClr val="F8FAFC"/>
          </a:solidFill>
          <a:ln w="25400">
            <a:solidFill>
              <a:srgbClr val="1A73E8"/>
            </a:solidFill>
            <a:prstDash val="solid"/>
          </a:ln>
        </p:spPr>
      </p:sp>
      <p:sp>
        <p:nvSpPr>
          <p:cNvPr id="6" name="Text 4"/>
          <p:cNvSpPr/>
          <p:nvPr/>
        </p:nvSpPr>
        <p:spPr>
          <a:xfrm>
            <a:off x="914400" y="1371600"/>
            <a:ext cx="3108960" cy="365760"/>
          </a:xfrm>
          <a:prstGeom prst="rect">
            <a:avLst/>
          </a:prstGeom>
          <a:noFill/>
          <a:ln/>
        </p:spPr>
        <p:txBody>
          <a:bodyPr wrap="square" rtlCol="0" anchor="ctr"/>
          <a:lstStyle/>
          <a:p>
            <a:pPr algn="ctr" indent="0" marL="0">
              <a:buNone/>
            </a:pPr>
            <a:r>
              <a:rPr lang="en-US" sz="2000" b="1" dirty="0">
                <a:solidFill>
                  <a:srgbClr val="1A202C"/>
                </a:solidFill>
                <a:latin typeface="Meiryo" pitchFamily="34" charset="0"/>
                <a:ea typeface="Meiryo" pitchFamily="34" charset="-122"/>
                <a:cs typeface="Meiryo" pitchFamily="34" charset="-120"/>
              </a:rPr>
              <a:t>🛒 買主（お客さん）</a:t>
            </a:r>
            <a:endParaRPr lang="en-US" sz="2000" dirty="0"/>
          </a:p>
        </p:txBody>
      </p:sp>
      <p:sp>
        <p:nvSpPr>
          <p:cNvPr id="7" name="Text 5"/>
          <p:cNvSpPr/>
          <p:nvPr/>
        </p:nvSpPr>
        <p:spPr>
          <a:xfrm>
            <a:off x="914400" y="1828800"/>
            <a:ext cx="3108960" cy="822960"/>
          </a:xfrm>
          <a:prstGeom prst="rect">
            <a:avLst/>
          </a:prstGeom>
          <a:noFill/>
          <a:ln/>
        </p:spPr>
        <p:txBody>
          <a:bodyPr wrap="square" rtlCol="0" anchor="ctr"/>
          <a:lstStyle/>
          <a:p>
            <a:pPr algn="ctr" indent="0" marL="0">
              <a:buNone/>
            </a:pPr>
            <a:r>
              <a:rPr lang="en-US" sz="2200" b="1" dirty="0">
                <a:solidFill>
                  <a:srgbClr val="1A73E8"/>
                </a:solidFill>
                <a:latin typeface="Meiryo" pitchFamily="34" charset="0"/>
                <a:ea typeface="Meiryo" pitchFamily="34" charset="-122"/>
                <a:cs typeface="Meiryo" pitchFamily="34" charset="-120"/>
              </a:rPr>
              <a:t>「これください！」</a:t>
            </a:r>
            <a:endParaRPr lang="en-US" sz="2200" dirty="0"/>
          </a:p>
          <a:p>
            <a:pPr algn="ctr" indent="0" marL="0">
              <a:buNone/>
            </a:pPr>
            <a:r>
              <a:rPr lang="en-US" sz="2200" b="1" dirty="0">
                <a:solidFill>
                  <a:srgbClr val="1A73E8"/>
                </a:solidFill>
                <a:latin typeface="Meiryo" pitchFamily="34" charset="0"/>
                <a:ea typeface="Meiryo" pitchFamily="34" charset="-122"/>
                <a:cs typeface="Meiryo" pitchFamily="34" charset="-120"/>
              </a:rPr>
              <a:t>（申込み：もうしこみ）</a:t>
            </a:r>
            <a:endParaRPr lang="en-US" sz="2200" dirty="0"/>
          </a:p>
        </p:txBody>
      </p:sp>
      <p:sp>
        <p:nvSpPr>
          <p:cNvPr id="8" name="Text 6"/>
          <p:cNvSpPr/>
          <p:nvPr/>
        </p:nvSpPr>
        <p:spPr>
          <a:xfrm>
            <a:off x="4206240" y="1554480"/>
            <a:ext cx="731520" cy="914400"/>
          </a:xfrm>
          <a:prstGeom prst="rect">
            <a:avLst/>
          </a:prstGeom>
          <a:noFill/>
          <a:ln/>
        </p:spPr>
        <p:txBody>
          <a:bodyPr wrap="square" rtlCol="0" anchor="ctr"/>
          <a:lstStyle/>
          <a:p>
            <a:pPr algn="ctr" indent="0" marL="0">
              <a:buNone/>
            </a:pPr>
            <a:r>
              <a:rPr lang="en-US" sz="2400" b="1" dirty="0">
                <a:solidFill>
                  <a:srgbClr val="1A73E8"/>
                </a:solidFill>
                <a:latin typeface="Meiryo" pitchFamily="34" charset="0"/>
                <a:ea typeface="Meiryo" pitchFamily="34" charset="-122"/>
                <a:cs typeface="Meiryo" pitchFamily="34" charset="-120"/>
              </a:rPr>
              <a:t>🤝</a:t>
            </a:r>
            <a:endParaRPr lang="en-US" sz="2400" dirty="0"/>
          </a:p>
          <a:p>
            <a:pPr algn="ctr" indent="0" marL="0">
              <a:buNone/>
            </a:pPr>
            <a:r>
              <a:rPr lang="en-US" sz="2400" b="1" dirty="0">
                <a:solidFill>
                  <a:srgbClr val="1A73E8"/>
                </a:solidFill>
                <a:latin typeface="Meiryo" pitchFamily="34" charset="0"/>
                <a:ea typeface="Meiryo" pitchFamily="34" charset="-122"/>
                <a:cs typeface="Meiryo" pitchFamily="34" charset="-120"/>
              </a:rPr>
              <a:t>合意！</a:t>
            </a:r>
            <a:endParaRPr lang="en-US" sz="2400" dirty="0"/>
          </a:p>
        </p:txBody>
      </p:sp>
      <p:sp>
        <p:nvSpPr>
          <p:cNvPr id="9" name="Shape 7"/>
          <p:cNvSpPr/>
          <p:nvPr/>
        </p:nvSpPr>
        <p:spPr>
          <a:xfrm>
            <a:off x="4937760" y="1188720"/>
            <a:ext cx="3474720" cy="1828800"/>
          </a:xfrm>
          <a:prstGeom prst="roundRect">
            <a:avLst/>
          </a:prstGeom>
          <a:solidFill>
            <a:srgbClr val="F8FAFC"/>
          </a:solidFill>
          <a:ln w="25400">
            <a:solidFill>
              <a:srgbClr val="1A73E8"/>
            </a:solidFill>
            <a:prstDash val="solid"/>
          </a:ln>
        </p:spPr>
      </p:sp>
      <p:sp>
        <p:nvSpPr>
          <p:cNvPr id="10" name="Text 8"/>
          <p:cNvSpPr/>
          <p:nvPr/>
        </p:nvSpPr>
        <p:spPr>
          <a:xfrm>
            <a:off x="5120640" y="1371600"/>
            <a:ext cx="3108960" cy="365760"/>
          </a:xfrm>
          <a:prstGeom prst="rect">
            <a:avLst/>
          </a:prstGeom>
          <a:noFill/>
          <a:ln/>
        </p:spPr>
        <p:txBody>
          <a:bodyPr wrap="square" rtlCol="0" anchor="ctr"/>
          <a:lstStyle/>
          <a:p>
            <a:pPr algn="ctr" indent="0" marL="0">
              <a:buNone/>
            </a:pPr>
            <a:r>
              <a:rPr lang="en-US" sz="2000" b="1" dirty="0">
                <a:solidFill>
                  <a:srgbClr val="1A202C"/>
                </a:solidFill>
                <a:latin typeface="Meiryo" pitchFamily="34" charset="0"/>
                <a:ea typeface="Meiryo" pitchFamily="34" charset="-122"/>
                <a:cs typeface="Meiryo" pitchFamily="34" charset="-120"/>
              </a:rPr>
              <a:t>🏪 売主（お店）</a:t>
            </a:r>
            <a:endParaRPr lang="en-US" sz="2000" dirty="0"/>
          </a:p>
        </p:txBody>
      </p:sp>
      <p:sp>
        <p:nvSpPr>
          <p:cNvPr id="11" name="Text 9"/>
          <p:cNvSpPr/>
          <p:nvPr/>
        </p:nvSpPr>
        <p:spPr>
          <a:xfrm>
            <a:off x="5120640" y="1828800"/>
            <a:ext cx="3108960" cy="822960"/>
          </a:xfrm>
          <a:prstGeom prst="rect">
            <a:avLst/>
          </a:prstGeom>
          <a:noFill/>
          <a:ln/>
        </p:spPr>
        <p:txBody>
          <a:bodyPr wrap="square" rtlCol="0" anchor="ctr"/>
          <a:lstStyle/>
          <a:p>
            <a:pPr algn="ctr" indent="0" marL="0">
              <a:buNone/>
            </a:pPr>
            <a:r>
              <a:rPr lang="en-US" sz="2200" b="1" dirty="0">
                <a:solidFill>
                  <a:srgbClr val="1A73E8"/>
                </a:solidFill>
                <a:latin typeface="Meiryo" pitchFamily="34" charset="0"/>
                <a:ea typeface="Meiryo" pitchFamily="34" charset="-122"/>
                <a:cs typeface="Meiryo" pitchFamily="34" charset="-120"/>
              </a:rPr>
              <a:t>「はい、どうぞ！」</a:t>
            </a:r>
            <a:endParaRPr lang="en-US" sz="2200" dirty="0"/>
          </a:p>
          <a:p>
            <a:pPr algn="ctr" indent="0" marL="0">
              <a:buNone/>
            </a:pPr>
            <a:r>
              <a:rPr lang="en-US" sz="2200" b="1" dirty="0">
                <a:solidFill>
                  <a:srgbClr val="1A73E8"/>
                </a:solidFill>
                <a:latin typeface="Meiryo" pitchFamily="34" charset="0"/>
                <a:ea typeface="Meiryo" pitchFamily="34" charset="-122"/>
                <a:cs typeface="Meiryo" pitchFamily="34" charset="-120"/>
              </a:rPr>
              <a:t>（承諾：しょうだく）</a:t>
            </a:r>
            <a:endParaRPr lang="en-US" sz="2200" dirty="0"/>
          </a:p>
        </p:txBody>
      </p:sp>
      <p:sp>
        <p:nvSpPr>
          <p:cNvPr id="12" name="Shape 10"/>
          <p:cNvSpPr/>
          <p:nvPr/>
        </p:nvSpPr>
        <p:spPr>
          <a:xfrm>
            <a:off x="731520" y="3200400"/>
            <a:ext cx="7680960" cy="1188720"/>
          </a:xfrm>
          <a:prstGeom prst="roundRect">
            <a:avLst/>
          </a:prstGeom>
          <a:solidFill>
            <a:srgbClr val="EBF8FF"/>
          </a:solidFill>
          <a:ln w="25400">
            <a:solidFill>
              <a:srgbClr val="BEE3F8"/>
            </a:solidFill>
            <a:prstDash val="solid"/>
          </a:ln>
        </p:spPr>
      </p:sp>
      <p:sp>
        <p:nvSpPr>
          <p:cNvPr id="13" name="Text 11"/>
          <p:cNvSpPr/>
          <p:nvPr/>
        </p:nvSpPr>
        <p:spPr>
          <a:xfrm>
            <a:off x="914400" y="3383280"/>
            <a:ext cx="7315200" cy="411480"/>
          </a:xfrm>
          <a:prstGeom prst="rect">
            <a:avLst/>
          </a:prstGeom>
          <a:noFill/>
          <a:ln/>
        </p:spPr>
        <p:txBody>
          <a:bodyPr wrap="square" rtlCol="0" anchor="ctr"/>
          <a:lstStyle/>
          <a:p>
            <a:pPr algn="ctr" indent="0" marL="0">
              <a:buNone/>
            </a:pPr>
            <a:r>
              <a:rPr lang="en-US" sz="2200" b="1" dirty="0">
                <a:solidFill>
                  <a:srgbClr val="1A73E8"/>
                </a:solidFill>
                <a:latin typeface="Meiryo" pitchFamily="34" charset="0"/>
                <a:ea typeface="Meiryo" pitchFamily="34" charset="-122"/>
                <a:cs typeface="Meiryo" pitchFamily="34" charset="-120"/>
              </a:rPr>
              <a:t>💡 書面（契約書）がなくても口頭で成立する！ ＝「諾成契約（だくせい）」</a:t>
            </a:r>
            <a:endParaRPr lang="en-US" sz="2200" dirty="0"/>
          </a:p>
        </p:txBody>
      </p:sp>
      <p:sp>
        <p:nvSpPr>
          <p:cNvPr id="14" name="Text 12"/>
          <p:cNvSpPr/>
          <p:nvPr/>
        </p:nvSpPr>
        <p:spPr>
          <a:xfrm>
            <a:off x="914400" y="3840480"/>
            <a:ext cx="7315200" cy="457200"/>
          </a:xfrm>
          <a:prstGeom prst="rect">
            <a:avLst/>
          </a:prstGeom>
          <a:noFill/>
          <a:ln/>
        </p:spPr>
        <p:txBody>
          <a:bodyPr wrap="square" rtlCol="0" anchor="ctr"/>
          <a:lstStyle/>
          <a:p>
            <a:pPr algn="ctr" indent="0" marL="0">
              <a:buNone/>
            </a:pPr>
            <a:r>
              <a:rPr lang="en-US" sz="1700" dirty="0">
                <a:solidFill>
                  <a:srgbClr val="1A202C"/>
                </a:solidFill>
                <a:latin typeface="Meiryo" pitchFamily="34" charset="0"/>
                <a:ea typeface="Meiryo" pitchFamily="34" charset="-122"/>
                <a:cs typeface="Meiryo" pitchFamily="34" charset="-120"/>
              </a:rPr>
              <a:t>・ハンコや契約書がなくても、お互いの気持ちが合致した瞬間に約束成立！</a:t>
            </a:r>
            <a:endParaRPr lang="en-US" sz="1700" dirty="0"/>
          </a:p>
          <a:p>
            <a:pPr algn="ctr" indent="0" marL="0">
              <a:buNone/>
            </a:pPr>
            <a:r>
              <a:rPr lang="en-US" sz="1700" dirty="0">
                <a:solidFill>
                  <a:srgbClr val="1A202C"/>
                </a:solidFill>
                <a:latin typeface="Meiryo" pitchFamily="34" charset="0"/>
                <a:ea typeface="Meiryo" pitchFamily="34" charset="-122"/>
                <a:cs typeface="Meiryo" pitchFamily="34" charset="-120"/>
              </a:rPr>
              <a:t>・レシートは契約書ではなく、「確かにお金を支払いました」という後からの証拠です。</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709160"/>
            <a:ext cx="5486400" cy="320040"/>
          </a:xfrm>
          <a:prstGeom prst="rect">
            <a:avLst/>
          </a:prstGeom>
          <a:noFill/>
          <a:ln/>
        </p:spPr>
        <p:txBody>
          <a:bodyPr wrap="square" rtlCol="0" anchor="ctr"/>
          <a:lstStyle/>
          <a:p>
            <a:pPr indent="0" marL="0">
              <a:buNone/>
            </a:pPr>
            <a:r>
              <a:rPr lang="en-US" sz="1200" dirty="0">
                <a:solidFill>
                  <a:srgbClr val="718096"/>
                </a:solidFill>
                <a:latin typeface="Meiryo" pitchFamily="34" charset="0"/>
                <a:ea typeface="Meiryo" pitchFamily="34" charset="-122"/>
                <a:cs typeface="Meiryo" pitchFamily="34" charset="-120"/>
              </a:rPr>
              <a:t>第1部 契約の基本 ― 売買契約</a:t>
            </a:r>
            <a:endParaRPr lang="en-US" sz="1200" dirty="0"/>
          </a:p>
        </p:txBody>
      </p:sp>
      <p:sp>
        <p:nvSpPr>
          <p:cNvPr id="3" name="Text 1"/>
          <p:cNvSpPr/>
          <p:nvPr/>
        </p:nvSpPr>
        <p:spPr>
          <a:xfrm>
            <a:off x="7315200" y="4709160"/>
            <a:ext cx="1097280" cy="320040"/>
          </a:xfrm>
          <a:prstGeom prst="rect">
            <a:avLst/>
          </a:prstGeom>
          <a:noFill/>
          <a:ln/>
        </p:spPr>
        <p:txBody>
          <a:bodyPr wrap="square" rtlCol="0" anchor="ctr"/>
          <a:lstStyle/>
          <a:p>
            <a:pPr algn="r" indent="0" marL="0">
              <a:buNone/>
            </a:pPr>
            <a:r>
              <a:rPr lang="en-US" sz="1200" dirty="0">
                <a:solidFill>
                  <a:srgbClr val="718096"/>
                </a:solidFill>
                <a:latin typeface="Meiryo" pitchFamily="34" charset="0"/>
                <a:ea typeface="Meiryo" pitchFamily="34" charset="-122"/>
                <a:cs typeface="Meiryo" pitchFamily="34" charset="-120"/>
              </a:rPr>
              <a:t>5 / 30</a:t>
            </a:r>
            <a:endParaRPr lang="en-US" sz="1200" dirty="0"/>
          </a:p>
        </p:txBody>
      </p:sp>
      <p:sp>
        <p:nvSpPr>
          <p:cNvPr id="4" name="Text 2"/>
          <p:cNvSpPr/>
          <p:nvPr/>
        </p:nvSpPr>
        <p:spPr>
          <a:xfrm>
            <a:off x="731520" y="457200"/>
            <a:ext cx="7680960" cy="548640"/>
          </a:xfrm>
          <a:prstGeom prst="rect">
            <a:avLst/>
          </a:prstGeom>
          <a:noFill/>
          <a:ln/>
        </p:spPr>
        <p:txBody>
          <a:bodyPr wrap="square" rtlCol="0" anchor="ctr"/>
          <a:lstStyle/>
          <a:p>
            <a:pPr indent="0" marL="0">
              <a:buNone/>
            </a:pPr>
            <a:r>
              <a:rPr lang="en-US" sz="2600" b="1" dirty="0">
                <a:solidFill>
                  <a:srgbClr val="1A202C"/>
                </a:solidFill>
                <a:latin typeface="Meiryo" pitchFamily="34" charset="0"/>
                <a:ea typeface="Meiryo" pitchFamily="34" charset="-122"/>
                <a:cs typeface="Meiryo" pitchFamily="34" charset="-120"/>
              </a:rPr>
              <a:t>売買契約の3つの性質（3大タグ）</a:t>
            </a:r>
            <a:endParaRPr lang="en-US" sz="2600" dirty="0"/>
          </a:p>
        </p:txBody>
      </p:sp>
      <p:sp>
        <p:nvSpPr>
          <p:cNvPr id="5" name="Shape 3"/>
          <p:cNvSpPr/>
          <p:nvPr/>
        </p:nvSpPr>
        <p:spPr>
          <a:xfrm>
            <a:off x="731520" y="1188720"/>
            <a:ext cx="2377440" cy="3108960"/>
          </a:xfrm>
          <a:prstGeom prst="roundRect">
            <a:avLst/>
          </a:prstGeom>
          <a:solidFill>
            <a:srgbClr val="EBF8FF"/>
          </a:solidFill>
          <a:ln w="25400">
            <a:solidFill>
              <a:srgbClr val="1A73E8"/>
            </a:solidFill>
            <a:prstDash val="solid"/>
          </a:ln>
        </p:spPr>
      </p:sp>
      <p:sp>
        <p:nvSpPr>
          <p:cNvPr id="6" name="Text 4"/>
          <p:cNvSpPr/>
          <p:nvPr/>
        </p:nvSpPr>
        <p:spPr>
          <a:xfrm>
            <a:off x="731520" y="1371600"/>
            <a:ext cx="2377440" cy="640080"/>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7" name="Text 5"/>
          <p:cNvSpPr/>
          <p:nvPr/>
        </p:nvSpPr>
        <p:spPr>
          <a:xfrm>
            <a:off x="822960" y="2103120"/>
            <a:ext cx="2194560" cy="411480"/>
          </a:xfrm>
          <a:prstGeom prst="rect">
            <a:avLst/>
          </a:prstGeom>
          <a:noFill/>
          <a:ln/>
        </p:spPr>
        <p:txBody>
          <a:bodyPr wrap="square" rtlCol="0" anchor="ctr"/>
          <a:lstStyle/>
          <a:p>
            <a:pPr algn="ctr" indent="0" marL="0">
              <a:buNone/>
            </a:pPr>
            <a:r>
              <a:rPr lang="en-US" sz="2000" b="1" dirty="0">
                <a:solidFill>
                  <a:srgbClr val="1A73E8"/>
                </a:solidFill>
                <a:latin typeface="Meiryo" pitchFamily="34" charset="0"/>
                <a:ea typeface="Meiryo" pitchFamily="34" charset="-122"/>
                <a:cs typeface="Meiryo" pitchFamily="34" charset="-120"/>
              </a:rPr>
              <a:t>双務（そうむ）</a:t>
            </a:r>
            <a:endParaRPr lang="en-US" sz="2000" dirty="0"/>
          </a:p>
        </p:txBody>
      </p:sp>
      <p:sp>
        <p:nvSpPr>
          <p:cNvPr id="8" name="Text 6"/>
          <p:cNvSpPr/>
          <p:nvPr/>
        </p:nvSpPr>
        <p:spPr>
          <a:xfrm>
            <a:off x="822960" y="2514600"/>
            <a:ext cx="2194560" cy="365760"/>
          </a:xfrm>
          <a:prstGeom prst="rect">
            <a:avLst/>
          </a:prstGeom>
          <a:noFill/>
          <a:ln/>
        </p:spPr>
        <p:txBody>
          <a:bodyPr wrap="square" rtlCol="0" anchor="ctr"/>
          <a:lstStyle/>
          <a:p>
            <a:pPr algn="ctr" indent="0" marL="0">
              <a:buNone/>
            </a:pPr>
            <a:r>
              <a:rPr lang="en-US" sz="1600" b="1" dirty="0">
                <a:solidFill>
                  <a:srgbClr val="1A202C"/>
                </a:solidFill>
                <a:latin typeface="Meiryo" pitchFamily="34" charset="0"/>
                <a:ea typeface="Meiryo" pitchFamily="34" charset="-122"/>
                <a:cs typeface="Meiryo" pitchFamily="34" charset="-120"/>
              </a:rPr>
              <a:t>お互いに義務がある</a:t>
            </a:r>
            <a:endParaRPr lang="en-US" sz="1600" dirty="0"/>
          </a:p>
        </p:txBody>
      </p:sp>
      <p:sp>
        <p:nvSpPr>
          <p:cNvPr id="9" name="Text 7"/>
          <p:cNvSpPr/>
          <p:nvPr/>
        </p:nvSpPr>
        <p:spPr>
          <a:xfrm>
            <a:off x="822960" y="2926080"/>
            <a:ext cx="2194560" cy="1188720"/>
          </a:xfrm>
          <a:prstGeom prst="rect">
            <a:avLst/>
          </a:prstGeom>
          <a:noFill/>
          <a:ln/>
        </p:spPr>
        <p:txBody>
          <a:bodyPr wrap="square" rtlCol="0" anchor="ctr"/>
          <a:lstStyle/>
          <a:p>
            <a:pPr algn="ctr" indent="0" marL="0">
              <a:buNone/>
            </a:pPr>
            <a:r>
              <a:rPr lang="en-US" sz="1500" dirty="0">
                <a:solidFill>
                  <a:srgbClr val="1A202C"/>
                </a:solidFill>
                <a:latin typeface="Meiryo" pitchFamily="34" charset="0"/>
                <a:ea typeface="Meiryo" pitchFamily="34" charset="-122"/>
                <a:cs typeface="Meiryo" pitchFamily="34" charset="-120"/>
              </a:rPr>
              <a:t>売主：物を渡す義務</a:t>
            </a:r>
            <a:endParaRPr lang="en-US" sz="1500" dirty="0"/>
          </a:p>
          <a:p>
            <a:pPr algn="ctr" indent="0" marL="0">
              <a:buNone/>
            </a:pPr>
            <a:r>
              <a:rPr lang="en-US" sz="1500" dirty="0">
                <a:solidFill>
                  <a:srgbClr val="1A202C"/>
                </a:solidFill>
                <a:latin typeface="Meiryo" pitchFamily="34" charset="0"/>
                <a:ea typeface="Meiryo" pitchFamily="34" charset="-122"/>
                <a:cs typeface="Meiryo" pitchFamily="34" charset="-120"/>
              </a:rPr>
              <a:t>買主：代金を払う義務</a:t>
            </a:r>
            <a:endParaRPr lang="en-US" sz="1500" dirty="0"/>
          </a:p>
          <a:p>
            <a:pPr algn="ctr" indent="0" marL="0">
              <a:buNone/>
            </a:pPr>
            <a:r>
              <a:rPr lang="en-US" sz="1500" dirty="0">
                <a:solidFill>
                  <a:srgbClr val="1A202C"/>
                </a:solidFill>
                <a:latin typeface="Meiryo" pitchFamily="34" charset="0"/>
                <a:ea typeface="Meiryo" pitchFamily="34" charset="-122"/>
                <a:cs typeface="Meiryo" pitchFamily="34" charset="-120"/>
              </a:rPr>
              <a:t>（片方だけじゃない！）</a:t>
            </a:r>
            <a:endParaRPr lang="en-US" sz="1500" dirty="0"/>
          </a:p>
        </p:txBody>
      </p:sp>
      <p:sp>
        <p:nvSpPr>
          <p:cNvPr id="10" name="Shape 8"/>
          <p:cNvSpPr/>
          <p:nvPr/>
        </p:nvSpPr>
        <p:spPr>
          <a:xfrm>
            <a:off x="3383280" y="1188720"/>
            <a:ext cx="2377440" cy="3108960"/>
          </a:xfrm>
          <a:prstGeom prst="roundRect">
            <a:avLst/>
          </a:prstGeom>
          <a:solidFill>
            <a:srgbClr val="EBF8FF"/>
          </a:solidFill>
          <a:ln w="25400">
            <a:solidFill>
              <a:srgbClr val="1A73E8"/>
            </a:solidFill>
            <a:prstDash val="solid"/>
          </a:ln>
        </p:spPr>
      </p:sp>
      <p:sp>
        <p:nvSpPr>
          <p:cNvPr id="11" name="Text 9"/>
          <p:cNvSpPr/>
          <p:nvPr/>
        </p:nvSpPr>
        <p:spPr>
          <a:xfrm>
            <a:off x="3383280" y="1371600"/>
            <a:ext cx="2377440" cy="640080"/>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12" name="Text 10"/>
          <p:cNvSpPr/>
          <p:nvPr/>
        </p:nvSpPr>
        <p:spPr>
          <a:xfrm>
            <a:off x="3474720" y="2103120"/>
            <a:ext cx="2194560" cy="411480"/>
          </a:xfrm>
          <a:prstGeom prst="rect">
            <a:avLst/>
          </a:prstGeom>
          <a:noFill/>
          <a:ln/>
        </p:spPr>
        <p:txBody>
          <a:bodyPr wrap="square" rtlCol="0" anchor="ctr"/>
          <a:lstStyle/>
          <a:p>
            <a:pPr algn="ctr" indent="0" marL="0">
              <a:buNone/>
            </a:pPr>
            <a:r>
              <a:rPr lang="en-US" sz="2000" b="1" dirty="0">
                <a:solidFill>
                  <a:srgbClr val="1A73E8"/>
                </a:solidFill>
                <a:latin typeface="Meiryo" pitchFamily="34" charset="0"/>
                <a:ea typeface="Meiryo" pitchFamily="34" charset="-122"/>
                <a:cs typeface="Meiryo" pitchFamily="34" charset="-120"/>
              </a:rPr>
              <a:t>有償（ゆうしょう）</a:t>
            </a:r>
            <a:endParaRPr lang="en-US" sz="2000" dirty="0"/>
          </a:p>
        </p:txBody>
      </p:sp>
      <p:sp>
        <p:nvSpPr>
          <p:cNvPr id="13" name="Text 11"/>
          <p:cNvSpPr/>
          <p:nvPr/>
        </p:nvSpPr>
        <p:spPr>
          <a:xfrm>
            <a:off x="3474720" y="2514600"/>
            <a:ext cx="2194560" cy="365760"/>
          </a:xfrm>
          <a:prstGeom prst="rect">
            <a:avLst/>
          </a:prstGeom>
          <a:noFill/>
          <a:ln/>
        </p:spPr>
        <p:txBody>
          <a:bodyPr wrap="square" rtlCol="0" anchor="ctr"/>
          <a:lstStyle/>
          <a:p>
            <a:pPr algn="ctr" indent="0" marL="0">
              <a:buNone/>
            </a:pPr>
            <a:r>
              <a:rPr lang="en-US" sz="1600" b="1" dirty="0">
                <a:solidFill>
                  <a:srgbClr val="1A202C"/>
                </a:solidFill>
                <a:latin typeface="Meiryo" pitchFamily="34" charset="0"/>
                <a:ea typeface="Meiryo" pitchFamily="34" charset="-122"/>
                <a:cs typeface="Meiryo" pitchFamily="34" charset="-120"/>
              </a:rPr>
              <a:t>対価がある</a:t>
            </a:r>
            <a:endParaRPr lang="en-US" sz="1600" dirty="0"/>
          </a:p>
        </p:txBody>
      </p:sp>
      <p:sp>
        <p:nvSpPr>
          <p:cNvPr id="14" name="Text 12"/>
          <p:cNvSpPr/>
          <p:nvPr/>
        </p:nvSpPr>
        <p:spPr>
          <a:xfrm>
            <a:off x="3474720" y="2926080"/>
            <a:ext cx="2194560" cy="1188720"/>
          </a:xfrm>
          <a:prstGeom prst="rect">
            <a:avLst/>
          </a:prstGeom>
          <a:noFill/>
          <a:ln/>
        </p:spPr>
        <p:txBody>
          <a:bodyPr wrap="square" rtlCol="0" anchor="ctr"/>
          <a:lstStyle/>
          <a:p>
            <a:pPr algn="ctr" indent="0" marL="0">
              <a:buNone/>
            </a:pPr>
            <a:r>
              <a:rPr lang="en-US" sz="1500" dirty="0">
                <a:solidFill>
                  <a:srgbClr val="1A202C"/>
                </a:solidFill>
                <a:latin typeface="Meiryo" pitchFamily="34" charset="0"/>
                <a:ea typeface="Meiryo" pitchFamily="34" charset="-122"/>
                <a:cs typeface="Meiryo" pitchFamily="34" charset="-120"/>
              </a:rPr>
              <a:t>タダであげるのではなく</a:t>
            </a:r>
            <a:endParaRPr lang="en-US" sz="1500" dirty="0"/>
          </a:p>
          <a:p>
            <a:pPr algn="ctr" indent="0" marL="0">
              <a:buNone/>
            </a:pPr>
            <a:r>
              <a:rPr lang="en-US" sz="1500" dirty="0">
                <a:solidFill>
                  <a:srgbClr val="1A202C"/>
                </a:solidFill>
                <a:latin typeface="Meiryo" pitchFamily="34" charset="0"/>
                <a:ea typeface="Meiryo" pitchFamily="34" charset="-122"/>
                <a:cs typeface="Meiryo" pitchFamily="34" charset="-120"/>
              </a:rPr>
              <a:t>お金や物という「見返り」を</a:t>
            </a:r>
            <a:endParaRPr lang="en-US" sz="1500" dirty="0"/>
          </a:p>
          <a:p>
            <a:pPr algn="ctr" indent="0" marL="0">
              <a:buNone/>
            </a:pPr>
            <a:r>
              <a:rPr lang="en-US" sz="1500" dirty="0">
                <a:solidFill>
                  <a:srgbClr val="1A202C"/>
                </a:solidFill>
                <a:latin typeface="Meiryo" pitchFamily="34" charset="0"/>
                <a:ea typeface="Meiryo" pitchFamily="34" charset="-122"/>
                <a:cs typeface="Meiryo" pitchFamily="34" charset="-120"/>
              </a:rPr>
              <a:t>お互いに交換する</a:t>
            </a:r>
            <a:endParaRPr lang="en-US" sz="1500" dirty="0"/>
          </a:p>
        </p:txBody>
      </p:sp>
      <p:sp>
        <p:nvSpPr>
          <p:cNvPr id="15" name="Shape 13"/>
          <p:cNvSpPr/>
          <p:nvPr/>
        </p:nvSpPr>
        <p:spPr>
          <a:xfrm>
            <a:off x="6035040" y="1188720"/>
            <a:ext cx="2377440" cy="3108960"/>
          </a:xfrm>
          <a:prstGeom prst="roundRect">
            <a:avLst/>
          </a:prstGeom>
          <a:solidFill>
            <a:srgbClr val="EBF8FF"/>
          </a:solidFill>
          <a:ln w="25400">
            <a:solidFill>
              <a:srgbClr val="1A73E8"/>
            </a:solidFill>
            <a:prstDash val="solid"/>
          </a:ln>
        </p:spPr>
      </p:sp>
      <p:sp>
        <p:nvSpPr>
          <p:cNvPr id="16" name="Text 14"/>
          <p:cNvSpPr/>
          <p:nvPr/>
        </p:nvSpPr>
        <p:spPr>
          <a:xfrm>
            <a:off x="6035040" y="1371600"/>
            <a:ext cx="2377440" cy="640080"/>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17" name="Text 15"/>
          <p:cNvSpPr/>
          <p:nvPr/>
        </p:nvSpPr>
        <p:spPr>
          <a:xfrm>
            <a:off x="6126480" y="2103120"/>
            <a:ext cx="2194560" cy="411480"/>
          </a:xfrm>
          <a:prstGeom prst="rect">
            <a:avLst/>
          </a:prstGeom>
          <a:noFill/>
          <a:ln/>
        </p:spPr>
        <p:txBody>
          <a:bodyPr wrap="square" rtlCol="0" anchor="ctr"/>
          <a:lstStyle/>
          <a:p>
            <a:pPr algn="ctr" indent="0" marL="0">
              <a:buNone/>
            </a:pPr>
            <a:r>
              <a:rPr lang="en-US" sz="2000" b="1" dirty="0">
                <a:solidFill>
                  <a:srgbClr val="1A73E8"/>
                </a:solidFill>
                <a:latin typeface="Meiryo" pitchFamily="34" charset="0"/>
                <a:ea typeface="Meiryo" pitchFamily="34" charset="-122"/>
                <a:cs typeface="Meiryo" pitchFamily="34" charset="-120"/>
              </a:rPr>
              <a:t>諾成（だくせい）</a:t>
            </a:r>
            <a:endParaRPr lang="en-US" sz="2000" dirty="0"/>
          </a:p>
        </p:txBody>
      </p:sp>
      <p:sp>
        <p:nvSpPr>
          <p:cNvPr id="18" name="Text 16"/>
          <p:cNvSpPr/>
          <p:nvPr/>
        </p:nvSpPr>
        <p:spPr>
          <a:xfrm>
            <a:off x="6126480" y="2514600"/>
            <a:ext cx="2194560" cy="365760"/>
          </a:xfrm>
          <a:prstGeom prst="rect">
            <a:avLst/>
          </a:prstGeom>
          <a:noFill/>
          <a:ln/>
        </p:spPr>
        <p:txBody>
          <a:bodyPr wrap="square" rtlCol="0" anchor="ctr"/>
          <a:lstStyle/>
          <a:p>
            <a:pPr algn="ctr" indent="0" marL="0">
              <a:buNone/>
            </a:pPr>
            <a:r>
              <a:rPr lang="en-US" sz="1600" b="1" dirty="0">
                <a:solidFill>
                  <a:srgbClr val="1A202C"/>
                </a:solidFill>
                <a:latin typeface="Meiryo" pitchFamily="34" charset="0"/>
                <a:ea typeface="Meiryo" pitchFamily="34" charset="-122"/>
                <a:cs typeface="Meiryo" pitchFamily="34" charset="-120"/>
              </a:rPr>
              <a:t>合意だけで成立</a:t>
            </a:r>
            <a:endParaRPr lang="en-US" sz="1600" dirty="0"/>
          </a:p>
        </p:txBody>
      </p:sp>
      <p:sp>
        <p:nvSpPr>
          <p:cNvPr id="19" name="Text 17"/>
          <p:cNvSpPr/>
          <p:nvPr/>
        </p:nvSpPr>
        <p:spPr>
          <a:xfrm>
            <a:off x="6126480" y="2926080"/>
            <a:ext cx="2194560" cy="1188720"/>
          </a:xfrm>
          <a:prstGeom prst="rect">
            <a:avLst/>
          </a:prstGeom>
          <a:noFill/>
          <a:ln/>
        </p:spPr>
        <p:txBody>
          <a:bodyPr wrap="square" rtlCol="0" anchor="ctr"/>
          <a:lstStyle/>
          <a:p>
            <a:pPr algn="ctr" indent="0" marL="0">
              <a:buNone/>
            </a:pPr>
            <a:r>
              <a:rPr lang="en-US" sz="1500" dirty="0">
                <a:solidFill>
                  <a:srgbClr val="1A202C"/>
                </a:solidFill>
                <a:latin typeface="Meiryo" pitchFamily="34" charset="0"/>
                <a:ea typeface="Meiryo" pitchFamily="34" charset="-122"/>
                <a:cs typeface="Meiryo" pitchFamily="34" charset="-120"/>
              </a:rPr>
              <a:t>「これください」「はい」</a:t>
            </a:r>
            <a:endParaRPr lang="en-US" sz="1500" dirty="0"/>
          </a:p>
          <a:p>
            <a:pPr algn="ctr" indent="0" marL="0">
              <a:buNone/>
            </a:pPr>
            <a:r>
              <a:rPr lang="en-US" sz="1500" dirty="0">
                <a:solidFill>
                  <a:srgbClr val="1A202C"/>
                </a:solidFill>
                <a:latin typeface="Meiryo" pitchFamily="34" charset="0"/>
                <a:ea typeface="Meiryo" pitchFamily="34" charset="-122"/>
                <a:cs typeface="Meiryo" pitchFamily="34" charset="-120"/>
              </a:rPr>
              <a:t>言葉の合意だけで成立！</a:t>
            </a:r>
            <a:endParaRPr lang="en-US" sz="1500" dirty="0"/>
          </a:p>
          <a:p>
            <a:pPr algn="ctr" indent="0" marL="0">
              <a:buNone/>
            </a:pPr>
            <a:r>
              <a:rPr lang="en-US" sz="1500" dirty="0">
                <a:solidFill>
                  <a:srgbClr val="1A202C"/>
                </a:solidFill>
                <a:latin typeface="Meiryo" pitchFamily="34" charset="0"/>
                <a:ea typeface="Meiryo" pitchFamily="34" charset="-122"/>
                <a:cs typeface="Meiryo" pitchFamily="34" charset="-120"/>
              </a:rPr>
              <a:t>書類やハンコは必須でない</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709160"/>
            <a:ext cx="5486400" cy="320040"/>
          </a:xfrm>
          <a:prstGeom prst="rect">
            <a:avLst/>
          </a:prstGeom>
          <a:noFill/>
          <a:ln/>
        </p:spPr>
        <p:txBody>
          <a:bodyPr wrap="square" rtlCol="0" anchor="ctr"/>
          <a:lstStyle/>
          <a:p>
            <a:pPr indent="0" marL="0">
              <a:buNone/>
            </a:pPr>
            <a:r>
              <a:rPr lang="en-US" sz="1200" dirty="0">
                <a:solidFill>
                  <a:srgbClr val="718096"/>
                </a:solidFill>
                <a:latin typeface="Meiryo" pitchFamily="34" charset="0"/>
                <a:ea typeface="Meiryo" pitchFamily="34" charset="-122"/>
                <a:cs typeface="Meiryo" pitchFamily="34" charset="-120"/>
              </a:rPr>
              <a:t>第1部 契約の基本 ― 売買契約</a:t>
            </a:r>
            <a:endParaRPr lang="en-US" sz="1200" dirty="0"/>
          </a:p>
        </p:txBody>
      </p:sp>
      <p:sp>
        <p:nvSpPr>
          <p:cNvPr id="3" name="Text 1"/>
          <p:cNvSpPr/>
          <p:nvPr/>
        </p:nvSpPr>
        <p:spPr>
          <a:xfrm>
            <a:off x="7315200" y="4709160"/>
            <a:ext cx="1097280" cy="320040"/>
          </a:xfrm>
          <a:prstGeom prst="rect">
            <a:avLst/>
          </a:prstGeom>
          <a:noFill/>
          <a:ln/>
        </p:spPr>
        <p:txBody>
          <a:bodyPr wrap="square" rtlCol="0" anchor="ctr"/>
          <a:lstStyle/>
          <a:p>
            <a:pPr algn="r" indent="0" marL="0">
              <a:buNone/>
            </a:pPr>
            <a:r>
              <a:rPr lang="en-US" sz="1200" dirty="0">
                <a:solidFill>
                  <a:srgbClr val="718096"/>
                </a:solidFill>
                <a:latin typeface="Meiryo" pitchFamily="34" charset="0"/>
                <a:ea typeface="Meiryo" pitchFamily="34" charset="-122"/>
                <a:cs typeface="Meiryo" pitchFamily="34" charset="-120"/>
              </a:rPr>
              <a:t>6 / 30</a:t>
            </a:r>
            <a:endParaRPr lang="en-US" sz="1200" dirty="0"/>
          </a:p>
        </p:txBody>
      </p:sp>
      <p:sp>
        <p:nvSpPr>
          <p:cNvPr id="4" name="Text 2"/>
          <p:cNvSpPr/>
          <p:nvPr/>
        </p:nvSpPr>
        <p:spPr>
          <a:xfrm>
            <a:off x="731520" y="457200"/>
            <a:ext cx="7680960" cy="548640"/>
          </a:xfrm>
          <a:prstGeom prst="rect">
            <a:avLst/>
          </a:prstGeom>
          <a:noFill/>
          <a:ln/>
        </p:spPr>
        <p:txBody>
          <a:bodyPr wrap="square" rtlCol="0" anchor="ctr"/>
          <a:lstStyle/>
          <a:p>
            <a:pPr indent="0" marL="0">
              <a:buNone/>
            </a:pPr>
            <a:r>
              <a:rPr lang="en-US" sz="2600" b="1" dirty="0">
                <a:solidFill>
                  <a:srgbClr val="1A202C"/>
                </a:solidFill>
                <a:latin typeface="Meiryo" pitchFamily="34" charset="0"/>
                <a:ea typeface="Meiryo" pitchFamily="34" charset="-122"/>
                <a:cs typeface="Meiryo" pitchFamily="34" charset="-120"/>
              </a:rPr>
              <a:t>債権と債務はコインの表と裏 ＆ 契約のゴール「完遂」</a:t>
            </a:r>
            <a:endParaRPr lang="en-US" sz="2600" dirty="0"/>
          </a:p>
        </p:txBody>
      </p:sp>
      <p:sp>
        <p:nvSpPr>
          <p:cNvPr id="5" name="Shape 3"/>
          <p:cNvSpPr/>
          <p:nvPr/>
        </p:nvSpPr>
        <p:spPr>
          <a:xfrm>
            <a:off x="731520" y="1188720"/>
            <a:ext cx="3657600" cy="1920240"/>
          </a:xfrm>
          <a:prstGeom prst="roundRect">
            <a:avLst/>
          </a:prstGeom>
          <a:solidFill>
            <a:srgbClr val="FFF5F5"/>
          </a:solidFill>
          <a:ln w="25400">
            <a:solidFill>
              <a:srgbClr val="D9383A"/>
            </a:solidFill>
            <a:prstDash val="solid"/>
          </a:ln>
        </p:spPr>
      </p:sp>
      <p:sp>
        <p:nvSpPr>
          <p:cNvPr id="6" name="Text 4"/>
          <p:cNvSpPr/>
          <p:nvPr/>
        </p:nvSpPr>
        <p:spPr>
          <a:xfrm>
            <a:off x="914400" y="1371600"/>
            <a:ext cx="3291840" cy="365760"/>
          </a:xfrm>
          <a:prstGeom prst="rect">
            <a:avLst/>
          </a:prstGeom>
          <a:noFill/>
          <a:ln/>
        </p:spPr>
        <p:txBody>
          <a:bodyPr wrap="square" rtlCol="0" anchor="ctr"/>
          <a:lstStyle/>
          <a:p>
            <a:pPr algn="ctr" indent="0" marL="0">
              <a:buNone/>
            </a:pPr>
            <a:r>
              <a:rPr lang="en-US" sz="2200" b="1" dirty="0">
                <a:solidFill>
                  <a:srgbClr val="D9383A"/>
                </a:solidFill>
                <a:latin typeface="Meiryo" pitchFamily="34" charset="0"/>
                <a:ea typeface="Meiryo" pitchFamily="34" charset="-122"/>
                <a:cs typeface="Meiryo" pitchFamily="34" charset="-120"/>
              </a:rPr>
              <a:t>🔴 債務（さいむ）</a:t>
            </a:r>
            <a:endParaRPr lang="en-US" sz="2200" dirty="0"/>
          </a:p>
        </p:txBody>
      </p:sp>
      <p:sp>
        <p:nvSpPr>
          <p:cNvPr id="7" name="Text 5"/>
          <p:cNvSpPr/>
          <p:nvPr/>
        </p:nvSpPr>
        <p:spPr>
          <a:xfrm>
            <a:off x="914400" y="1828800"/>
            <a:ext cx="3291840" cy="1097280"/>
          </a:xfrm>
          <a:prstGeom prst="rect">
            <a:avLst/>
          </a:prstGeom>
          <a:noFill/>
          <a:ln/>
        </p:spPr>
        <p:txBody>
          <a:bodyPr wrap="square" rtlCol="0" anchor="ctr"/>
          <a:lstStyle/>
          <a:p>
            <a:pPr algn="ctr" indent="0" marL="0">
              <a:buNone/>
            </a:pPr>
            <a:r>
              <a:rPr lang="en-US" sz="1800" dirty="0">
                <a:solidFill>
                  <a:srgbClr val="1A202C"/>
                </a:solidFill>
                <a:latin typeface="Meiryo" pitchFamily="34" charset="0"/>
                <a:ea typeface="Meiryo" pitchFamily="34" charset="-122"/>
                <a:cs typeface="Meiryo" pitchFamily="34" charset="-120"/>
              </a:rPr>
              <a:t>＝「しなければならない義務」</a:t>
            </a:r>
            <a:endParaRPr lang="en-US" sz="1800" dirty="0"/>
          </a:p>
          <a:p>
            <a:pPr algn="ctr" indent="0" marL="0">
              <a:buNone/>
            </a:pPr>
            <a:endParaRPr lang="en-US" sz="1800" dirty="0"/>
          </a:p>
          <a:p>
            <a:pPr algn="ctr" indent="0" marL="0">
              <a:buNone/>
            </a:pPr>
            <a:r>
              <a:rPr lang="en-US" sz="1800" dirty="0">
                <a:solidFill>
                  <a:srgbClr val="1A202C"/>
                </a:solidFill>
                <a:latin typeface="Meiryo" pitchFamily="34" charset="0"/>
                <a:ea typeface="Meiryo" pitchFamily="34" charset="-122"/>
                <a:cs typeface="Meiryo" pitchFamily="34" charset="-120"/>
              </a:rPr>
              <a:t>・売主：商品を渡す義務 📦</a:t>
            </a:r>
            <a:endParaRPr lang="en-US" sz="1800" dirty="0"/>
          </a:p>
          <a:p>
            <a:pPr algn="ctr" indent="0" marL="0">
              <a:buNone/>
            </a:pPr>
            <a:r>
              <a:rPr lang="en-US" sz="1800" dirty="0">
                <a:solidFill>
                  <a:srgbClr val="1A202C"/>
                </a:solidFill>
                <a:latin typeface="Meiryo" pitchFamily="34" charset="0"/>
                <a:ea typeface="Meiryo" pitchFamily="34" charset="-122"/>
                <a:cs typeface="Meiryo" pitchFamily="34" charset="-120"/>
              </a:rPr>
              <a:t>・買主：代金を支払う義務 💴</a:t>
            </a:r>
            <a:endParaRPr lang="en-US" sz="1800" dirty="0"/>
          </a:p>
        </p:txBody>
      </p:sp>
      <p:sp>
        <p:nvSpPr>
          <p:cNvPr id="8" name="Shape 6"/>
          <p:cNvSpPr/>
          <p:nvPr/>
        </p:nvSpPr>
        <p:spPr>
          <a:xfrm>
            <a:off x="4754880" y="1188720"/>
            <a:ext cx="3657600" cy="1920240"/>
          </a:xfrm>
          <a:prstGeom prst="roundRect">
            <a:avLst/>
          </a:prstGeom>
          <a:solidFill>
            <a:srgbClr val="EBF8FF"/>
          </a:solidFill>
          <a:ln w="25400">
            <a:solidFill>
              <a:srgbClr val="1A73E8"/>
            </a:solidFill>
            <a:prstDash val="solid"/>
          </a:ln>
        </p:spPr>
      </p:sp>
      <p:sp>
        <p:nvSpPr>
          <p:cNvPr id="9" name="Text 7"/>
          <p:cNvSpPr/>
          <p:nvPr/>
        </p:nvSpPr>
        <p:spPr>
          <a:xfrm>
            <a:off x="4937760" y="1371600"/>
            <a:ext cx="3291840" cy="365760"/>
          </a:xfrm>
          <a:prstGeom prst="rect">
            <a:avLst/>
          </a:prstGeom>
          <a:noFill/>
          <a:ln/>
        </p:spPr>
        <p:txBody>
          <a:bodyPr wrap="square" rtlCol="0" anchor="ctr"/>
          <a:lstStyle/>
          <a:p>
            <a:pPr algn="ctr" indent="0" marL="0">
              <a:buNone/>
            </a:pPr>
            <a:r>
              <a:rPr lang="en-US" sz="2200" b="1" dirty="0">
                <a:solidFill>
                  <a:srgbClr val="1A73E8"/>
                </a:solidFill>
                <a:latin typeface="Meiryo" pitchFamily="34" charset="0"/>
                <a:ea typeface="Meiryo" pitchFamily="34" charset="-122"/>
                <a:cs typeface="Meiryo" pitchFamily="34" charset="-120"/>
              </a:rPr>
              <a:t>🔵 債権（さいけん）</a:t>
            </a:r>
            <a:endParaRPr lang="en-US" sz="2200" dirty="0"/>
          </a:p>
        </p:txBody>
      </p:sp>
      <p:sp>
        <p:nvSpPr>
          <p:cNvPr id="10" name="Text 8"/>
          <p:cNvSpPr/>
          <p:nvPr/>
        </p:nvSpPr>
        <p:spPr>
          <a:xfrm>
            <a:off x="4937760" y="1828800"/>
            <a:ext cx="3291840" cy="1097280"/>
          </a:xfrm>
          <a:prstGeom prst="rect">
            <a:avLst/>
          </a:prstGeom>
          <a:noFill/>
          <a:ln/>
        </p:spPr>
        <p:txBody>
          <a:bodyPr wrap="square" rtlCol="0" anchor="ctr"/>
          <a:lstStyle/>
          <a:p>
            <a:pPr algn="ctr" indent="0" marL="0">
              <a:buNone/>
            </a:pPr>
            <a:r>
              <a:rPr lang="en-US" sz="1800" dirty="0">
                <a:solidFill>
                  <a:srgbClr val="1A202C"/>
                </a:solidFill>
                <a:latin typeface="Meiryo" pitchFamily="34" charset="0"/>
                <a:ea typeface="Meiryo" pitchFamily="34" charset="-122"/>
                <a:cs typeface="Meiryo" pitchFamily="34" charset="-120"/>
              </a:rPr>
              <a:t>＝「求めてよい権利」</a:t>
            </a:r>
            <a:endParaRPr lang="en-US" sz="1800" dirty="0"/>
          </a:p>
          <a:p>
            <a:pPr algn="ctr" indent="0" marL="0">
              <a:buNone/>
            </a:pPr>
            <a:endParaRPr lang="en-US" sz="1800" dirty="0"/>
          </a:p>
          <a:p>
            <a:pPr algn="ctr" indent="0" marL="0">
              <a:buNone/>
            </a:pPr>
            <a:r>
              <a:rPr lang="en-US" sz="1800" dirty="0">
                <a:solidFill>
                  <a:srgbClr val="1A202C"/>
                </a:solidFill>
                <a:latin typeface="Meiryo" pitchFamily="34" charset="0"/>
                <a:ea typeface="Meiryo" pitchFamily="34" charset="-122"/>
                <a:cs typeface="Meiryo" pitchFamily="34" charset="-120"/>
              </a:rPr>
              <a:t>・買主：商品を求める権利 ✨</a:t>
            </a:r>
            <a:endParaRPr lang="en-US" sz="1800" dirty="0"/>
          </a:p>
          <a:p>
            <a:pPr algn="ctr" indent="0" marL="0">
              <a:buNone/>
            </a:pPr>
            <a:r>
              <a:rPr lang="en-US" sz="1800" dirty="0">
                <a:solidFill>
                  <a:srgbClr val="1A202C"/>
                </a:solidFill>
                <a:latin typeface="Meiryo" pitchFamily="34" charset="0"/>
                <a:ea typeface="Meiryo" pitchFamily="34" charset="-122"/>
                <a:cs typeface="Meiryo" pitchFamily="34" charset="-120"/>
              </a:rPr>
              <a:t>・売主：代金を求める権利 💰</a:t>
            </a:r>
            <a:endParaRPr lang="en-US" sz="1800" dirty="0"/>
          </a:p>
        </p:txBody>
      </p:sp>
      <p:sp>
        <p:nvSpPr>
          <p:cNvPr id="11" name="Shape 9"/>
          <p:cNvSpPr/>
          <p:nvPr/>
        </p:nvSpPr>
        <p:spPr>
          <a:xfrm>
            <a:off x="731520" y="3291840"/>
            <a:ext cx="7680960" cy="1097280"/>
          </a:xfrm>
          <a:prstGeom prst="roundRect">
            <a:avLst/>
          </a:prstGeom>
          <a:solidFill>
            <a:srgbClr val="F8FAFC"/>
          </a:solidFill>
          <a:ln w="31750">
            <a:solidFill>
              <a:srgbClr val="1A73E8"/>
            </a:solidFill>
            <a:prstDash val="solid"/>
          </a:ln>
        </p:spPr>
      </p:sp>
      <p:sp>
        <p:nvSpPr>
          <p:cNvPr id="12" name="Text 10"/>
          <p:cNvSpPr/>
          <p:nvPr/>
        </p:nvSpPr>
        <p:spPr>
          <a:xfrm>
            <a:off x="914400" y="3429000"/>
            <a:ext cx="7315200" cy="411480"/>
          </a:xfrm>
          <a:prstGeom prst="rect">
            <a:avLst/>
          </a:prstGeom>
          <a:noFill/>
          <a:ln/>
        </p:spPr>
        <p:txBody>
          <a:bodyPr wrap="square" rtlCol="0" anchor="ctr"/>
          <a:lstStyle/>
          <a:p>
            <a:pPr algn="ctr" indent="0" marL="0">
              <a:buNone/>
            </a:pPr>
            <a:r>
              <a:rPr lang="en-US" sz="2400" b="1" dirty="0">
                <a:solidFill>
                  <a:srgbClr val="1A73E8"/>
                </a:solidFill>
                <a:latin typeface="Meiryo" pitchFamily="34" charset="0"/>
                <a:ea typeface="Meiryo" pitchFamily="34" charset="-122"/>
                <a:cs typeface="Meiryo" pitchFamily="34" charset="-120"/>
              </a:rPr>
              <a:t>🏁 契約のゴール ＝「完遂（かんすい）」</a:t>
            </a:r>
            <a:endParaRPr lang="en-US" sz="2400" dirty="0"/>
          </a:p>
        </p:txBody>
      </p:sp>
      <p:sp>
        <p:nvSpPr>
          <p:cNvPr id="13" name="Text 11"/>
          <p:cNvSpPr/>
          <p:nvPr/>
        </p:nvSpPr>
        <p:spPr>
          <a:xfrm>
            <a:off x="914400" y="3886200"/>
            <a:ext cx="7315200" cy="411480"/>
          </a:xfrm>
          <a:prstGeom prst="rect">
            <a:avLst/>
          </a:prstGeom>
          <a:noFill/>
          <a:ln/>
        </p:spPr>
        <p:txBody>
          <a:bodyPr wrap="square" rtlCol="0" anchor="ctr"/>
          <a:lstStyle/>
          <a:p>
            <a:pPr algn="ctr" indent="0" marL="0">
              <a:buNone/>
            </a:pPr>
            <a:r>
              <a:rPr lang="en-US" sz="1700" dirty="0">
                <a:solidFill>
                  <a:srgbClr val="1A202C"/>
                </a:solidFill>
                <a:latin typeface="Meiryo" pitchFamily="34" charset="0"/>
                <a:ea typeface="Meiryo" pitchFamily="34" charset="-122"/>
                <a:cs typeface="Meiryo" pitchFamily="34" charset="-120"/>
              </a:rPr>
              <a:t>お互いが義務（債務）を果たし終えること ＝「履行（りこう）」</a:t>
            </a:r>
            <a:endParaRPr lang="en-US" sz="1700" dirty="0"/>
          </a:p>
          <a:p>
            <a:pPr algn="ctr" indent="0" marL="0">
              <a:buNone/>
            </a:pPr>
            <a:r>
              <a:rPr lang="en-US" sz="1700" dirty="0">
                <a:solidFill>
                  <a:srgbClr val="1A202C"/>
                </a:solidFill>
                <a:latin typeface="Meiryo" pitchFamily="34" charset="0"/>
                <a:ea typeface="Meiryo" pitchFamily="34" charset="-122"/>
                <a:cs typeface="Meiryo" pitchFamily="34" charset="-120"/>
              </a:rPr>
              <a:t>双方が約束を最後までやり切ることで、信頼というゴールを迎えます！</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709160"/>
            <a:ext cx="5486400" cy="320040"/>
          </a:xfrm>
          <a:prstGeom prst="rect">
            <a:avLst/>
          </a:prstGeom>
          <a:noFill/>
          <a:ln/>
        </p:spPr>
        <p:txBody>
          <a:bodyPr wrap="square" rtlCol="0" anchor="ctr"/>
          <a:lstStyle/>
          <a:p>
            <a:pPr indent="0" marL="0">
              <a:buNone/>
            </a:pPr>
            <a:r>
              <a:rPr lang="en-US" sz="1200" dirty="0">
                <a:solidFill>
                  <a:srgbClr val="718096"/>
                </a:solidFill>
                <a:latin typeface="Meiryo" pitchFamily="34" charset="0"/>
                <a:ea typeface="Meiryo" pitchFamily="34" charset="-122"/>
                <a:cs typeface="Meiryo" pitchFamily="34" charset="-120"/>
              </a:rPr>
              <a:t>第1部 契約の基本 ― 売買契約</a:t>
            </a:r>
            <a:endParaRPr lang="en-US" sz="1200" dirty="0"/>
          </a:p>
        </p:txBody>
      </p:sp>
      <p:sp>
        <p:nvSpPr>
          <p:cNvPr id="3" name="Text 1"/>
          <p:cNvSpPr/>
          <p:nvPr/>
        </p:nvSpPr>
        <p:spPr>
          <a:xfrm>
            <a:off x="7315200" y="4709160"/>
            <a:ext cx="1097280" cy="320040"/>
          </a:xfrm>
          <a:prstGeom prst="rect">
            <a:avLst/>
          </a:prstGeom>
          <a:noFill/>
          <a:ln/>
        </p:spPr>
        <p:txBody>
          <a:bodyPr wrap="square" rtlCol="0" anchor="ctr"/>
          <a:lstStyle/>
          <a:p>
            <a:pPr algn="r" indent="0" marL="0">
              <a:buNone/>
            </a:pPr>
            <a:r>
              <a:rPr lang="en-US" sz="1200" dirty="0">
                <a:solidFill>
                  <a:srgbClr val="718096"/>
                </a:solidFill>
                <a:latin typeface="Meiryo" pitchFamily="34" charset="0"/>
                <a:ea typeface="Meiryo" pitchFamily="34" charset="-122"/>
                <a:cs typeface="Meiryo" pitchFamily="34" charset="-120"/>
              </a:rPr>
              <a:t>7 / 30</a:t>
            </a:r>
            <a:endParaRPr lang="en-US" sz="1200" dirty="0"/>
          </a:p>
        </p:txBody>
      </p:sp>
      <p:sp>
        <p:nvSpPr>
          <p:cNvPr id="4" name="Text 2"/>
          <p:cNvSpPr/>
          <p:nvPr/>
        </p:nvSpPr>
        <p:spPr>
          <a:xfrm>
            <a:off x="731520" y="365760"/>
            <a:ext cx="7680960" cy="457200"/>
          </a:xfrm>
          <a:prstGeom prst="rect">
            <a:avLst/>
          </a:prstGeom>
          <a:noFill/>
          <a:ln/>
        </p:spPr>
        <p:txBody>
          <a:bodyPr wrap="square" rtlCol="0" anchor="ctr"/>
          <a:lstStyle/>
          <a:p>
            <a:pPr indent="0" marL="0">
              <a:buNone/>
            </a:pPr>
            <a:r>
              <a:rPr lang="en-US" sz="2400" b="1" dirty="0">
                <a:solidFill>
                  <a:srgbClr val="1A202C"/>
                </a:solidFill>
                <a:latin typeface="Meiryo" pitchFamily="34" charset="0"/>
                <a:ea typeface="Meiryo" pitchFamily="34" charset="-122"/>
                <a:cs typeface="Meiryo" pitchFamily="34" charset="-120"/>
              </a:rPr>
              <a:t>【図1】売買契約の構造マップ</a:t>
            </a:r>
            <a:endParaRPr lang="en-US" sz="2400" dirty="0"/>
          </a:p>
        </p:txBody>
      </p:sp>
      <p:pic>
        <p:nvPicPr>
          <p:cNvPr id="5" name="Image 0" descr="c:\Users\sugiy\.antigravity\練習用\fig1_baibai.png">    </p:cNvPr>
          <p:cNvPicPr>
            <a:picLocks noChangeAspect="1"/>
          </p:cNvPicPr>
          <p:nvPr/>
        </p:nvPicPr>
        <p:blipFill>
          <a:blip r:embed="rId1"/>
          <a:stretch>
            <a:fillRect/>
          </a:stretch>
        </p:blipFill>
        <p:spPr>
          <a:xfrm>
            <a:off x="731520" y="914400"/>
            <a:ext cx="7680960" cy="37490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709160"/>
            <a:ext cx="5486400" cy="320040"/>
          </a:xfrm>
          <a:prstGeom prst="rect">
            <a:avLst/>
          </a:prstGeom>
          <a:noFill/>
          <a:ln/>
        </p:spPr>
        <p:txBody>
          <a:bodyPr wrap="square" rtlCol="0" anchor="ctr"/>
          <a:lstStyle/>
          <a:p>
            <a:pPr indent="0" marL="0">
              <a:buNone/>
            </a:pPr>
            <a:r>
              <a:rPr lang="en-US" sz="1200" dirty="0">
                <a:solidFill>
                  <a:srgbClr val="718096"/>
                </a:solidFill>
                <a:latin typeface="Meiryo" pitchFamily="34" charset="0"/>
                <a:ea typeface="Meiryo" pitchFamily="34" charset="-122"/>
                <a:cs typeface="Meiryo" pitchFamily="34" charset="-120"/>
              </a:rPr>
              <a:t>第1部 契約の基本 ― 売買契約</a:t>
            </a:r>
            <a:endParaRPr lang="en-US" sz="1200" dirty="0"/>
          </a:p>
        </p:txBody>
      </p:sp>
      <p:sp>
        <p:nvSpPr>
          <p:cNvPr id="3" name="Text 1"/>
          <p:cNvSpPr/>
          <p:nvPr/>
        </p:nvSpPr>
        <p:spPr>
          <a:xfrm>
            <a:off x="7315200" y="4709160"/>
            <a:ext cx="1097280" cy="320040"/>
          </a:xfrm>
          <a:prstGeom prst="rect">
            <a:avLst/>
          </a:prstGeom>
          <a:noFill/>
          <a:ln/>
        </p:spPr>
        <p:txBody>
          <a:bodyPr wrap="square" rtlCol="0" anchor="ctr"/>
          <a:lstStyle/>
          <a:p>
            <a:pPr algn="r" indent="0" marL="0">
              <a:buNone/>
            </a:pPr>
            <a:r>
              <a:rPr lang="en-US" sz="1200" dirty="0">
                <a:solidFill>
                  <a:srgbClr val="718096"/>
                </a:solidFill>
                <a:latin typeface="Meiryo" pitchFamily="34" charset="0"/>
                <a:ea typeface="Meiryo" pitchFamily="34" charset="-122"/>
                <a:cs typeface="Meiryo" pitchFamily="34" charset="-120"/>
              </a:rPr>
              <a:t>8 / 30</a:t>
            </a:r>
            <a:endParaRPr lang="en-US" sz="1200" dirty="0"/>
          </a:p>
        </p:txBody>
      </p:sp>
      <p:sp>
        <p:nvSpPr>
          <p:cNvPr id="4" name="Text 2"/>
          <p:cNvSpPr/>
          <p:nvPr/>
        </p:nvSpPr>
        <p:spPr>
          <a:xfrm>
            <a:off x="731520" y="457200"/>
            <a:ext cx="7680960" cy="548640"/>
          </a:xfrm>
          <a:prstGeom prst="rect">
            <a:avLst/>
          </a:prstGeom>
          <a:noFill/>
          <a:ln/>
        </p:spPr>
        <p:txBody>
          <a:bodyPr wrap="square" rtlCol="0" anchor="ctr"/>
          <a:lstStyle/>
          <a:p>
            <a:pPr indent="0" marL="0">
              <a:buNone/>
            </a:pPr>
            <a:r>
              <a:rPr lang="en-US" sz="2600" b="1" dirty="0">
                <a:solidFill>
                  <a:srgbClr val="1A202C"/>
                </a:solidFill>
                <a:latin typeface="Meiryo" pitchFamily="34" charset="0"/>
                <a:ea typeface="Meiryo" pitchFamily="34" charset="-122"/>
                <a:cs typeface="Meiryo" pitchFamily="34" charset="-120"/>
              </a:rPr>
              <a:t>AIとの接点 ― アプリやAIの「利用規約」も契約</a:t>
            </a:r>
            <a:endParaRPr lang="en-US" sz="2600" dirty="0"/>
          </a:p>
        </p:txBody>
      </p:sp>
      <p:sp>
        <p:nvSpPr>
          <p:cNvPr id="5" name="Shape 3"/>
          <p:cNvSpPr/>
          <p:nvPr/>
        </p:nvSpPr>
        <p:spPr>
          <a:xfrm>
            <a:off x="731520" y="1188720"/>
            <a:ext cx="3657600" cy="3108960"/>
          </a:xfrm>
          <a:prstGeom prst="roundRect">
            <a:avLst/>
          </a:prstGeom>
          <a:solidFill>
            <a:srgbClr val="F8FAFC"/>
          </a:solidFill>
          <a:ln w="25400">
            <a:solidFill>
              <a:srgbClr val="E2E8F0"/>
            </a:solidFill>
            <a:prstDash val="solid"/>
          </a:ln>
        </p:spPr>
      </p:sp>
      <p:sp>
        <p:nvSpPr>
          <p:cNvPr id="6" name="Text 4"/>
          <p:cNvSpPr/>
          <p:nvPr/>
        </p:nvSpPr>
        <p:spPr>
          <a:xfrm>
            <a:off x="914400" y="1463040"/>
            <a:ext cx="3291840" cy="457200"/>
          </a:xfrm>
          <a:prstGeom prst="rect">
            <a:avLst/>
          </a:prstGeom>
          <a:noFill/>
          <a:ln/>
        </p:spPr>
        <p:txBody>
          <a:bodyPr wrap="square" rtlCol="0" anchor="ctr"/>
          <a:lstStyle/>
          <a:p>
            <a:pPr algn="ctr" indent="0" marL="0">
              <a:buNone/>
            </a:pPr>
            <a:r>
              <a:rPr lang="en-US" sz="2200" b="1" dirty="0">
                <a:solidFill>
                  <a:srgbClr val="1A73E8"/>
                </a:solidFill>
                <a:latin typeface="Meiryo" pitchFamily="34" charset="0"/>
                <a:ea typeface="Meiryo" pitchFamily="34" charset="-122"/>
                <a:cs typeface="Meiryo" pitchFamily="34" charset="-120"/>
              </a:rPr>
              <a:t>📱「同意する」を押した瞬間</a:t>
            </a:r>
            <a:endParaRPr lang="en-US" sz="2200" dirty="0"/>
          </a:p>
        </p:txBody>
      </p:sp>
      <p:sp>
        <p:nvSpPr>
          <p:cNvPr id="7" name="Text 5"/>
          <p:cNvSpPr/>
          <p:nvPr/>
        </p:nvSpPr>
        <p:spPr>
          <a:xfrm>
            <a:off x="1005840" y="2103120"/>
            <a:ext cx="3108960" cy="1828800"/>
          </a:xfrm>
          <a:prstGeom prst="rect">
            <a:avLst/>
          </a:prstGeom>
          <a:noFill/>
          <a:ln/>
        </p:spPr>
        <p:txBody>
          <a:bodyPr wrap="square" rtlCol="0" anchor="ctr"/>
          <a:lstStyle/>
          <a:p>
            <a:pPr indent="0" marL="0">
              <a:buNone/>
            </a:pPr>
            <a:r>
              <a:rPr lang="en-US" sz="1800" dirty="0">
                <a:solidFill>
                  <a:srgbClr val="1A202C"/>
                </a:solidFill>
                <a:latin typeface="Meiryo" pitchFamily="34" charset="0"/>
                <a:ea typeface="Meiryo" pitchFamily="34" charset="-122"/>
                <a:cs typeface="Meiryo" pitchFamily="34" charset="-120"/>
              </a:rPr>
              <a:t>＝ サービス利用契約（定型約款）</a:t>
            </a:r>
            <a:endParaRPr lang="en-US" sz="1800" dirty="0"/>
          </a:p>
          <a:p>
            <a:pPr indent="0" marL="0">
              <a:buNone/>
            </a:pPr>
            <a:endParaRPr lang="en-US" sz="1800" dirty="0"/>
          </a:p>
          <a:p>
            <a:pPr indent="0" marL="0">
              <a:buNone/>
            </a:pPr>
            <a:r>
              <a:rPr lang="en-US" sz="1800" dirty="0">
                <a:solidFill>
                  <a:srgbClr val="1A202C"/>
                </a:solidFill>
                <a:latin typeface="Meiryo" pitchFamily="34" charset="0"/>
                <a:ea typeface="Meiryo" pitchFamily="34" charset="-122"/>
                <a:cs typeface="Meiryo" pitchFamily="34" charset="-120"/>
              </a:rPr>
              <a:t>・無料ツールでも契約成立！</a:t>
            </a:r>
            <a:endParaRPr lang="en-US" sz="1800" dirty="0"/>
          </a:p>
          <a:p>
            <a:pPr indent="0" marL="0">
              <a:buNone/>
            </a:pPr>
            <a:r>
              <a:rPr lang="en-US" sz="1800" dirty="0">
                <a:solidFill>
                  <a:srgbClr val="1A202C"/>
                </a:solidFill>
                <a:latin typeface="Meiryo" pitchFamily="34" charset="0"/>
                <a:ea typeface="Meiryo" pitchFamily="34" charset="-122"/>
                <a:cs typeface="Meiryo" pitchFamily="34" charset="-120"/>
              </a:rPr>
              <a:t>・禁止事項を守る義務を負う</a:t>
            </a:r>
            <a:endParaRPr lang="en-US" sz="1800" dirty="0"/>
          </a:p>
          <a:p>
            <a:pPr indent="0" marL="0">
              <a:buNone/>
            </a:pPr>
            <a:r>
              <a:rPr lang="en-US" sz="1800" dirty="0">
                <a:solidFill>
                  <a:srgbClr val="1A202C"/>
                </a:solidFill>
                <a:latin typeface="Meiryo" pitchFamily="34" charset="0"/>
                <a:ea typeface="Meiryo" pitchFamily="34" charset="-122"/>
                <a:cs typeface="Meiryo" pitchFamily="34" charset="-120"/>
              </a:rPr>
              <a:t>・生成物の使い方のルールも</a:t>
            </a:r>
            <a:endParaRPr lang="en-US" sz="1800" dirty="0"/>
          </a:p>
          <a:p>
            <a:pPr indent="0" marL="0">
              <a:buNone/>
            </a:pPr>
            <a:r>
              <a:rPr lang="en-US" sz="1800" dirty="0">
                <a:solidFill>
                  <a:srgbClr val="1A202C"/>
                </a:solidFill>
                <a:latin typeface="Meiryo" pitchFamily="34" charset="0"/>
                <a:ea typeface="Meiryo" pitchFamily="34" charset="-122"/>
                <a:cs typeface="Meiryo" pitchFamily="34" charset="-120"/>
              </a:rPr>
              <a:t>　すべて規約で決まっている</a:t>
            </a:r>
            <a:endParaRPr lang="en-US" sz="1800" dirty="0"/>
          </a:p>
        </p:txBody>
      </p:sp>
      <p:sp>
        <p:nvSpPr>
          <p:cNvPr id="8" name="Shape 6"/>
          <p:cNvSpPr/>
          <p:nvPr/>
        </p:nvSpPr>
        <p:spPr>
          <a:xfrm>
            <a:off x="4754880" y="1188720"/>
            <a:ext cx="3657600" cy="3108960"/>
          </a:xfrm>
          <a:prstGeom prst="roundRect">
            <a:avLst/>
          </a:prstGeom>
          <a:solidFill>
            <a:srgbClr val="FFF5F5"/>
          </a:solidFill>
          <a:ln w="31750">
            <a:solidFill>
              <a:srgbClr val="D9383A"/>
            </a:solidFill>
            <a:prstDash val="solid"/>
          </a:ln>
        </p:spPr>
      </p:sp>
      <p:sp>
        <p:nvSpPr>
          <p:cNvPr id="9" name="Text 7"/>
          <p:cNvSpPr/>
          <p:nvPr/>
        </p:nvSpPr>
        <p:spPr>
          <a:xfrm>
            <a:off x="4937760" y="1463040"/>
            <a:ext cx="3291840" cy="457200"/>
          </a:xfrm>
          <a:prstGeom prst="rect">
            <a:avLst/>
          </a:prstGeom>
          <a:noFill/>
          <a:ln/>
        </p:spPr>
        <p:txBody>
          <a:bodyPr wrap="square" rtlCol="0" anchor="ctr"/>
          <a:lstStyle/>
          <a:p>
            <a:pPr algn="ctr" indent="0" marL="0">
              <a:buNone/>
            </a:pPr>
            <a:r>
              <a:rPr lang="en-US" sz="2200" b="1" dirty="0">
                <a:solidFill>
                  <a:srgbClr val="D9383A"/>
                </a:solidFill>
                <a:latin typeface="Meiryo" pitchFamily="34" charset="0"/>
                <a:ea typeface="Meiryo" pitchFamily="34" charset="-122"/>
                <a:cs typeface="Meiryo" pitchFamily="34" charset="-120"/>
              </a:rPr>
              <a:t>⚠️ AIは当事者になれない！</a:t>
            </a:r>
            <a:endParaRPr lang="en-US" sz="2200" dirty="0"/>
          </a:p>
        </p:txBody>
      </p:sp>
      <p:sp>
        <p:nvSpPr>
          <p:cNvPr id="10" name="Text 8"/>
          <p:cNvSpPr/>
          <p:nvPr/>
        </p:nvSpPr>
        <p:spPr>
          <a:xfrm>
            <a:off x="5029200" y="2103120"/>
            <a:ext cx="3108960" cy="1828800"/>
          </a:xfrm>
          <a:prstGeom prst="rect">
            <a:avLst/>
          </a:prstGeom>
          <a:noFill/>
          <a:ln/>
        </p:spPr>
        <p:txBody>
          <a:bodyPr wrap="square" rtlCol="0" anchor="ctr"/>
          <a:lstStyle/>
          <a:p>
            <a:pPr indent="0" marL="0">
              <a:buNone/>
            </a:pPr>
            <a:r>
              <a:rPr lang="en-US" sz="1800" dirty="0">
                <a:solidFill>
                  <a:srgbClr val="1A202C"/>
                </a:solidFill>
                <a:latin typeface="Meiryo" pitchFamily="34" charset="0"/>
                <a:ea typeface="Meiryo" pitchFamily="34" charset="-122"/>
                <a:cs typeface="Meiryo" pitchFamily="34" charset="-120"/>
              </a:rPr>
              <a:t>🤖 AIは便利な「道具」</a:t>
            </a:r>
            <a:endParaRPr lang="en-US" sz="1800" dirty="0"/>
          </a:p>
          <a:p>
            <a:pPr indent="0" marL="0">
              <a:buNone/>
            </a:pPr>
            <a:endParaRPr lang="en-US" sz="1800" dirty="0"/>
          </a:p>
          <a:p>
            <a:pPr indent="0" marL="0">
              <a:buNone/>
            </a:pPr>
            <a:r>
              <a:rPr lang="en-US" sz="1800" dirty="0">
                <a:solidFill>
                  <a:srgbClr val="1A202C"/>
                </a:solidFill>
                <a:latin typeface="Meiryo" pitchFamily="34" charset="0"/>
                <a:ea typeface="Meiryo" pitchFamily="34" charset="-122"/>
                <a:cs typeface="Meiryo" pitchFamily="34" charset="-120"/>
              </a:rPr>
              <a:t>・AIが契約を結ぶことはできない</a:t>
            </a:r>
            <a:endParaRPr lang="en-US" sz="1800" dirty="0"/>
          </a:p>
          <a:p>
            <a:pPr indent="0" marL="0">
              <a:buNone/>
            </a:pPr>
            <a:r>
              <a:rPr lang="en-US" sz="1800" dirty="0">
                <a:solidFill>
                  <a:srgbClr val="1A202C"/>
                </a:solidFill>
                <a:latin typeface="Meiryo" pitchFamily="34" charset="0"/>
                <a:ea typeface="Meiryo" pitchFamily="34" charset="-122"/>
                <a:cs typeface="Meiryo" pitchFamily="34" charset="-120"/>
              </a:rPr>
              <a:t>・「AIが勝手にやった」は通用しない</a:t>
            </a:r>
            <a:endParaRPr lang="en-US" sz="1800" dirty="0"/>
          </a:p>
          <a:p>
            <a:pPr indent="0" marL="0">
              <a:buNone/>
            </a:pPr>
            <a:endParaRPr lang="en-US" sz="1800" dirty="0"/>
          </a:p>
          <a:p>
            <a:pPr indent="0" marL="0">
              <a:buNone/>
            </a:pPr>
            <a:r>
              <a:rPr lang="en-US" sz="1800" dirty="0">
                <a:solidFill>
                  <a:srgbClr val="1A202C"/>
                </a:solidFill>
                <a:latin typeface="Meiryo" pitchFamily="34" charset="0"/>
                <a:ea typeface="Meiryo" pitchFamily="34" charset="-122"/>
                <a:cs typeface="Meiryo" pitchFamily="34" charset="-120"/>
              </a:rPr>
              <a:t>👉 約束をし、責任を負うのは</a:t>
            </a:r>
            <a:endParaRPr lang="en-US" sz="1800" dirty="0"/>
          </a:p>
          <a:p>
            <a:pPr indent="0" marL="0">
              <a:buNone/>
            </a:pPr>
            <a:r>
              <a:rPr lang="en-US" sz="1800" dirty="0">
                <a:solidFill>
                  <a:srgbClr val="1A202C"/>
                </a:solidFill>
                <a:latin typeface="Meiryo" pitchFamily="34" charset="0"/>
                <a:ea typeface="Meiryo" pitchFamily="34" charset="-122"/>
                <a:cs typeface="Meiryo" pitchFamily="34" charset="-120"/>
              </a:rPr>
              <a:t>　必ず【人間】です！</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709160"/>
            <a:ext cx="5486400" cy="320040"/>
          </a:xfrm>
          <a:prstGeom prst="rect">
            <a:avLst/>
          </a:prstGeom>
          <a:noFill/>
          <a:ln/>
        </p:spPr>
        <p:txBody>
          <a:bodyPr wrap="square" rtlCol="0" anchor="ctr"/>
          <a:lstStyle/>
          <a:p>
            <a:pPr indent="0" marL="0">
              <a:buNone/>
            </a:pPr>
            <a:r>
              <a:rPr lang="en-US" sz="1200" dirty="0">
                <a:solidFill>
                  <a:srgbClr val="718096"/>
                </a:solidFill>
                <a:latin typeface="Meiryo" pitchFamily="34" charset="0"/>
                <a:ea typeface="Meiryo" pitchFamily="34" charset="-122"/>
                <a:cs typeface="Meiryo" pitchFamily="34" charset="-120"/>
              </a:rPr>
              <a:t>第2部 労働契約</a:t>
            </a:r>
            <a:endParaRPr lang="en-US" sz="1200" dirty="0"/>
          </a:p>
        </p:txBody>
      </p:sp>
      <p:sp>
        <p:nvSpPr>
          <p:cNvPr id="3" name="Text 1"/>
          <p:cNvSpPr/>
          <p:nvPr/>
        </p:nvSpPr>
        <p:spPr>
          <a:xfrm>
            <a:off x="7315200" y="4709160"/>
            <a:ext cx="1097280" cy="320040"/>
          </a:xfrm>
          <a:prstGeom prst="rect">
            <a:avLst/>
          </a:prstGeom>
          <a:noFill/>
          <a:ln/>
        </p:spPr>
        <p:txBody>
          <a:bodyPr wrap="square" rtlCol="0" anchor="ctr"/>
          <a:lstStyle/>
          <a:p>
            <a:pPr algn="r" indent="0" marL="0">
              <a:buNone/>
            </a:pPr>
            <a:r>
              <a:rPr lang="en-US" sz="1200" dirty="0">
                <a:solidFill>
                  <a:srgbClr val="718096"/>
                </a:solidFill>
                <a:latin typeface="Meiryo" pitchFamily="34" charset="0"/>
                <a:ea typeface="Meiryo" pitchFamily="34" charset="-122"/>
                <a:cs typeface="Meiryo" pitchFamily="34" charset="-120"/>
              </a:rPr>
              <a:t>9 / 30</a:t>
            </a:r>
            <a:endParaRPr lang="en-US" sz="1200" dirty="0"/>
          </a:p>
        </p:txBody>
      </p:sp>
      <p:sp>
        <p:nvSpPr>
          <p:cNvPr id="4" name="Text 2"/>
          <p:cNvSpPr/>
          <p:nvPr/>
        </p:nvSpPr>
        <p:spPr>
          <a:xfrm>
            <a:off x="731520" y="457200"/>
            <a:ext cx="7680960" cy="548640"/>
          </a:xfrm>
          <a:prstGeom prst="rect">
            <a:avLst/>
          </a:prstGeom>
          <a:noFill/>
          <a:ln/>
        </p:spPr>
        <p:txBody>
          <a:bodyPr wrap="square" rtlCol="0" anchor="ctr"/>
          <a:lstStyle/>
          <a:p>
            <a:pPr indent="0" marL="0">
              <a:buNone/>
            </a:pPr>
            <a:r>
              <a:rPr lang="en-US" sz="2600" b="1" dirty="0">
                <a:solidFill>
                  <a:srgbClr val="1A202C"/>
                </a:solidFill>
                <a:latin typeface="Meiryo" pitchFamily="34" charset="0"/>
                <a:ea typeface="Meiryo" pitchFamily="34" charset="-122"/>
                <a:cs typeface="Meiryo" pitchFamily="34" charset="-120"/>
              </a:rPr>
              <a:t>第2部 労働契約 ― 【クイズ】手に入る「権利」とは？</a:t>
            </a:r>
            <a:endParaRPr lang="en-US" sz="2600" dirty="0"/>
          </a:p>
        </p:txBody>
      </p:sp>
      <p:sp>
        <p:nvSpPr>
          <p:cNvPr id="5" name="Shape 3"/>
          <p:cNvSpPr/>
          <p:nvPr/>
        </p:nvSpPr>
        <p:spPr>
          <a:xfrm>
            <a:off x="731520" y="1188720"/>
            <a:ext cx="7680960" cy="914400"/>
          </a:xfrm>
          <a:prstGeom prst="roundRect">
            <a:avLst/>
          </a:prstGeom>
          <a:solidFill>
            <a:srgbClr val="F8FAFC"/>
          </a:solidFill>
          <a:ln w="25400">
            <a:solidFill>
              <a:srgbClr val="E2E8F0"/>
            </a:solidFill>
            <a:prstDash val="solid"/>
          </a:ln>
        </p:spPr>
      </p:sp>
      <p:sp>
        <p:nvSpPr>
          <p:cNvPr id="6" name="Text 4"/>
          <p:cNvSpPr/>
          <p:nvPr/>
        </p:nvSpPr>
        <p:spPr>
          <a:xfrm>
            <a:off x="914400" y="1417320"/>
            <a:ext cx="7315200" cy="457200"/>
          </a:xfrm>
          <a:prstGeom prst="rect">
            <a:avLst/>
          </a:prstGeom>
          <a:noFill/>
          <a:ln/>
        </p:spPr>
        <p:txBody>
          <a:bodyPr wrap="square" rtlCol="0" anchor="ctr"/>
          <a:lstStyle/>
          <a:p>
            <a:pPr algn="ctr" indent="0" marL="0">
              <a:buNone/>
            </a:pPr>
            <a:r>
              <a:rPr lang="en-US" sz="2200" b="1" dirty="0">
                <a:solidFill>
                  <a:srgbClr val="1A202C"/>
                </a:solidFill>
                <a:latin typeface="Meiryo" pitchFamily="34" charset="0"/>
                <a:ea typeface="Meiryo" pitchFamily="34" charset="-122"/>
                <a:cs typeface="Meiryo" pitchFamily="34" charset="-120"/>
              </a:rPr>
              <a:t>❓ 問い：会社と働く契約を結ぶとき、手に入る「一番の権利」は？</a:t>
            </a:r>
            <a:endParaRPr lang="en-US" sz="2200" dirty="0"/>
          </a:p>
        </p:txBody>
      </p:sp>
      <p:sp>
        <p:nvSpPr>
          <p:cNvPr id="7" name="Shape 5"/>
          <p:cNvSpPr/>
          <p:nvPr/>
        </p:nvSpPr>
        <p:spPr>
          <a:xfrm>
            <a:off x="731520" y="2286000"/>
            <a:ext cx="3657600" cy="2011680"/>
          </a:xfrm>
          <a:prstGeom prst="roundRect">
            <a:avLst/>
          </a:prstGeom>
          <a:solidFill>
            <a:srgbClr val="EBF8FF"/>
          </a:solidFill>
          <a:ln w="25400">
            <a:solidFill>
              <a:srgbClr val="1A73E8"/>
            </a:solidFill>
            <a:prstDash val="solid"/>
          </a:ln>
        </p:spPr>
      </p:sp>
      <p:sp>
        <p:nvSpPr>
          <p:cNvPr id="8" name="Text 6"/>
          <p:cNvSpPr/>
          <p:nvPr/>
        </p:nvSpPr>
        <p:spPr>
          <a:xfrm>
            <a:off x="914400" y="2560320"/>
            <a:ext cx="3291840" cy="457200"/>
          </a:xfrm>
          <a:prstGeom prst="rect">
            <a:avLst/>
          </a:prstGeom>
          <a:noFill/>
          <a:ln/>
        </p:spPr>
        <p:txBody>
          <a:bodyPr wrap="square" rtlCol="0" anchor="ctr"/>
          <a:lstStyle/>
          <a:p>
            <a:pPr algn="ctr" indent="0" marL="0">
              <a:buNone/>
            </a:pPr>
            <a:r>
              <a:rPr lang="en-US" sz="2200" b="1" dirty="0">
                <a:solidFill>
                  <a:srgbClr val="1A73E8"/>
                </a:solidFill>
                <a:latin typeface="Meiryo" pitchFamily="34" charset="0"/>
                <a:ea typeface="Meiryo" pitchFamily="34" charset="-122"/>
                <a:cs typeface="Meiryo" pitchFamily="34" charset="-120"/>
              </a:rPr>
              <a:t>💴 賃金支払請求権</a:t>
            </a:r>
            <a:endParaRPr lang="en-US" sz="2200" dirty="0"/>
          </a:p>
        </p:txBody>
      </p:sp>
      <p:sp>
        <p:nvSpPr>
          <p:cNvPr id="9" name="Text 7"/>
          <p:cNvSpPr/>
          <p:nvPr/>
        </p:nvSpPr>
        <p:spPr>
          <a:xfrm>
            <a:off x="914400" y="3108960"/>
            <a:ext cx="3291840" cy="914400"/>
          </a:xfrm>
          <a:prstGeom prst="rect">
            <a:avLst/>
          </a:prstGeom>
          <a:noFill/>
          <a:ln/>
        </p:spPr>
        <p:txBody>
          <a:bodyPr wrap="square" rtlCol="0" anchor="ctr"/>
          <a:lstStyle/>
          <a:p>
            <a:pPr algn="ctr" indent="0" marL="0">
              <a:buNone/>
            </a:pPr>
            <a:r>
              <a:rPr lang="en-US" sz="1800" dirty="0">
                <a:solidFill>
                  <a:srgbClr val="1A202C"/>
                </a:solidFill>
                <a:latin typeface="Meiryo" pitchFamily="34" charset="0"/>
                <a:ea typeface="Meiryo" pitchFamily="34" charset="-122"/>
                <a:cs typeface="Meiryo" pitchFamily="34" charset="-120"/>
              </a:rPr>
              <a:t>働いた分の給料を</a:t>
            </a:r>
            <a:endParaRPr lang="en-US" sz="1800" dirty="0"/>
          </a:p>
          <a:p>
            <a:pPr algn="ctr" indent="0" marL="0">
              <a:buNone/>
            </a:pPr>
            <a:r>
              <a:rPr lang="en-US" sz="1800" dirty="0">
                <a:solidFill>
                  <a:srgbClr val="1A202C"/>
                </a:solidFill>
                <a:latin typeface="Meiryo" pitchFamily="34" charset="0"/>
                <a:ea typeface="Meiryo" pitchFamily="34" charset="-122"/>
                <a:cs typeface="Meiryo" pitchFamily="34" charset="-120"/>
              </a:rPr>
              <a:t>きっちり請求できる強い権利！</a:t>
            </a:r>
            <a:endParaRPr lang="en-US" sz="1800" dirty="0"/>
          </a:p>
        </p:txBody>
      </p:sp>
      <p:sp>
        <p:nvSpPr>
          <p:cNvPr id="10" name="Shape 8"/>
          <p:cNvSpPr/>
          <p:nvPr/>
        </p:nvSpPr>
        <p:spPr>
          <a:xfrm>
            <a:off x="4754880" y="2286000"/>
            <a:ext cx="3657600" cy="2011680"/>
          </a:xfrm>
          <a:prstGeom prst="roundRect">
            <a:avLst/>
          </a:prstGeom>
          <a:solidFill>
            <a:srgbClr val="EBF8FF"/>
          </a:solidFill>
          <a:ln w="25400">
            <a:solidFill>
              <a:srgbClr val="1A73E8"/>
            </a:solidFill>
            <a:prstDash val="solid"/>
          </a:ln>
        </p:spPr>
      </p:sp>
      <p:sp>
        <p:nvSpPr>
          <p:cNvPr id="11" name="Text 9"/>
          <p:cNvSpPr/>
          <p:nvPr/>
        </p:nvSpPr>
        <p:spPr>
          <a:xfrm>
            <a:off x="4937760" y="2560320"/>
            <a:ext cx="3291840" cy="457200"/>
          </a:xfrm>
          <a:prstGeom prst="rect">
            <a:avLst/>
          </a:prstGeom>
          <a:noFill/>
          <a:ln/>
        </p:spPr>
        <p:txBody>
          <a:bodyPr wrap="square" rtlCol="0" anchor="ctr"/>
          <a:lstStyle/>
          <a:p>
            <a:pPr algn="ctr" indent="0" marL="0">
              <a:buNone/>
            </a:pPr>
            <a:r>
              <a:rPr lang="en-US" sz="2200" b="1" dirty="0">
                <a:solidFill>
                  <a:srgbClr val="1A73E8"/>
                </a:solidFill>
                <a:latin typeface="Meiryo" pitchFamily="34" charset="0"/>
                <a:ea typeface="Meiryo" pitchFamily="34" charset="-122"/>
                <a:cs typeface="Meiryo" pitchFamily="34" charset="-120"/>
              </a:rPr>
              <a:t>🛡️ 安全配慮を受ける権利</a:t>
            </a:r>
            <a:endParaRPr lang="en-US" sz="2200" dirty="0"/>
          </a:p>
        </p:txBody>
      </p:sp>
      <p:sp>
        <p:nvSpPr>
          <p:cNvPr id="12" name="Text 10"/>
          <p:cNvSpPr/>
          <p:nvPr/>
        </p:nvSpPr>
        <p:spPr>
          <a:xfrm>
            <a:off x="4937760" y="3108960"/>
            <a:ext cx="3291840" cy="914400"/>
          </a:xfrm>
          <a:prstGeom prst="rect">
            <a:avLst/>
          </a:prstGeom>
          <a:noFill/>
          <a:ln/>
        </p:spPr>
        <p:txBody>
          <a:bodyPr wrap="square" rtlCol="0" anchor="ctr"/>
          <a:lstStyle/>
          <a:p>
            <a:pPr algn="ctr" indent="0" marL="0">
              <a:buNone/>
            </a:pPr>
            <a:r>
              <a:rPr lang="en-US" sz="1800" dirty="0">
                <a:solidFill>
                  <a:srgbClr val="1A202C"/>
                </a:solidFill>
                <a:latin typeface="Meiryo" pitchFamily="34" charset="0"/>
                <a:ea typeface="Meiryo" pitchFamily="34" charset="-122"/>
                <a:cs typeface="Meiryo" pitchFamily="34" charset="-120"/>
              </a:rPr>
              <a:t>心身の健康と安全を</a:t>
            </a:r>
            <a:endParaRPr lang="en-US" sz="1800" dirty="0"/>
          </a:p>
          <a:p>
            <a:pPr algn="ctr" indent="0" marL="0">
              <a:buNone/>
            </a:pPr>
            <a:r>
              <a:rPr lang="en-US" sz="1800" dirty="0">
                <a:solidFill>
                  <a:srgbClr val="1A202C"/>
                </a:solidFill>
                <a:latin typeface="Meiryo" pitchFamily="34" charset="0"/>
                <a:ea typeface="Meiryo" pitchFamily="34" charset="-122"/>
                <a:cs typeface="Meiryo" pitchFamily="34" charset="-120"/>
              </a:rPr>
              <a:t>守ってもらいながら働く権利！</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709160"/>
            <a:ext cx="5486400" cy="320040"/>
          </a:xfrm>
          <a:prstGeom prst="rect">
            <a:avLst/>
          </a:prstGeom>
          <a:noFill/>
          <a:ln/>
        </p:spPr>
        <p:txBody>
          <a:bodyPr wrap="square" rtlCol="0" anchor="ctr"/>
          <a:lstStyle/>
          <a:p>
            <a:pPr indent="0" marL="0">
              <a:buNone/>
            </a:pPr>
            <a:r>
              <a:rPr lang="en-US" sz="1200" dirty="0">
                <a:solidFill>
                  <a:srgbClr val="718096"/>
                </a:solidFill>
                <a:latin typeface="Meiryo" pitchFamily="34" charset="0"/>
                <a:ea typeface="Meiryo" pitchFamily="34" charset="-122"/>
                <a:cs typeface="Meiryo" pitchFamily="34" charset="-120"/>
              </a:rPr>
              <a:t>第2部 労働契約</a:t>
            </a:r>
            <a:endParaRPr lang="en-US" sz="1200" dirty="0"/>
          </a:p>
        </p:txBody>
      </p:sp>
      <p:sp>
        <p:nvSpPr>
          <p:cNvPr id="3" name="Text 1"/>
          <p:cNvSpPr/>
          <p:nvPr/>
        </p:nvSpPr>
        <p:spPr>
          <a:xfrm>
            <a:off x="7315200" y="4709160"/>
            <a:ext cx="1097280" cy="320040"/>
          </a:xfrm>
          <a:prstGeom prst="rect">
            <a:avLst/>
          </a:prstGeom>
          <a:noFill/>
          <a:ln/>
        </p:spPr>
        <p:txBody>
          <a:bodyPr wrap="square" rtlCol="0" anchor="ctr"/>
          <a:lstStyle/>
          <a:p>
            <a:pPr algn="r" indent="0" marL="0">
              <a:buNone/>
            </a:pPr>
            <a:r>
              <a:rPr lang="en-US" sz="1200" dirty="0">
                <a:solidFill>
                  <a:srgbClr val="718096"/>
                </a:solidFill>
                <a:latin typeface="Meiryo" pitchFamily="34" charset="0"/>
                <a:ea typeface="Meiryo" pitchFamily="34" charset="-122"/>
                <a:cs typeface="Meiryo" pitchFamily="34" charset="-120"/>
              </a:rPr>
              <a:t>10 / 30</a:t>
            </a:r>
            <a:endParaRPr lang="en-US" sz="1200" dirty="0"/>
          </a:p>
        </p:txBody>
      </p:sp>
      <p:sp>
        <p:nvSpPr>
          <p:cNvPr id="4" name="Text 2"/>
          <p:cNvSpPr/>
          <p:nvPr/>
        </p:nvSpPr>
        <p:spPr>
          <a:xfrm>
            <a:off x="731520" y="457200"/>
            <a:ext cx="7680960" cy="548640"/>
          </a:xfrm>
          <a:prstGeom prst="rect">
            <a:avLst/>
          </a:prstGeom>
          <a:noFill/>
          <a:ln/>
        </p:spPr>
        <p:txBody>
          <a:bodyPr wrap="square" rtlCol="0" anchor="ctr"/>
          <a:lstStyle/>
          <a:p>
            <a:pPr indent="0" marL="0">
              <a:buNone/>
            </a:pPr>
            <a:r>
              <a:rPr lang="en-US" sz="2600" b="1" dirty="0">
                <a:solidFill>
                  <a:srgbClr val="1A202C"/>
                </a:solidFill>
                <a:latin typeface="Meiryo" pitchFamily="34" charset="0"/>
                <a:ea typeface="Meiryo" pitchFamily="34" charset="-122"/>
                <a:cs typeface="Meiryo" pitchFamily="34" charset="-120"/>
              </a:rPr>
              <a:t>労働契約（労契法6条）― 会社と働く人の権利・義務</a:t>
            </a:r>
            <a:endParaRPr lang="en-US" sz="2600" dirty="0"/>
          </a:p>
        </p:txBody>
      </p:sp>
      <p:sp>
        <p:nvSpPr>
          <p:cNvPr id="5" name="Shape 3"/>
          <p:cNvSpPr/>
          <p:nvPr/>
        </p:nvSpPr>
        <p:spPr>
          <a:xfrm>
            <a:off x="731520" y="1188720"/>
            <a:ext cx="3657600" cy="3108960"/>
          </a:xfrm>
          <a:prstGeom prst="roundRect">
            <a:avLst/>
          </a:prstGeom>
          <a:solidFill>
            <a:srgbClr val="F8FAFC"/>
          </a:solidFill>
          <a:ln w="25400">
            <a:solidFill>
              <a:srgbClr val="E2E8F0"/>
            </a:solidFill>
            <a:prstDash val="solid"/>
          </a:ln>
        </p:spPr>
      </p:sp>
      <p:sp>
        <p:nvSpPr>
          <p:cNvPr id="6" name="Text 4"/>
          <p:cNvSpPr/>
          <p:nvPr/>
        </p:nvSpPr>
        <p:spPr>
          <a:xfrm>
            <a:off x="914400" y="1371600"/>
            <a:ext cx="3291840" cy="457200"/>
          </a:xfrm>
          <a:prstGeom prst="rect">
            <a:avLst/>
          </a:prstGeom>
          <a:noFill/>
          <a:ln/>
        </p:spPr>
        <p:txBody>
          <a:bodyPr wrap="square" rtlCol="0" anchor="ctr"/>
          <a:lstStyle/>
          <a:p>
            <a:pPr algn="ctr" indent="0" marL="0">
              <a:buNone/>
            </a:pPr>
            <a:r>
              <a:rPr lang="en-US" sz="2400" b="1" dirty="0">
                <a:solidFill>
                  <a:srgbClr val="1A202C"/>
                </a:solidFill>
                <a:latin typeface="Meiryo" pitchFamily="34" charset="0"/>
                <a:ea typeface="Meiryo" pitchFamily="34" charset="-122"/>
                <a:cs typeface="Meiryo" pitchFamily="34" charset="-120"/>
              </a:rPr>
              <a:t>🏢 会社（事業主）</a:t>
            </a:r>
            <a:endParaRPr lang="en-US" sz="2400" dirty="0"/>
          </a:p>
        </p:txBody>
      </p:sp>
      <p:sp>
        <p:nvSpPr>
          <p:cNvPr id="7" name="Text 5"/>
          <p:cNvSpPr/>
          <p:nvPr/>
        </p:nvSpPr>
        <p:spPr>
          <a:xfrm>
            <a:off x="1005840" y="1920240"/>
            <a:ext cx="3108960" cy="2194560"/>
          </a:xfrm>
          <a:prstGeom prst="rect">
            <a:avLst/>
          </a:prstGeom>
          <a:noFill/>
          <a:ln/>
        </p:spPr>
        <p:txBody>
          <a:bodyPr wrap="square" rtlCol="0" anchor="ctr"/>
          <a:lstStyle/>
          <a:p>
            <a:pPr indent="0" marL="0">
              <a:buNone/>
            </a:pPr>
            <a:r>
              <a:rPr lang="en-US" sz="1700" dirty="0">
                <a:solidFill>
                  <a:srgbClr val="1A202C"/>
                </a:solidFill>
                <a:latin typeface="Meiryo" pitchFamily="34" charset="0"/>
                <a:ea typeface="Meiryo" pitchFamily="34" charset="-122"/>
                <a:cs typeface="Meiryo" pitchFamily="34" charset="-120"/>
              </a:rPr>
              <a:t>【権限】👉 指揮命令権</a:t>
            </a:r>
            <a:endParaRPr lang="en-US" sz="1700" dirty="0"/>
          </a:p>
          <a:p>
            <a:pPr indent="0" marL="0">
              <a:buNone/>
            </a:pPr>
            <a:r>
              <a:rPr lang="en-US" sz="1700" dirty="0">
                <a:solidFill>
                  <a:srgbClr val="1A202C"/>
                </a:solidFill>
                <a:latin typeface="Meiryo" pitchFamily="34" charset="0"/>
                <a:ea typeface="Meiryo" pitchFamily="34" charset="-122"/>
                <a:cs typeface="Meiryo" pitchFamily="34" charset="-120"/>
              </a:rPr>
              <a:t>・業務の進め方を指示できる</a:t>
            </a:r>
            <a:endParaRPr lang="en-US" sz="1700" dirty="0"/>
          </a:p>
          <a:p>
            <a:pPr indent="0" marL="0">
              <a:buNone/>
            </a:pPr>
            <a:endParaRPr lang="en-US" sz="1700" dirty="0"/>
          </a:p>
          <a:p>
            <a:pPr indent="0" marL="0">
              <a:buNone/>
            </a:pPr>
            <a:r>
              <a:rPr lang="en-US" sz="1700" dirty="0">
                <a:solidFill>
                  <a:srgbClr val="1A202C"/>
                </a:solidFill>
                <a:latin typeface="Meiryo" pitchFamily="34" charset="0"/>
                <a:ea typeface="Meiryo" pitchFamily="34" charset="-122"/>
                <a:cs typeface="Meiryo" pitchFamily="34" charset="-120"/>
              </a:rPr>
              <a:t>【義務】🔴 賃金支払債務</a:t>
            </a:r>
            <a:endParaRPr lang="en-US" sz="1700" dirty="0"/>
          </a:p>
          <a:p>
            <a:pPr indent="0" marL="0">
              <a:buNone/>
            </a:pPr>
            <a:r>
              <a:rPr lang="en-US" sz="1700" dirty="0">
                <a:solidFill>
                  <a:srgbClr val="1A202C"/>
                </a:solidFill>
                <a:latin typeface="Meiryo" pitchFamily="34" charset="0"/>
                <a:ea typeface="Meiryo" pitchFamily="34" charset="-122"/>
                <a:cs typeface="Meiryo" pitchFamily="34" charset="-120"/>
              </a:rPr>
              <a:t>・給料を必ず支払う</a:t>
            </a:r>
            <a:endParaRPr lang="en-US" sz="1700" dirty="0"/>
          </a:p>
          <a:p>
            <a:pPr indent="0" marL="0">
              <a:buNone/>
            </a:pPr>
            <a:endParaRPr lang="en-US" sz="1700" dirty="0"/>
          </a:p>
          <a:p>
            <a:pPr indent="0" marL="0">
              <a:buNone/>
            </a:pPr>
            <a:r>
              <a:rPr lang="en-US" sz="1700" dirty="0">
                <a:solidFill>
                  <a:srgbClr val="1A202C"/>
                </a:solidFill>
                <a:latin typeface="Meiryo" pitchFamily="34" charset="0"/>
                <a:ea typeface="Meiryo" pitchFamily="34" charset="-122"/>
                <a:cs typeface="Meiryo" pitchFamily="34" charset="-120"/>
              </a:rPr>
              <a:t>【義務】🛡️ 安全配慮義務（労契法5条）</a:t>
            </a:r>
            <a:endParaRPr lang="en-US" sz="1700" dirty="0"/>
          </a:p>
          <a:p>
            <a:pPr indent="0" marL="0">
              <a:buNone/>
            </a:pPr>
            <a:r>
              <a:rPr lang="en-US" sz="1700" dirty="0">
                <a:solidFill>
                  <a:srgbClr val="1A202C"/>
                </a:solidFill>
                <a:latin typeface="Meiryo" pitchFamily="34" charset="0"/>
                <a:ea typeface="Meiryo" pitchFamily="34" charset="-122"/>
                <a:cs typeface="Meiryo" pitchFamily="34" charset="-120"/>
              </a:rPr>
              <a:t>・心身の健康と安全を守る</a:t>
            </a:r>
            <a:endParaRPr lang="en-US" sz="1700" dirty="0"/>
          </a:p>
        </p:txBody>
      </p:sp>
      <p:sp>
        <p:nvSpPr>
          <p:cNvPr id="8" name="Shape 6"/>
          <p:cNvSpPr/>
          <p:nvPr/>
        </p:nvSpPr>
        <p:spPr>
          <a:xfrm>
            <a:off x="4754880" y="1188720"/>
            <a:ext cx="3657600" cy="3108960"/>
          </a:xfrm>
          <a:prstGeom prst="roundRect">
            <a:avLst/>
          </a:prstGeom>
          <a:solidFill>
            <a:srgbClr val="EBF8FF"/>
          </a:solidFill>
          <a:ln w="31750">
            <a:solidFill>
              <a:srgbClr val="1A73E8"/>
            </a:solidFill>
            <a:prstDash val="solid"/>
          </a:ln>
        </p:spPr>
      </p:sp>
      <p:sp>
        <p:nvSpPr>
          <p:cNvPr id="9" name="Text 7"/>
          <p:cNvSpPr/>
          <p:nvPr/>
        </p:nvSpPr>
        <p:spPr>
          <a:xfrm>
            <a:off x="4937760" y="1371600"/>
            <a:ext cx="3291840" cy="457200"/>
          </a:xfrm>
          <a:prstGeom prst="rect">
            <a:avLst/>
          </a:prstGeom>
          <a:noFill/>
          <a:ln/>
        </p:spPr>
        <p:txBody>
          <a:bodyPr wrap="square" rtlCol="0" anchor="ctr"/>
          <a:lstStyle/>
          <a:p>
            <a:pPr algn="ctr" indent="0" marL="0">
              <a:buNone/>
            </a:pPr>
            <a:r>
              <a:rPr lang="en-US" sz="2400" b="1" dirty="0">
                <a:solidFill>
                  <a:srgbClr val="1A73E8"/>
                </a:solidFill>
                <a:latin typeface="Meiryo" pitchFamily="34" charset="0"/>
                <a:ea typeface="Meiryo" pitchFamily="34" charset="-122"/>
                <a:cs typeface="Meiryo" pitchFamily="34" charset="-120"/>
              </a:rPr>
              <a:t>👩‍💻 働く人（労働者）</a:t>
            </a:r>
            <a:endParaRPr lang="en-US" sz="2400" dirty="0"/>
          </a:p>
        </p:txBody>
      </p:sp>
      <p:sp>
        <p:nvSpPr>
          <p:cNvPr id="10" name="Text 8"/>
          <p:cNvSpPr/>
          <p:nvPr/>
        </p:nvSpPr>
        <p:spPr>
          <a:xfrm>
            <a:off x="5029200" y="1920240"/>
            <a:ext cx="3108960" cy="2194560"/>
          </a:xfrm>
          <a:prstGeom prst="rect">
            <a:avLst/>
          </a:prstGeom>
          <a:noFill/>
          <a:ln/>
        </p:spPr>
        <p:txBody>
          <a:bodyPr wrap="square" rtlCol="0" anchor="ctr"/>
          <a:lstStyle/>
          <a:p>
            <a:pPr indent="0" marL="0">
              <a:buNone/>
            </a:pPr>
            <a:r>
              <a:rPr lang="en-US" sz="1700" dirty="0">
                <a:solidFill>
                  <a:srgbClr val="1A202C"/>
                </a:solidFill>
                <a:latin typeface="Meiryo" pitchFamily="34" charset="0"/>
                <a:ea typeface="Meiryo" pitchFamily="34" charset="-122"/>
                <a:cs typeface="Meiryo" pitchFamily="34" charset="-120"/>
              </a:rPr>
              <a:t>【権利】🔵 賃金支払請求権</a:t>
            </a:r>
            <a:endParaRPr lang="en-US" sz="1700" dirty="0"/>
          </a:p>
          <a:p>
            <a:pPr indent="0" marL="0">
              <a:buNone/>
            </a:pPr>
            <a:r>
              <a:rPr lang="en-US" sz="1700" dirty="0">
                <a:solidFill>
                  <a:srgbClr val="1A202C"/>
                </a:solidFill>
                <a:latin typeface="Meiryo" pitchFamily="34" charset="0"/>
                <a:ea typeface="Meiryo" pitchFamily="34" charset="-122"/>
                <a:cs typeface="Meiryo" pitchFamily="34" charset="-120"/>
              </a:rPr>
              <a:t>・給料を求める権利</a:t>
            </a:r>
            <a:endParaRPr lang="en-US" sz="1700" dirty="0"/>
          </a:p>
          <a:p>
            <a:pPr indent="0" marL="0">
              <a:buNone/>
            </a:pPr>
            <a:endParaRPr lang="en-US" sz="1700" dirty="0"/>
          </a:p>
          <a:p>
            <a:pPr indent="0" marL="0">
              <a:buNone/>
            </a:pPr>
            <a:r>
              <a:rPr lang="en-US" sz="1700" dirty="0">
                <a:solidFill>
                  <a:srgbClr val="1A202C"/>
                </a:solidFill>
                <a:latin typeface="Meiryo" pitchFamily="34" charset="0"/>
                <a:ea typeface="Meiryo" pitchFamily="34" charset="-122"/>
                <a:cs typeface="Meiryo" pitchFamily="34" charset="-120"/>
              </a:rPr>
              <a:t>【義務】🔴 労務提供義務</a:t>
            </a:r>
            <a:endParaRPr lang="en-US" sz="1700" dirty="0"/>
          </a:p>
          <a:p>
            <a:pPr indent="0" marL="0">
              <a:buNone/>
            </a:pPr>
            <a:r>
              <a:rPr lang="en-US" sz="1700" dirty="0">
                <a:solidFill>
                  <a:srgbClr val="1A202C"/>
                </a:solidFill>
                <a:latin typeface="Meiryo" pitchFamily="34" charset="0"/>
                <a:ea typeface="Meiryo" pitchFamily="34" charset="-122"/>
                <a:cs typeface="Meiryo" pitchFamily="34" charset="-120"/>
              </a:rPr>
              <a:t>・仕事をする義務</a:t>
            </a:r>
            <a:endParaRPr lang="en-US" sz="1700" dirty="0"/>
          </a:p>
          <a:p>
            <a:pPr indent="0" marL="0">
              <a:buNone/>
            </a:pPr>
            <a:endParaRPr lang="en-US" sz="1700" dirty="0"/>
          </a:p>
          <a:p>
            <a:pPr indent="0" marL="0">
              <a:buNone/>
            </a:pPr>
            <a:r>
              <a:rPr lang="en-US" sz="1700" dirty="0">
                <a:solidFill>
                  <a:srgbClr val="1A202C"/>
                </a:solidFill>
                <a:latin typeface="Meiryo" pitchFamily="34" charset="0"/>
                <a:ea typeface="Meiryo" pitchFamily="34" charset="-122"/>
                <a:cs typeface="Meiryo" pitchFamily="34" charset="-120"/>
              </a:rPr>
              <a:t>【義務】💼 職務専念 ＆ 秩序遵守</a:t>
            </a:r>
            <a:endParaRPr lang="en-US" sz="1700" dirty="0"/>
          </a:p>
          <a:p>
            <a:pPr indent="0" marL="0">
              <a:buNone/>
            </a:pPr>
            <a:r>
              <a:rPr lang="en-US" sz="1700" dirty="0">
                <a:solidFill>
                  <a:srgbClr val="1A202C"/>
                </a:solidFill>
                <a:latin typeface="Meiryo" pitchFamily="34" charset="0"/>
                <a:ea typeface="Meiryo" pitchFamily="34" charset="-122"/>
                <a:cs typeface="Meiryo" pitchFamily="34" charset="-120"/>
              </a:rPr>
              <a:t>・勤務中集中・秘密を守る</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709160"/>
            <a:ext cx="5486400" cy="320040"/>
          </a:xfrm>
          <a:prstGeom prst="rect">
            <a:avLst/>
          </a:prstGeom>
          <a:noFill/>
          <a:ln/>
        </p:spPr>
        <p:txBody>
          <a:bodyPr wrap="square" rtlCol="0" anchor="ctr"/>
          <a:lstStyle/>
          <a:p>
            <a:pPr indent="0" marL="0">
              <a:buNone/>
            </a:pPr>
            <a:r>
              <a:rPr lang="en-US" sz="1200" dirty="0">
                <a:solidFill>
                  <a:srgbClr val="718096"/>
                </a:solidFill>
                <a:latin typeface="Meiryo" pitchFamily="34" charset="0"/>
                <a:ea typeface="Meiryo" pitchFamily="34" charset="-122"/>
                <a:cs typeface="Meiryo" pitchFamily="34" charset="-120"/>
              </a:rPr>
              <a:t>第2部 労働契約</a:t>
            </a:r>
            <a:endParaRPr lang="en-US" sz="1200" dirty="0"/>
          </a:p>
        </p:txBody>
      </p:sp>
      <p:sp>
        <p:nvSpPr>
          <p:cNvPr id="3" name="Text 1"/>
          <p:cNvSpPr/>
          <p:nvPr/>
        </p:nvSpPr>
        <p:spPr>
          <a:xfrm>
            <a:off x="7315200" y="4709160"/>
            <a:ext cx="1097280" cy="320040"/>
          </a:xfrm>
          <a:prstGeom prst="rect">
            <a:avLst/>
          </a:prstGeom>
          <a:noFill/>
          <a:ln/>
        </p:spPr>
        <p:txBody>
          <a:bodyPr wrap="square" rtlCol="0" anchor="ctr"/>
          <a:lstStyle/>
          <a:p>
            <a:pPr algn="r" indent="0" marL="0">
              <a:buNone/>
            </a:pPr>
            <a:r>
              <a:rPr lang="en-US" sz="1200" dirty="0">
                <a:solidFill>
                  <a:srgbClr val="718096"/>
                </a:solidFill>
                <a:latin typeface="Meiryo" pitchFamily="34" charset="0"/>
                <a:ea typeface="Meiryo" pitchFamily="34" charset="-122"/>
                <a:cs typeface="Meiryo" pitchFamily="34" charset="-120"/>
              </a:rPr>
              <a:t>11 / 30</a:t>
            </a:r>
            <a:endParaRPr lang="en-US" sz="1200" dirty="0"/>
          </a:p>
        </p:txBody>
      </p:sp>
      <p:sp>
        <p:nvSpPr>
          <p:cNvPr id="4" name="Text 2"/>
          <p:cNvSpPr/>
          <p:nvPr/>
        </p:nvSpPr>
        <p:spPr>
          <a:xfrm>
            <a:off x="731520" y="365760"/>
            <a:ext cx="7680960" cy="457200"/>
          </a:xfrm>
          <a:prstGeom prst="rect">
            <a:avLst/>
          </a:prstGeom>
          <a:noFill/>
          <a:ln/>
        </p:spPr>
        <p:txBody>
          <a:bodyPr wrap="square" rtlCol="0" anchor="ctr"/>
          <a:lstStyle/>
          <a:p>
            <a:pPr indent="0" marL="0">
              <a:buNone/>
            </a:pPr>
            <a:r>
              <a:rPr lang="en-US" sz="2400" b="1" dirty="0">
                <a:solidFill>
                  <a:srgbClr val="1A202C"/>
                </a:solidFill>
                <a:latin typeface="Meiryo" pitchFamily="34" charset="0"/>
                <a:ea typeface="Meiryo" pitchFamily="34" charset="-122"/>
                <a:cs typeface="Meiryo" pitchFamily="34" charset="-120"/>
              </a:rPr>
              <a:t>【図2】労働契約の構造マップ</a:t>
            </a:r>
            <a:endParaRPr lang="en-US" sz="2400" dirty="0"/>
          </a:p>
        </p:txBody>
      </p:sp>
      <p:pic>
        <p:nvPicPr>
          <p:cNvPr id="5" name="Image 0" descr="c:\Users\sugiy\.antigravity\練習用\fig2_roudou.png">    </p:cNvPr>
          <p:cNvPicPr>
            <a:picLocks noChangeAspect="1"/>
          </p:cNvPicPr>
          <p:nvPr/>
        </p:nvPicPr>
        <p:blipFill>
          <a:blip r:embed="rId1"/>
          <a:stretch>
            <a:fillRect/>
          </a:stretch>
        </p:blipFill>
        <p:spPr>
          <a:xfrm>
            <a:off x="731520" y="914400"/>
            <a:ext cx="7680960" cy="37490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709160"/>
            <a:ext cx="5486400" cy="320040"/>
          </a:xfrm>
          <a:prstGeom prst="rect">
            <a:avLst/>
          </a:prstGeom>
          <a:noFill/>
          <a:ln/>
        </p:spPr>
        <p:txBody>
          <a:bodyPr wrap="square" rtlCol="0" anchor="ctr"/>
          <a:lstStyle/>
          <a:p>
            <a:pPr indent="0" marL="0">
              <a:buNone/>
            </a:pPr>
            <a:r>
              <a:rPr lang="en-US" sz="1200" dirty="0">
                <a:solidFill>
                  <a:srgbClr val="718096"/>
                </a:solidFill>
                <a:latin typeface="Meiryo" pitchFamily="34" charset="0"/>
                <a:ea typeface="Meiryo" pitchFamily="34" charset="-122"/>
                <a:cs typeface="Meiryo" pitchFamily="34" charset="-120"/>
              </a:rPr>
              <a:t>第2部 労働契約</a:t>
            </a:r>
            <a:endParaRPr lang="en-US" sz="1200" dirty="0"/>
          </a:p>
        </p:txBody>
      </p:sp>
      <p:sp>
        <p:nvSpPr>
          <p:cNvPr id="3" name="Text 1"/>
          <p:cNvSpPr/>
          <p:nvPr/>
        </p:nvSpPr>
        <p:spPr>
          <a:xfrm>
            <a:off x="7315200" y="4709160"/>
            <a:ext cx="1097280" cy="320040"/>
          </a:xfrm>
          <a:prstGeom prst="rect">
            <a:avLst/>
          </a:prstGeom>
          <a:noFill/>
          <a:ln/>
        </p:spPr>
        <p:txBody>
          <a:bodyPr wrap="square" rtlCol="0" anchor="ctr"/>
          <a:lstStyle/>
          <a:p>
            <a:pPr algn="r" indent="0" marL="0">
              <a:buNone/>
            </a:pPr>
            <a:r>
              <a:rPr lang="en-US" sz="1200" dirty="0">
                <a:solidFill>
                  <a:srgbClr val="718096"/>
                </a:solidFill>
                <a:latin typeface="Meiryo" pitchFamily="34" charset="0"/>
                <a:ea typeface="Meiryo" pitchFamily="34" charset="-122"/>
                <a:cs typeface="Meiryo" pitchFamily="34" charset="-120"/>
              </a:rPr>
              <a:t>12 / 30</a:t>
            </a:r>
            <a:endParaRPr lang="en-US" sz="1200" dirty="0"/>
          </a:p>
        </p:txBody>
      </p:sp>
      <p:sp>
        <p:nvSpPr>
          <p:cNvPr id="4" name="Text 2"/>
          <p:cNvSpPr/>
          <p:nvPr/>
        </p:nvSpPr>
        <p:spPr>
          <a:xfrm>
            <a:off x="731520" y="457200"/>
            <a:ext cx="7680960" cy="548640"/>
          </a:xfrm>
          <a:prstGeom prst="rect">
            <a:avLst/>
          </a:prstGeom>
          <a:noFill/>
          <a:ln/>
        </p:spPr>
        <p:txBody>
          <a:bodyPr wrap="square" rtlCol="0" anchor="ctr"/>
          <a:lstStyle/>
          <a:p>
            <a:pPr indent="0" marL="0">
              <a:buNone/>
            </a:pPr>
            <a:r>
              <a:rPr lang="en-US" sz="2600" b="1" dirty="0">
                <a:solidFill>
                  <a:srgbClr val="1A202C"/>
                </a:solidFill>
                <a:latin typeface="Meiryo" pitchFamily="34" charset="0"/>
                <a:ea typeface="Meiryo" pitchFamily="34" charset="-122"/>
                <a:cs typeface="Meiryo" pitchFamily="34" charset="-120"/>
              </a:rPr>
              <a:t>労働契約とAIの接点 ― 現場のルールと安心配慮</a:t>
            </a:r>
            <a:endParaRPr lang="en-US" sz="2600" dirty="0"/>
          </a:p>
        </p:txBody>
      </p:sp>
      <p:sp>
        <p:nvSpPr>
          <p:cNvPr id="5" name="Shape 3"/>
          <p:cNvSpPr/>
          <p:nvPr/>
        </p:nvSpPr>
        <p:spPr>
          <a:xfrm>
            <a:off x="731520" y="1188720"/>
            <a:ext cx="3657600" cy="3108960"/>
          </a:xfrm>
          <a:prstGeom prst="roundRect">
            <a:avLst/>
          </a:prstGeom>
          <a:solidFill>
            <a:srgbClr val="F8FAFC"/>
          </a:solidFill>
          <a:ln w="25400">
            <a:solidFill>
              <a:srgbClr val="E2E8F0"/>
            </a:solidFill>
            <a:prstDash val="solid"/>
          </a:ln>
        </p:spPr>
      </p:sp>
      <p:sp>
        <p:nvSpPr>
          <p:cNvPr id="6" name="Text 4"/>
          <p:cNvSpPr/>
          <p:nvPr/>
        </p:nvSpPr>
        <p:spPr>
          <a:xfrm>
            <a:off x="914400" y="1463040"/>
            <a:ext cx="3291840" cy="457200"/>
          </a:xfrm>
          <a:prstGeom prst="rect">
            <a:avLst/>
          </a:prstGeom>
          <a:noFill/>
          <a:ln/>
        </p:spPr>
        <p:txBody>
          <a:bodyPr wrap="square" rtlCol="0" anchor="ctr"/>
          <a:lstStyle/>
          <a:p>
            <a:pPr algn="ctr" indent="0" marL="0">
              <a:buNone/>
            </a:pPr>
            <a:r>
              <a:rPr lang="en-US" sz="2200" b="1" dirty="0">
                <a:solidFill>
                  <a:srgbClr val="1A202C"/>
                </a:solidFill>
                <a:latin typeface="Meiryo" pitchFamily="34" charset="0"/>
                <a:ea typeface="Meiryo" pitchFamily="34" charset="-122"/>
                <a:cs typeface="Meiryo" pitchFamily="34" charset="-120"/>
              </a:rPr>
              <a:t>🔒 働く側のルール</a:t>
            </a:r>
            <a:endParaRPr lang="en-US" sz="2200" dirty="0"/>
          </a:p>
        </p:txBody>
      </p:sp>
      <p:sp>
        <p:nvSpPr>
          <p:cNvPr id="7" name="Text 5"/>
          <p:cNvSpPr/>
          <p:nvPr/>
        </p:nvSpPr>
        <p:spPr>
          <a:xfrm>
            <a:off x="1005840" y="2103120"/>
            <a:ext cx="3108960" cy="2011680"/>
          </a:xfrm>
          <a:prstGeom prst="rect">
            <a:avLst/>
          </a:prstGeom>
          <a:noFill/>
          <a:ln/>
        </p:spPr>
        <p:txBody>
          <a:bodyPr wrap="square" rtlCol="0" anchor="ctr"/>
          <a:lstStyle/>
          <a:p>
            <a:pPr indent="0" marL="0">
              <a:buNone/>
            </a:pPr>
            <a:r>
              <a:rPr lang="en-US" sz="1700" dirty="0">
                <a:solidFill>
                  <a:srgbClr val="1A202C"/>
                </a:solidFill>
                <a:latin typeface="Meiryo" pitchFamily="34" charset="0"/>
                <a:ea typeface="Meiryo" pitchFamily="34" charset="-122"/>
                <a:cs typeface="Meiryo" pitchFamily="34" charset="-120"/>
              </a:rPr>
              <a:t>👉 指揮命令：会社の指示したツールを使う</a:t>
            </a:r>
            <a:endParaRPr lang="en-US" sz="1700" dirty="0"/>
          </a:p>
          <a:p>
            <a:pPr indent="0" marL="0">
              <a:buNone/>
            </a:pPr>
            <a:endParaRPr lang="en-US" sz="1700" dirty="0"/>
          </a:p>
          <a:p>
            <a:pPr indent="0" marL="0">
              <a:buNone/>
            </a:pPr>
            <a:r>
              <a:rPr lang="en-US" sz="1700" dirty="0">
                <a:solidFill>
                  <a:srgbClr val="1A202C"/>
                </a:solidFill>
                <a:latin typeface="Meiryo" pitchFamily="34" charset="0"/>
                <a:ea typeface="Meiryo" pitchFamily="34" charset="-122"/>
                <a:cs typeface="Meiryo" pitchFamily="34" charset="-120"/>
              </a:rPr>
              <a:t>💼 職務専念：勤務中は仕事の制作に集中</a:t>
            </a:r>
            <a:endParaRPr lang="en-US" sz="1700" dirty="0"/>
          </a:p>
          <a:p>
            <a:pPr indent="0" marL="0">
              <a:buNone/>
            </a:pPr>
            <a:endParaRPr lang="en-US" sz="1700" dirty="0"/>
          </a:p>
          <a:p>
            <a:pPr indent="0" marL="0">
              <a:buNone/>
            </a:pPr>
            <a:r>
              <a:rPr lang="en-US" sz="1700" dirty="0">
                <a:solidFill>
                  <a:srgbClr val="1A202C"/>
                </a:solidFill>
                <a:latin typeface="Meiryo" pitchFamily="34" charset="0"/>
                <a:ea typeface="Meiryo" pitchFamily="34" charset="-122"/>
                <a:cs typeface="Meiryo" pitchFamily="34" charset="-120"/>
              </a:rPr>
              <a:t>⚠️ 秘密保持：顧客情報や未公開データを</a:t>
            </a:r>
            <a:endParaRPr lang="en-US" sz="1700" dirty="0"/>
          </a:p>
          <a:p>
            <a:pPr indent="0" marL="0">
              <a:buNone/>
            </a:pPr>
            <a:r>
              <a:rPr lang="en-US" sz="1700" dirty="0">
                <a:solidFill>
                  <a:srgbClr val="1A202C"/>
                </a:solidFill>
                <a:latin typeface="Meiryo" pitchFamily="34" charset="0"/>
                <a:ea typeface="Meiryo" pitchFamily="34" charset="-122"/>
                <a:cs typeface="Meiryo" pitchFamily="34" charset="-120"/>
              </a:rPr>
              <a:t>　AIに入力しない！（外部流出と同じ！）</a:t>
            </a:r>
            <a:endParaRPr lang="en-US" sz="1700" dirty="0"/>
          </a:p>
        </p:txBody>
      </p:sp>
      <p:sp>
        <p:nvSpPr>
          <p:cNvPr id="8" name="Shape 6"/>
          <p:cNvSpPr/>
          <p:nvPr/>
        </p:nvSpPr>
        <p:spPr>
          <a:xfrm>
            <a:off x="4754880" y="1188720"/>
            <a:ext cx="3657600" cy="3108960"/>
          </a:xfrm>
          <a:prstGeom prst="roundRect">
            <a:avLst/>
          </a:prstGeom>
          <a:solidFill>
            <a:srgbClr val="EBF8FF"/>
          </a:solidFill>
          <a:ln w="31750">
            <a:solidFill>
              <a:srgbClr val="1A73E8"/>
            </a:solidFill>
            <a:prstDash val="solid"/>
          </a:ln>
        </p:spPr>
      </p:sp>
      <p:sp>
        <p:nvSpPr>
          <p:cNvPr id="9" name="Text 7"/>
          <p:cNvSpPr/>
          <p:nvPr/>
        </p:nvSpPr>
        <p:spPr>
          <a:xfrm>
            <a:off x="4937760" y="1463040"/>
            <a:ext cx="3291840" cy="457200"/>
          </a:xfrm>
          <a:prstGeom prst="rect">
            <a:avLst/>
          </a:prstGeom>
          <a:noFill/>
          <a:ln/>
        </p:spPr>
        <p:txBody>
          <a:bodyPr wrap="square" rtlCol="0" anchor="ctr"/>
          <a:lstStyle/>
          <a:p>
            <a:pPr algn="ctr" indent="0" marL="0">
              <a:buNone/>
            </a:pPr>
            <a:r>
              <a:rPr lang="en-US" sz="2200" b="1" dirty="0">
                <a:solidFill>
                  <a:srgbClr val="1A73E8"/>
                </a:solidFill>
                <a:latin typeface="Meiryo" pitchFamily="34" charset="0"/>
                <a:ea typeface="Meiryo" pitchFamily="34" charset="-122"/>
                <a:cs typeface="Meiryo" pitchFamily="34" charset="-120"/>
              </a:rPr>
              <a:t>🛡️ 会社の安全配慮義務</a:t>
            </a:r>
            <a:endParaRPr lang="en-US" sz="2200" dirty="0"/>
          </a:p>
        </p:txBody>
      </p:sp>
      <p:sp>
        <p:nvSpPr>
          <p:cNvPr id="10" name="Text 8"/>
          <p:cNvSpPr/>
          <p:nvPr/>
        </p:nvSpPr>
        <p:spPr>
          <a:xfrm>
            <a:off x="5029200" y="2103120"/>
            <a:ext cx="3108960" cy="2011680"/>
          </a:xfrm>
          <a:prstGeom prst="rect">
            <a:avLst/>
          </a:prstGeom>
          <a:noFill/>
          <a:ln/>
        </p:spPr>
        <p:txBody>
          <a:bodyPr wrap="square" rtlCol="0" anchor="ctr"/>
          <a:lstStyle/>
          <a:p>
            <a:pPr indent="0" marL="0">
              <a:buNone/>
            </a:pPr>
            <a:r>
              <a:rPr lang="en-US" sz="1700" dirty="0">
                <a:solidFill>
                  <a:srgbClr val="1A202C"/>
                </a:solidFill>
                <a:latin typeface="Meiryo" pitchFamily="34" charset="0"/>
                <a:ea typeface="Meiryo" pitchFamily="34" charset="-122"/>
                <a:cs typeface="Meiryo" pitchFamily="34" charset="-120"/>
              </a:rPr>
              <a:t>👀 画面作業による目の疲れへの配慮</a:t>
            </a:r>
            <a:endParaRPr lang="en-US" sz="1700" dirty="0"/>
          </a:p>
          <a:p>
            <a:pPr indent="0" marL="0">
              <a:buNone/>
            </a:pPr>
            <a:endParaRPr lang="en-US" sz="1700" dirty="0"/>
          </a:p>
          <a:p>
            <a:pPr indent="0" marL="0">
              <a:buNone/>
            </a:pPr>
            <a:r>
              <a:rPr lang="en-US" sz="1700" dirty="0">
                <a:solidFill>
                  <a:srgbClr val="1A202C"/>
                </a:solidFill>
                <a:latin typeface="Meiryo" pitchFamily="34" charset="0"/>
                <a:ea typeface="Meiryo" pitchFamily="34" charset="-122"/>
                <a:cs typeface="Meiryo" pitchFamily="34" charset="-120"/>
              </a:rPr>
              <a:t>💔 不快な画像が出たときの心のケア</a:t>
            </a:r>
            <a:endParaRPr lang="en-US" sz="1700" dirty="0"/>
          </a:p>
          <a:p>
            <a:pPr indent="0" marL="0">
              <a:buNone/>
            </a:pPr>
            <a:endParaRPr lang="en-US" sz="1700" dirty="0"/>
          </a:p>
          <a:p>
            <a:pPr indent="0" marL="0">
              <a:buNone/>
            </a:pPr>
            <a:r>
              <a:rPr lang="en-US" sz="1700" dirty="0">
                <a:solidFill>
                  <a:srgbClr val="1A202C"/>
                </a:solidFill>
                <a:latin typeface="Meiryo" pitchFamily="34" charset="0"/>
                <a:ea typeface="Meiryo" pitchFamily="34" charset="-122"/>
                <a:cs typeface="Meiryo" pitchFamily="34" charset="-120"/>
              </a:rPr>
              <a:t>📖 新しいツールの丁寧な研修</a:t>
            </a:r>
            <a:endParaRPr lang="en-US" sz="1700" dirty="0"/>
          </a:p>
          <a:p>
            <a:pPr indent="0" marL="0">
              <a:buNone/>
            </a:pPr>
            <a:endParaRPr lang="en-US" sz="1700" dirty="0"/>
          </a:p>
          <a:p>
            <a:pPr indent="0" marL="0">
              <a:buNone/>
            </a:pPr>
            <a:r>
              <a:rPr lang="en-US" sz="1700" dirty="0">
                <a:solidFill>
                  <a:srgbClr val="1A202C"/>
                </a:solidFill>
                <a:latin typeface="Meiryo" pitchFamily="34" charset="0"/>
                <a:ea typeface="Meiryo" pitchFamily="34" charset="-122"/>
                <a:cs typeface="Meiryo" pitchFamily="34" charset="-120"/>
              </a:rPr>
              <a:t>★「しんどい時は遠慮なく会社に伝えてOK！」</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709160"/>
            <a:ext cx="5486400" cy="320040"/>
          </a:xfrm>
          <a:prstGeom prst="rect">
            <a:avLst/>
          </a:prstGeom>
          <a:noFill/>
          <a:ln/>
        </p:spPr>
        <p:txBody>
          <a:bodyPr wrap="square" rtlCol="0" anchor="ctr"/>
          <a:lstStyle/>
          <a:p>
            <a:pPr indent="0" marL="0">
              <a:buNone/>
            </a:pPr>
            <a:r>
              <a:rPr lang="en-US" sz="1200" dirty="0">
                <a:solidFill>
                  <a:srgbClr val="718096"/>
                </a:solidFill>
                <a:latin typeface="Meiryo" pitchFamily="34" charset="0"/>
                <a:ea typeface="Meiryo" pitchFamily="34" charset="-122"/>
                <a:cs typeface="Meiryo" pitchFamily="34" charset="-120"/>
              </a:rPr>
              <a:t>第2部 労働契約</a:t>
            </a:r>
            <a:endParaRPr lang="en-US" sz="1200" dirty="0"/>
          </a:p>
        </p:txBody>
      </p:sp>
      <p:sp>
        <p:nvSpPr>
          <p:cNvPr id="3" name="Text 1"/>
          <p:cNvSpPr/>
          <p:nvPr/>
        </p:nvSpPr>
        <p:spPr>
          <a:xfrm>
            <a:off x="7315200" y="4709160"/>
            <a:ext cx="1097280" cy="320040"/>
          </a:xfrm>
          <a:prstGeom prst="rect">
            <a:avLst/>
          </a:prstGeom>
          <a:noFill/>
          <a:ln/>
        </p:spPr>
        <p:txBody>
          <a:bodyPr wrap="square" rtlCol="0" anchor="ctr"/>
          <a:lstStyle/>
          <a:p>
            <a:pPr algn="r" indent="0" marL="0">
              <a:buNone/>
            </a:pPr>
            <a:r>
              <a:rPr lang="en-US" sz="1200" dirty="0">
                <a:solidFill>
                  <a:srgbClr val="718096"/>
                </a:solidFill>
                <a:latin typeface="Meiryo" pitchFamily="34" charset="0"/>
                <a:ea typeface="Meiryo" pitchFamily="34" charset="-122"/>
                <a:cs typeface="Meiryo" pitchFamily="34" charset="-120"/>
              </a:rPr>
              <a:t>13 / 30</a:t>
            </a:r>
            <a:endParaRPr lang="en-US" sz="1200" dirty="0"/>
          </a:p>
        </p:txBody>
      </p:sp>
      <p:sp>
        <p:nvSpPr>
          <p:cNvPr id="4" name="Text 2"/>
          <p:cNvSpPr/>
          <p:nvPr/>
        </p:nvSpPr>
        <p:spPr>
          <a:xfrm>
            <a:off x="731520" y="457200"/>
            <a:ext cx="7680960" cy="548640"/>
          </a:xfrm>
          <a:prstGeom prst="rect">
            <a:avLst/>
          </a:prstGeom>
          <a:noFill/>
          <a:ln/>
        </p:spPr>
        <p:txBody>
          <a:bodyPr wrap="square" rtlCol="0" anchor="ctr"/>
          <a:lstStyle/>
          <a:p>
            <a:pPr indent="0" marL="0">
              <a:buNone/>
            </a:pPr>
            <a:r>
              <a:rPr lang="en-US" sz="2600" b="1" dirty="0">
                <a:solidFill>
                  <a:srgbClr val="1A202C"/>
                </a:solidFill>
                <a:latin typeface="Meiryo" pitchFamily="34" charset="0"/>
                <a:ea typeface="Meiryo" pitchFamily="34" charset="-122"/>
                <a:cs typeface="Meiryo" pitchFamily="34" charset="-120"/>
              </a:rPr>
              <a:t>B型事業所の位置づけ ― 今の皆さんの安心な環境</a:t>
            </a:r>
            <a:endParaRPr lang="en-US" sz="2600" dirty="0"/>
          </a:p>
        </p:txBody>
      </p:sp>
      <p:sp>
        <p:nvSpPr>
          <p:cNvPr id="5" name="Shape 3"/>
          <p:cNvSpPr/>
          <p:nvPr/>
        </p:nvSpPr>
        <p:spPr>
          <a:xfrm>
            <a:off x="731520" y="1188720"/>
            <a:ext cx="3657600" cy="2103120"/>
          </a:xfrm>
          <a:prstGeom prst="roundRect">
            <a:avLst/>
          </a:prstGeom>
          <a:solidFill>
            <a:srgbClr val="F8FAFC"/>
          </a:solidFill>
          <a:ln w="25400">
            <a:solidFill>
              <a:srgbClr val="E2E8F0"/>
            </a:solidFill>
            <a:prstDash val="solid"/>
          </a:ln>
        </p:spPr>
      </p:sp>
      <p:sp>
        <p:nvSpPr>
          <p:cNvPr id="6" name="Text 4"/>
          <p:cNvSpPr/>
          <p:nvPr/>
        </p:nvSpPr>
        <p:spPr>
          <a:xfrm>
            <a:off x="914400" y="1371600"/>
            <a:ext cx="3291840" cy="365760"/>
          </a:xfrm>
          <a:prstGeom prst="rect">
            <a:avLst/>
          </a:prstGeom>
          <a:noFill/>
          <a:ln/>
        </p:spPr>
        <p:txBody>
          <a:bodyPr wrap="square" rtlCol="0" anchor="ctr"/>
          <a:lstStyle/>
          <a:p>
            <a:pPr algn="ctr" indent="0" marL="0">
              <a:buNone/>
            </a:pPr>
            <a:r>
              <a:rPr lang="en-US" sz="2000" b="1" dirty="0">
                <a:solidFill>
                  <a:srgbClr val="1A202C"/>
                </a:solidFill>
                <a:latin typeface="Meiryo" pitchFamily="34" charset="0"/>
                <a:ea typeface="Meiryo" pitchFamily="34" charset="-122"/>
                <a:cs typeface="Meiryo" pitchFamily="34" charset="-120"/>
              </a:rPr>
              <a:t>🏢 A型事業所（雇用契約）</a:t>
            </a:r>
            <a:endParaRPr lang="en-US" sz="2000" dirty="0"/>
          </a:p>
        </p:txBody>
      </p:sp>
      <p:sp>
        <p:nvSpPr>
          <p:cNvPr id="7" name="Text 5"/>
          <p:cNvSpPr/>
          <p:nvPr/>
        </p:nvSpPr>
        <p:spPr>
          <a:xfrm>
            <a:off x="1005840" y="1828800"/>
            <a:ext cx="3108960" cy="1280160"/>
          </a:xfrm>
          <a:prstGeom prst="rect">
            <a:avLst/>
          </a:prstGeom>
          <a:noFill/>
          <a:ln/>
        </p:spPr>
        <p:txBody>
          <a:bodyPr wrap="square" rtlCol="0" anchor="ctr"/>
          <a:lstStyle/>
          <a:p>
            <a:pPr indent="0" marL="0">
              <a:buNone/>
            </a:pPr>
            <a:r>
              <a:rPr lang="en-US" sz="1700" dirty="0">
                <a:solidFill>
                  <a:srgbClr val="1A202C"/>
                </a:solidFill>
                <a:latin typeface="Meiryo" pitchFamily="34" charset="0"/>
                <a:ea typeface="Meiryo" pitchFamily="34" charset="-122"/>
                <a:cs typeface="Meiryo" pitchFamily="34" charset="-120"/>
              </a:rPr>
              <a:t>・労働者として雇用契約を結ぶ</a:t>
            </a:r>
            <a:endParaRPr lang="en-US" sz="1700" dirty="0"/>
          </a:p>
          <a:p>
            <a:pPr indent="0" marL="0">
              <a:buNone/>
            </a:pPr>
            <a:r>
              <a:rPr lang="en-US" sz="1700" dirty="0">
                <a:solidFill>
                  <a:srgbClr val="1A202C"/>
                </a:solidFill>
                <a:latin typeface="Meiryo" pitchFamily="34" charset="0"/>
                <a:ea typeface="Meiryo" pitchFamily="34" charset="-122"/>
                <a:cs typeface="Meiryo" pitchFamily="34" charset="-120"/>
              </a:rPr>
              <a:t>・受け取るのは「賃金（給料）」</a:t>
            </a:r>
            <a:endParaRPr lang="en-US" sz="1700" dirty="0"/>
          </a:p>
          <a:p>
            <a:pPr indent="0" marL="0">
              <a:buNone/>
            </a:pPr>
            <a:r>
              <a:rPr lang="en-US" sz="1700" dirty="0">
                <a:solidFill>
                  <a:srgbClr val="1A202C"/>
                </a:solidFill>
                <a:latin typeface="Meiryo" pitchFamily="34" charset="0"/>
                <a:ea typeface="Meiryo" pitchFamily="34" charset="-122"/>
                <a:cs typeface="Meiryo" pitchFamily="34" charset="-120"/>
              </a:rPr>
              <a:t>・労働基準法・最低賃金法が適用</a:t>
            </a:r>
            <a:endParaRPr lang="en-US" sz="1700" dirty="0"/>
          </a:p>
        </p:txBody>
      </p:sp>
      <p:sp>
        <p:nvSpPr>
          <p:cNvPr id="8" name="Shape 6"/>
          <p:cNvSpPr/>
          <p:nvPr/>
        </p:nvSpPr>
        <p:spPr>
          <a:xfrm>
            <a:off x="4754880" y="1188720"/>
            <a:ext cx="3657600" cy="2103120"/>
          </a:xfrm>
          <a:prstGeom prst="roundRect">
            <a:avLst/>
          </a:prstGeom>
          <a:solidFill>
            <a:srgbClr val="FFFAEE"/>
          </a:solidFill>
          <a:ln w="31750">
            <a:solidFill>
              <a:srgbClr val="DD6B20"/>
            </a:solidFill>
            <a:prstDash val="solid"/>
          </a:ln>
        </p:spPr>
      </p:sp>
      <p:sp>
        <p:nvSpPr>
          <p:cNvPr id="9" name="Text 7"/>
          <p:cNvSpPr/>
          <p:nvPr/>
        </p:nvSpPr>
        <p:spPr>
          <a:xfrm>
            <a:off x="4937760" y="1371600"/>
            <a:ext cx="3291840" cy="365760"/>
          </a:xfrm>
          <a:prstGeom prst="rect">
            <a:avLst/>
          </a:prstGeom>
          <a:noFill/>
          <a:ln/>
        </p:spPr>
        <p:txBody>
          <a:bodyPr wrap="square" rtlCol="0" anchor="ctr"/>
          <a:lstStyle/>
          <a:p>
            <a:pPr algn="ctr" indent="0" marL="0">
              <a:buNone/>
            </a:pPr>
            <a:r>
              <a:rPr lang="en-US" sz="2000" b="1" dirty="0">
                <a:solidFill>
                  <a:srgbClr val="DD6B20"/>
                </a:solidFill>
                <a:latin typeface="Meiryo" pitchFamily="34" charset="0"/>
                <a:ea typeface="Meiryo" pitchFamily="34" charset="-122"/>
                <a:cs typeface="Meiryo" pitchFamily="34" charset="-120"/>
              </a:rPr>
              <a:t>🏡 B型事業所（利用契約）</a:t>
            </a:r>
            <a:endParaRPr lang="en-US" sz="2000" dirty="0"/>
          </a:p>
        </p:txBody>
      </p:sp>
      <p:sp>
        <p:nvSpPr>
          <p:cNvPr id="10" name="Text 8"/>
          <p:cNvSpPr/>
          <p:nvPr/>
        </p:nvSpPr>
        <p:spPr>
          <a:xfrm>
            <a:off x="5029200" y="1828800"/>
            <a:ext cx="3108960" cy="1280160"/>
          </a:xfrm>
          <a:prstGeom prst="rect">
            <a:avLst/>
          </a:prstGeom>
          <a:noFill/>
          <a:ln/>
        </p:spPr>
        <p:txBody>
          <a:bodyPr wrap="square" rtlCol="0" anchor="ctr"/>
          <a:lstStyle/>
          <a:p>
            <a:pPr indent="0" marL="0">
              <a:buNone/>
            </a:pPr>
            <a:r>
              <a:rPr lang="en-US" sz="1700" dirty="0">
                <a:solidFill>
                  <a:srgbClr val="1A202C"/>
                </a:solidFill>
                <a:latin typeface="Meiryo" pitchFamily="34" charset="0"/>
                <a:ea typeface="Meiryo" pitchFamily="34" charset="-122"/>
                <a:cs typeface="Meiryo" pitchFamily="34" charset="-120"/>
              </a:rPr>
              <a:t>・福祉サービスとしての利用契約</a:t>
            </a:r>
            <a:endParaRPr lang="en-US" sz="1700" dirty="0"/>
          </a:p>
          <a:p>
            <a:pPr indent="0" marL="0">
              <a:buNone/>
            </a:pPr>
            <a:r>
              <a:rPr lang="en-US" sz="1700" dirty="0">
                <a:solidFill>
                  <a:srgbClr val="1A202C"/>
                </a:solidFill>
                <a:latin typeface="Meiryo" pitchFamily="34" charset="0"/>
                <a:ea typeface="Meiryo" pitchFamily="34" charset="-122"/>
                <a:cs typeface="Meiryo" pitchFamily="34" charset="-120"/>
              </a:rPr>
              <a:t>・受け取るのは「工賃」</a:t>
            </a:r>
            <a:endParaRPr lang="en-US" sz="1700" dirty="0"/>
          </a:p>
          <a:p>
            <a:pPr indent="0" marL="0">
              <a:buNone/>
            </a:pPr>
            <a:r>
              <a:rPr lang="en-US" sz="1700" dirty="0">
                <a:solidFill>
                  <a:srgbClr val="1A202C"/>
                </a:solidFill>
                <a:latin typeface="Meiryo" pitchFamily="34" charset="0"/>
                <a:ea typeface="Meiryo" pitchFamily="34" charset="-122"/>
                <a:cs typeface="Meiryo" pitchFamily="34" charset="-120"/>
              </a:rPr>
              <a:t>・体調やペースに合わせて通所できる</a:t>
            </a:r>
            <a:endParaRPr lang="en-US" sz="1700" dirty="0"/>
          </a:p>
        </p:txBody>
      </p:sp>
      <p:sp>
        <p:nvSpPr>
          <p:cNvPr id="11" name="Shape 9"/>
          <p:cNvSpPr/>
          <p:nvPr/>
        </p:nvSpPr>
        <p:spPr>
          <a:xfrm>
            <a:off x="731520" y="3474720"/>
            <a:ext cx="7680960" cy="914400"/>
          </a:xfrm>
          <a:prstGeom prst="roundRect">
            <a:avLst/>
          </a:prstGeom>
          <a:solidFill>
            <a:srgbClr val="EBF8FF"/>
          </a:solidFill>
          <a:ln w="25400">
            <a:solidFill>
              <a:srgbClr val="1A73E8"/>
            </a:solidFill>
            <a:prstDash val="solid"/>
          </a:ln>
        </p:spPr>
      </p:sp>
      <p:sp>
        <p:nvSpPr>
          <p:cNvPr id="12" name="Text 10"/>
          <p:cNvSpPr/>
          <p:nvPr/>
        </p:nvSpPr>
        <p:spPr>
          <a:xfrm>
            <a:off x="914400" y="3611880"/>
            <a:ext cx="7315200" cy="640080"/>
          </a:xfrm>
          <a:prstGeom prst="rect">
            <a:avLst/>
          </a:prstGeom>
          <a:noFill/>
          <a:ln/>
        </p:spPr>
        <p:txBody>
          <a:bodyPr wrap="square" rtlCol="0" anchor="ctr"/>
          <a:lstStyle/>
          <a:p>
            <a:pPr algn="ctr" indent="0" marL="0">
              <a:buNone/>
            </a:pPr>
            <a:r>
              <a:rPr lang="en-US" sz="1700" b="1" dirty="0">
                <a:solidFill>
                  <a:srgbClr val="1A73E8"/>
                </a:solidFill>
                <a:latin typeface="Meiryo" pitchFamily="34" charset="0"/>
                <a:ea typeface="Meiryo" pitchFamily="34" charset="-122"/>
                <a:cs typeface="Meiryo" pitchFamily="34" charset="-120"/>
              </a:rPr>
              <a:t>🛡️ 実質的な安全配慮義務：事業所は利用者の安全と健康を守り支援する義務を負っています。</a:t>
            </a:r>
            <a:endParaRPr lang="en-US" sz="1700" dirty="0"/>
          </a:p>
          <a:p>
            <a:pPr algn="ctr" indent="0" marL="0">
              <a:buNone/>
            </a:pPr>
            <a:r>
              <a:rPr lang="en-US" sz="1700" b="1" dirty="0">
                <a:solidFill>
                  <a:srgbClr val="1A73E8"/>
                </a:solidFill>
                <a:latin typeface="Meiryo" pitchFamily="34" charset="0"/>
                <a:ea typeface="Meiryo" pitchFamily="34" charset="-122"/>
                <a:cs typeface="Meiryo" pitchFamily="34" charset="-120"/>
              </a:rPr>
              <a:t>　「保護されながら安心してスキルを伸ばせる、未来への大切なステップの場」！</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709160"/>
            <a:ext cx="5486400" cy="320040"/>
          </a:xfrm>
          <a:prstGeom prst="rect">
            <a:avLst/>
          </a:prstGeom>
          <a:noFill/>
          <a:ln/>
        </p:spPr>
        <p:txBody>
          <a:bodyPr wrap="square" rtlCol="0" anchor="ctr"/>
          <a:lstStyle/>
          <a:p>
            <a:pPr indent="0" marL="0">
              <a:buNone/>
            </a:pPr>
            <a:r>
              <a:rPr lang="en-US" sz="1200" dirty="0">
                <a:solidFill>
                  <a:srgbClr val="718096"/>
                </a:solidFill>
                <a:latin typeface="Meiryo" pitchFamily="34" charset="0"/>
                <a:ea typeface="Meiryo" pitchFamily="34" charset="-122"/>
                <a:cs typeface="Meiryo" pitchFamily="34" charset="-120"/>
              </a:rPr>
              <a:t>第2部 労働契約</a:t>
            </a:r>
            <a:endParaRPr lang="en-US" sz="1200" dirty="0"/>
          </a:p>
        </p:txBody>
      </p:sp>
      <p:sp>
        <p:nvSpPr>
          <p:cNvPr id="3" name="Text 1"/>
          <p:cNvSpPr/>
          <p:nvPr/>
        </p:nvSpPr>
        <p:spPr>
          <a:xfrm>
            <a:off x="7315200" y="4709160"/>
            <a:ext cx="1097280" cy="320040"/>
          </a:xfrm>
          <a:prstGeom prst="rect">
            <a:avLst/>
          </a:prstGeom>
          <a:noFill/>
          <a:ln/>
        </p:spPr>
        <p:txBody>
          <a:bodyPr wrap="square" rtlCol="0" anchor="ctr"/>
          <a:lstStyle/>
          <a:p>
            <a:pPr algn="r" indent="0" marL="0">
              <a:buNone/>
            </a:pPr>
            <a:r>
              <a:rPr lang="en-US" sz="1200" dirty="0">
                <a:solidFill>
                  <a:srgbClr val="718096"/>
                </a:solidFill>
                <a:latin typeface="Meiryo" pitchFamily="34" charset="0"/>
                <a:ea typeface="Meiryo" pitchFamily="34" charset="-122"/>
                <a:cs typeface="Meiryo" pitchFamily="34" charset="-120"/>
              </a:rPr>
              <a:t>14 / 30</a:t>
            </a:r>
            <a:endParaRPr lang="en-US" sz="1200" dirty="0"/>
          </a:p>
        </p:txBody>
      </p:sp>
      <p:sp>
        <p:nvSpPr>
          <p:cNvPr id="4" name="Text 2"/>
          <p:cNvSpPr/>
          <p:nvPr/>
        </p:nvSpPr>
        <p:spPr>
          <a:xfrm>
            <a:off x="731520" y="365760"/>
            <a:ext cx="7680960" cy="457200"/>
          </a:xfrm>
          <a:prstGeom prst="rect">
            <a:avLst/>
          </a:prstGeom>
          <a:noFill/>
          <a:ln/>
        </p:spPr>
        <p:txBody>
          <a:bodyPr wrap="square" rtlCol="0" anchor="ctr"/>
          <a:lstStyle/>
          <a:p>
            <a:pPr indent="0" marL="0">
              <a:buNone/>
            </a:pPr>
            <a:r>
              <a:rPr lang="en-US" sz="2400" b="1" dirty="0">
                <a:solidFill>
                  <a:srgbClr val="1A202C"/>
                </a:solidFill>
                <a:latin typeface="Meiryo" pitchFamily="34" charset="0"/>
                <a:ea typeface="Meiryo" pitchFamily="34" charset="-122"/>
                <a:cs typeface="Meiryo" pitchFamily="34" charset="-120"/>
              </a:rPr>
              <a:t>【図4】B型事業所の利用契約の構造マップ</a:t>
            </a:r>
            <a:endParaRPr lang="en-US" sz="2400" dirty="0"/>
          </a:p>
        </p:txBody>
      </p:sp>
      <p:pic>
        <p:nvPicPr>
          <p:cNvPr id="5" name="Image 0" descr="c:\Users\sugiy\.antigravity\練習用\fig4_riyou.png">    </p:cNvPr>
          <p:cNvPicPr>
            <a:picLocks noChangeAspect="1"/>
          </p:cNvPicPr>
          <p:nvPr/>
        </p:nvPicPr>
        <p:blipFill>
          <a:blip r:embed="rId1"/>
          <a:stretch>
            <a:fillRect/>
          </a:stretch>
        </p:blipFill>
        <p:spPr>
          <a:xfrm>
            <a:off x="731520" y="914400"/>
            <a:ext cx="7680960" cy="37490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709160"/>
            <a:ext cx="5486400" cy="320040"/>
          </a:xfrm>
          <a:prstGeom prst="rect">
            <a:avLst/>
          </a:prstGeom>
          <a:noFill/>
          <a:ln/>
        </p:spPr>
        <p:txBody>
          <a:bodyPr wrap="square" rtlCol="0" anchor="ctr"/>
          <a:lstStyle/>
          <a:p>
            <a:pPr indent="0" marL="0">
              <a:buNone/>
            </a:pPr>
            <a:r>
              <a:rPr lang="en-US" sz="1200" dirty="0">
                <a:solidFill>
                  <a:srgbClr val="718096"/>
                </a:solidFill>
                <a:latin typeface="Meiryo" pitchFamily="34" charset="0"/>
                <a:ea typeface="Meiryo" pitchFamily="34" charset="-122"/>
                <a:cs typeface="Meiryo" pitchFamily="34" charset="-120"/>
              </a:rPr>
              <a:t>第2部 労働契約</a:t>
            </a:r>
            <a:endParaRPr lang="en-US" sz="1200" dirty="0"/>
          </a:p>
        </p:txBody>
      </p:sp>
      <p:sp>
        <p:nvSpPr>
          <p:cNvPr id="3" name="Text 1"/>
          <p:cNvSpPr/>
          <p:nvPr/>
        </p:nvSpPr>
        <p:spPr>
          <a:xfrm>
            <a:off x="7315200" y="4709160"/>
            <a:ext cx="1097280" cy="320040"/>
          </a:xfrm>
          <a:prstGeom prst="rect">
            <a:avLst/>
          </a:prstGeom>
          <a:noFill/>
          <a:ln/>
        </p:spPr>
        <p:txBody>
          <a:bodyPr wrap="square" rtlCol="0" anchor="ctr"/>
          <a:lstStyle/>
          <a:p>
            <a:pPr algn="r" indent="0" marL="0">
              <a:buNone/>
            </a:pPr>
            <a:r>
              <a:rPr lang="en-US" sz="1200" dirty="0">
                <a:solidFill>
                  <a:srgbClr val="718096"/>
                </a:solidFill>
                <a:latin typeface="Meiryo" pitchFamily="34" charset="0"/>
                <a:ea typeface="Meiryo" pitchFamily="34" charset="-122"/>
                <a:cs typeface="Meiryo" pitchFamily="34" charset="-120"/>
              </a:rPr>
              <a:t>15 / 30</a:t>
            </a:r>
            <a:endParaRPr lang="en-US" sz="1200" dirty="0"/>
          </a:p>
        </p:txBody>
      </p:sp>
      <p:sp>
        <p:nvSpPr>
          <p:cNvPr id="4" name="Text 2"/>
          <p:cNvSpPr/>
          <p:nvPr/>
        </p:nvSpPr>
        <p:spPr>
          <a:xfrm>
            <a:off x="731520" y="365760"/>
            <a:ext cx="7680960" cy="457200"/>
          </a:xfrm>
          <a:prstGeom prst="rect">
            <a:avLst/>
          </a:prstGeom>
          <a:noFill/>
          <a:ln/>
        </p:spPr>
        <p:txBody>
          <a:bodyPr wrap="square" rtlCol="0" anchor="ctr"/>
          <a:lstStyle/>
          <a:p>
            <a:pPr indent="0" marL="0">
              <a:buNone/>
            </a:pPr>
            <a:r>
              <a:rPr lang="en-US" sz="2400" b="1" dirty="0">
                <a:solidFill>
                  <a:srgbClr val="1A202C"/>
                </a:solidFill>
                <a:latin typeface="Meiryo" pitchFamily="34" charset="0"/>
                <a:ea typeface="Meiryo" pitchFamily="34" charset="-122"/>
                <a:cs typeface="Meiryo" pitchFamily="34" charset="-120"/>
              </a:rPr>
              <a:t>【図5】労働契約と利用契約の比較表</a:t>
            </a:r>
            <a:endParaRPr lang="en-US" sz="2400" dirty="0"/>
          </a:p>
        </p:txBody>
      </p:sp>
      <p:pic>
        <p:nvPicPr>
          <p:cNvPr id="5" name="Image 0" descr="c:\Users\sugiy\.antigravity\練習用\fig5_hikakuhyou.png">    </p:cNvPr>
          <p:cNvPicPr>
            <a:picLocks noChangeAspect="1"/>
          </p:cNvPicPr>
          <p:nvPr/>
        </p:nvPicPr>
        <p:blipFill>
          <a:blip r:embed="rId1"/>
          <a:stretch>
            <a:fillRect/>
          </a:stretch>
        </p:blipFill>
        <p:spPr>
          <a:xfrm>
            <a:off x="731520" y="914400"/>
            <a:ext cx="7680960" cy="37490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709160"/>
            <a:ext cx="5486400" cy="320040"/>
          </a:xfrm>
          <a:prstGeom prst="rect">
            <a:avLst/>
          </a:prstGeom>
          <a:noFill/>
          <a:ln/>
        </p:spPr>
        <p:txBody>
          <a:bodyPr wrap="square" rtlCol="0" anchor="ctr"/>
          <a:lstStyle/>
          <a:p>
            <a:pPr indent="0" marL="0">
              <a:buNone/>
            </a:pPr>
            <a:r>
              <a:rPr lang="en-US" sz="1200" dirty="0">
                <a:solidFill>
                  <a:srgbClr val="718096"/>
                </a:solidFill>
                <a:latin typeface="Meiryo" pitchFamily="34" charset="0"/>
                <a:ea typeface="Meiryo" pitchFamily="34" charset="-122"/>
                <a:cs typeface="Meiryo" pitchFamily="34" charset="-120"/>
              </a:rPr>
              <a:t>第3部 委託契約 ― 作品を納めるときの契約</a:t>
            </a:r>
            <a:endParaRPr lang="en-US" sz="1200" dirty="0"/>
          </a:p>
        </p:txBody>
      </p:sp>
      <p:sp>
        <p:nvSpPr>
          <p:cNvPr id="3" name="Text 1"/>
          <p:cNvSpPr/>
          <p:nvPr/>
        </p:nvSpPr>
        <p:spPr>
          <a:xfrm>
            <a:off x="7315200" y="4709160"/>
            <a:ext cx="1097280" cy="320040"/>
          </a:xfrm>
          <a:prstGeom prst="rect">
            <a:avLst/>
          </a:prstGeom>
          <a:noFill/>
          <a:ln/>
        </p:spPr>
        <p:txBody>
          <a:bodyPr wrap="square" rtlCol="0" anchor="ctr"/>
          <a:lstStyle/>
          <a:p>
            <a:pPr algn="r" indent="0" marL="0">
              <a:buNone/>
            </a:pPr>
            <a:r>
              <a:rPr lang="en-US" sz="1200" dirty="0">
                <a:solidFill>
                  <a:srgbClr val="718096"/>
                </a:solidFill>
                <a:latin typeface="Meiryo" pitchFamily="34" charset="0"/>
                <a:ea typeface="Meiryo" pitchFamily="34" charset="-122"/>
                <a:cs typeface="Meiryo" pitchFamily="34" charset="-120"/>
              </a:rPr>
              <a:t>16 / 30</a:t>
            </a:r>
            <a:endParaRPr lang="en-US" sz="1200" dirty="0"/>
          </a:p>
        </p:txBody>
      </p:sp>
      <p:sp>
        <p:nvSpPr>
          <p:cNvPr id="4" name="Text 2"/>
          <p:cNvSpPr/>
          <p:nvPr/>
        </p:nvSpPr>
        <p:spPr>
          <a:xfrm>
            <a:off x="731520" y="457200"/>
            <a:ext cx="7680960" cy="548640"/>
          </a:xfrm>
          <a:prstGeom prst="rect">
            <a:avLst/>
          </a:prstGeom>
          <a:noFill/>
          <a:ln/>
        </p:spPr>
        <p:txBody>
          <a:bodyPr wrap="square" rtlCol="0" anchor="ctr"/>
          <a:lstStyle/>
          <a:p>
            <a:pPr indent="0" marL="0">
              <a:buNone/>
            </a:pPr>
            <a:r>
              <a:rPr lang="en-US" sz="2600" b="1" dirty="0">
                <a:solidFill>
                  <a:srgbClr val="1A202C"/>
                </a:solidFill>
                <a:latin typeface="Meiryo" pitchFamily="34" charset="0"/>
                <a:ea typeface="Meiryo" pitchFamily="34" charset="-122"/>
                <a:cs typeface="Meiryo" pitchFamily="34" charset="-120"/>
              </a:rPr>
              <a:t>第3部 委託契約 ― 作品を納めるときの契約【クイズ】</a:t>
            </a:r>
            <a:endParaRPr lang="en-US" sz="2600" dirty="0"/>
          </a:p>
        </p:txBody>
      </p:sp>
      <p:sp>
        <p:nvSpPr>
          <p:cNvPr id="5" name="Shape 3"/>
          <p:cNvSpPr/>
          <p:nvPr/>
        </p:nvSpPr>
        <p:spPr>
          <a:xfrm>
            <a:off x="731520" y="1188720"/>
            <a:ext cx="7680960" cy="1005840"/>
          </a:xfrm>
          <a:prstGeom prst="roundRect">
            <a:avLst/>
          </a:prstGeom>
          <a:solidFill>
            <a:srgbClr val="F8FAFC"/>
          </a:solidFill>
          <a:ln w="25400">
            <a:solidFill>
              <a:srgbClr val="E2E8F0"/>
            </a:solidFill>
            <a:prstDash val="solid"/>
          </a:ln>
        </p:spPr>
      </p:sp>
      <p:sp>
        <p:nvSpPr>
          <p:cNvPr id="6" name="Text 4"/>
          <p:cNvSpPr/>
          <p:nvPr/>
        </p:nvSpPr>
        <p:spPr>
          <a:xfrm>
            <a:off x="914400" y="1371600"/>
            <a:ext cx="7315200" cy="640080"/>
          </a:xfrm>
          <a:prstGeom prst="rect">
            <a:avLst/>
          </a:prstGeom>
          <a:noFill/>
          <a:ln/>
        </p:spPr>
        <p:txBody>
          <a:bodyPr wrap="square" rtlCol="0" anchor="ctr"/>
          <a:lstStyle/>
          <a:p>
            <a:pPr algn="ctr" indent="0" marL="0">
              <a:buNone/>
            </a:pPr>
            <a:r>
              <a:rPr lang="en-US" sz="2200" b="1" dirty="0">
                <a:solidFill>
                  <a:srgbClr val="1A202C"/>
                </a:solidFill>
                <a:latin typeface="Meiryo" pitchFamily="34" charset="0"/>
                <a:ea typeface="Meiryo" pitchFamily="34" charset="-122"/>
                <a:cs typeface="Meiryo" pitchFamily="34" charset="-120"/>
              </a:rPr>
              <a:t>❓ 問い：企業から動画制作を頼まれたとき、</a:t>
            </a:r>
            <a:endParaRPr lang="en-US" sz="2200" dirty="0"/>
          </a:p>
          <a:p>
            <a:pPr algn="ctr" indent="0" marL="0">
              <a:buNone/>
            </a:pPr>
            <a:r>
              <a:rPr lang="en-US" sz="2200" b="1" dirty="0">
                <a:solidFill>
                  <a:srgbClr val="1A202C"/>
                </a:solidFill>
                <a:latin typeface="Meiryo" pitchFamily="34" charset="0"/>
                <a:ea typeface="Meiryo" pitchFamily="34" charset="-122"/>
                <a:cs typeface="Meiryo" pitchFamily="34" charset="-120"/>
              </a:rPr>
              <a:t>　企業は「作り方」まで細かく指示できるでしょうか？</a:t>
            </a:r>
            <a:endParaRPr lang="en-US" sz="2200" dirty="0"/>
          </a:p>
        </p:txBody>
      </p:sp>
      <p:sp>
        <p:nvSpPr>
          <p:cNvPr id="7" name="Shape 5"/>
          <p:cNvSpPr/>
          <p:nvPr/>
        </p:nvSpPr>
        <p:spPr>
          <a:xfrm>
            <a:off x="731520" y="2377440"/>
            <a:ext cx="7680960" cy="2011680"/>
          </a:xfrm>
          <a:prstGeom prst="roundRect">
            <a:avLst/>
          </a:prstGeom>
          <a:solidFill>
            <a:srgbClr val="EBF8FF"/>
          </a:solidFill>
          <a:ln w="31750">
            <a:solidFill>
              <a:srgbClr val="1A73E8"/>
            </a:solidFill>
            <a:prstDash val="solid"/>
          </a:ln>
        </p:spPr>
      </p:sp>
      <p:sp>
        <p:nvSpPr>
          <p:cNvPr id="8" name="Text 6"/>
          <p:cNvSpPr/>
          <p:nvPr/>
        </p:nvSpPr>
        <p:spPr>
          <a:xfrm>
            <a:off x="914400" y="2606040"/>
            <a:ext cx="7315200" cy="457200"/>
          </a:xfrm>
          <a:prstGeom prst="rect">
            <a:avLst/>
          </a:prstGeom>
          <a:noFill/>
          <a:ln/>
        </p:spPr>
        <p:txBody>
          <a:bodyPr wrap="square" rtlCol="0" anchor="ctr"/>
          <a:lstStyle/>
          <a:p>
            <a:pPr algn="ctr" indent="0" marL="0">
              <a:buNone/>
            </a:pPr>
            <a:r>
              <a:rPr lang="en-US" sz="2600" b="1" dirty="0">
                <a:solidFill>
                  <a:srgbClr val="1A73E8"/>
                </a:solidFill>
                <a:latin typeface="Meiryo" pitchFamily="34" charset="0"/>
                <a:ea typeface="Meiryo" pitchFamily="34" charset="-122"/>
                <a:cs typeface="Meiryo" pitchFamily="34" charset="-120"/>
              </a:rPr>
              <a:t>👉 答え：「指示できない！」（指揮命令権なし ❌）</a:t>
            </a:r>
            <a:endParaRPr lang="en-US" sz="2600" dirty="0"/>
          </a:p>
        </p:txBody>
      </p:sp>
      <p:sp>
        <p:nvSpPr>
          <p:cNvPr id="9" name="Text 7"/>
          <p:cNvSpPr/>
          <p:nvPr/>
        </p:nvSpPr>
        <p:spPr>
          <a:xfrm>
            <a:off x="914400" y="3154680"/>
            <a:ext cx="7315200" cy="1097280"/>
          </a:xfrm>
          <a:prstGeom prst="rect">
            <a:avLst/>
          </a:prstGeom>
          <a:noFill/>
          <a:ln/>
        </p:spPr>
        <p:txBody>
          <a:bodyPr wrap="square" rtlCol="0" anchor="ctr"/>
          <a:lstStyle/>
          <a:p>
            <a:pPr algn="ctr" indent="0" marL="0">
              <a:buNone/>
            </a:pPr>
            <a:r>
              <a:rPr lang="en-US" sz="1800" dirty="0">
                <a:solidFill>
                  <a:srgbClr val="1A202C"/>
                </a:solidFill>
                <a:latin typeface="Meiryo" pitchFamily="34" charset="0"/>
                <a:ea typeface="Meiryo" pitchFamily="34" charset="-122"/>
                <a:cs typeface="Meiryo" pitchFamily="34" charset="-120"/>
              </a:rPr>
              <a:t>・労働契約との決定的な違い：頼む側に「指揮命令権」はありません！</a:t>
            </a:r>
            <a:endParaRPr lang="en-US" sz="1800" dirty="0"/>
          </a:p>
          <a:p>
            <a:pPr algn="ctr" indent="0" marL="0">
              <a:buNone/>
            </a:pPr>
            <a:r>
              <a:rPr lang="en-US" sz="1800" dirty="0">
                <a:solidFill>
                  <a:srgbClr val="1A202C"/>
                </a:solidFill>
                <a:latin typeface="Meiryo" pitchFamily="34" charset="0"/>
                <a:ea typeface="Meiryo" pitchFamily="34" charset="-122"/>
                <a:cs typeface="Meiryo" pitchFamily="34" charset="-120"/>
              </a:rPr>
              <a:t>・頼む側は「完成した結果（作品）」を求め、やり方は受ける側に任せるのが原則。</a:t>
            </a:r>
            <a:endParaRPr lang="en-US" sz="1800" dirty="0"/>
          </a:p>
          <a:p>
            <a:pPr algn="ctr" indent="0" marL="0">
              <a:buNone/>
            </a:pPr>
            <a:r>
              <a:rPr lang="en-US" sz="1800" dirty="0">
                <a:solidFill>
                  <a:srgbClr val="1A202C"/>
                </a:solidFill>
                <a:latin typeface="Meiryo" pitchFamily="34" charset="0"/>
                <a:ea typeface="Meiryo" pitchFamily="34" charset="-122"/>
                <a:cs typeface="Meiryo" pitchFamily="34" charset="-120"/>
              </a:rPr>
              <a:t>・プロとして任され、成果物で勝負する契約です。</a:t>
            </a:r>
            <a:endParaRPr lang="en-US" sz="1800" dirty="0"/>
          </a:p>
          <a:p>
            <a:pPr algn="ctr" indent="0" marL="0">
              <a:buNone/>
            </a:pPr>
            <a:r>
              <a:rPr lang="en-US" sz="1800" dirty="0">
                <a:solidFill>
                  <a:srgbClr val="1A202C"/>
                </a:solidFill>
                <a:latin typeface="Meiryo" pitchFamily="34" charset="0"/>
                <a:ea typeface="Meiryo" pitchFamily="34" charset="-122"/>
                <a:cs typeface="Meiryo" pitchFamily="34" charset="-120"/>
              </a:rPr>
              <a:t>★ 皆さんが事業所で制作している仕事は、まさにこのプロの現場です！</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709160"/>
            <a:ext cx="5486400" cy="320040"/>
          </a:xfrm>
          <a:prstGeom prst="rect">
            <a:avLst/>
          </a:prstGeom>
          <a:noFill/>
          <a:ln/>
        </p:spPr>
        <p:txBody>
          <a:bodyPr wrap="square" rtlCol="0" anchor="ctr"/>
          <a:lstStyle/>
          <a:p>
            <a:pPr indent="0" marL="0">
              <a:buNone/>
            </a:pPr>
            <a:r>
              <a:rPr lang="en-US" sz="1200" dirty="0">
                <a:solidFill>
                  <a:srgbClr val="718096"/>
                </a:solidFill>
                <a:latin typeface="Meiryo" pitchFamily="34" charset="0"/>
                <a:ea typeface="Meiryo" pitchFamily="34" charset="-122"/>
                <a:cs typeface="Meiryo" pitchFamily="34" charset="-120"/>
              </a:rPr>
              <a:t>第3部 委託契約 ― 作品を納めるときの契約</a:t>
            </a:r>
            <a:endParaRPr lang="en-US" sz="1200" dirty="0"/>
          </a:p>
        </p:txBody>
      </p:sp>
      <p:sp>
        <p:nvSpPr>
          <p:cNvPr id="3" name="Text 1"/>
          <p:cNvSpPr/>
          <p:nvPr/>
        </p:nvSpPr>
        <p:spPr>
          <a:xfrm>
            <a:off x="7315200" y="4709160"/>
            <a:ext cx="1097280" cy="320040"/>
          </a:xfrm>
          <a:prstGeom prst="rect">
            <a:avLst/>
          </a:prstGeom>
          <a:noFill/>
          <a:ln/>
        </p:spPr>
        <p:txBody>
          <a:bodyPr wrap="square" rtlCol="0" anchor="ctr"/>
          <a:lstStyle/>
          <a:p>
            <a:pPr algn="r" indent="0" marL="0">
              <a:buNone/>
            </a:pPr>
            <a:r>
              <a:rPr lang="en-US" sz="1200" dirty="0">
                <a:solidFill>
                  <a:srgbClr val="718096"/>
                </a:solidFill>
                <a:latin typeface="Meiryo" pitchFamily="34" charset="0"/>
                <a:ea typeface="Meiryo" pitchFamily="34" charset="-122"/>
                <a:cs typeface="Meiryo" pitchFamily="34" charset="-120"/>
              </a:rPr>
              <a:t>17 / 30</a:t>
            </a:r>
            <a:endParaRPr lang="en-US" sz="1200" dirty="0"/>
          </a:p>
        </p:txBody>
      </p:sp>
      <p:sp>
        <p:nvSpPr>
          <p:cNvPr id="4" name="Text 2"/>
          <p:cNvSpPr/>
          <p:nvPr/>
        </p:nvSpPr>
        <p:spPr>
          <a:xfrm>
            <a:off x="731520" y="457200"/>
            <a:ext cx="7680960" cy="548640"/>
          </a:xfrm>
          <a:prstGeom prst="rect">
            <a:avLst/>
          </a:prstGeom>
          <a:noFill/>
          <a:ln/>
        </p:spPr>
        <p:txBody>
          <a:bodyPr wrap="square" rtlCol="0" anchor="ctr"/>
          <a:lstStyle/>
          <a:p>
            <a:pPr indent="0" marL="0">
              <a:buNone/>
            </a:pPr>
            <a:r>
              <a:rPr lang="en-US" sz="2600" b="1" dirty="0">
                <a:solidFill>
                  <a:srgbClr val="1A202C"/>
                </a:solidFill>
                <a:latin typeface="Meiryo" pitchFamily="34" charset="0"/>
                <a:ea typeface="Meiryo" pitchFamily="34" charset="-122"/>
                <a:cs typeface="Meiryo" pitchFamily="34" charset="-120"/>
              </a:rPr>
              <a:t>委託契約の2つの型 ― 請負と準委任</a:t>
            </a:r>
            <a:endParaRPr lang="en-US" sz="2600" dirty="0"/>
          </a:p>
        </p:txBody>
      </p:sp>
      <p:sp>
        <p:nvSpPr>
          <p:cNvPr id="5" name="Shape 3"/>
          <p:cNvSpPr/>
          <p:nvPr/>
        </p:nvSpPr>
        <p:spPr>
          <a:xfrm>
            <a:off x="731520" y="1188720"/>
            <a:ext cx="3657600" cy="2103120"/>
          </a:xfrm>
          <a:prstGeom prst="roundRect">
            <a:avLst/>
          </a:prstGeom>
          <a:solidFill>
            <a:srgbClr val="EBF8FF"/>
          </a:solidFill>
          <a:ln w="31750">
            <a:solidFill>
              <a:srgbClr val="1A73E8"/>
            </a:solidFill>
            <a:prstDash val="solid"/>
          </a:ln>
        </p:spPr>
      </p:sp>
      <p:sp>
        <p:nvSpPr>
          <p:cNvPr id="6" name="Text 4"/>
          <p:cNvSpPr/>
          <p:nvPr/>
        </p:nvSpPr>
        <p:spPr>
          <a:xfrm>
            <a:off x="914400" y="1371600"/>
            <a:ext cx="3291840" cy="411480"/>
          </a:xfrm>
          <a:prstGeom prst="rect">
            <a:avLst/>
          </a:prstGeom>
          <a:noFill/>
          <a:ln/>
        </p:spPr>
        <p:txBody>
          <a:bodyPr wrap="square" rtlCol="0" anchor="ctr"/>
          <a:lstStyle/>
          <a:p>
            <a:pPr algn="ctr" indent="0" marL="0">
              <a:buNone/>
            </a:pPr>
            <a:r>
              <a:rPr lang="en-US" sz="2200" b="1" dirty="0">
                <a:solidFill>
                  <a:srgbClr val="1A73E8"/>
                </a:solidFill>
                <a:latin typeface="Meiryo" pitchFamily="34" charset="0"/>
                <a:ea typeface="Meiryo" pitchFamily="34" charset="-122"/>
                <a:cs typeface="Meiryo" pitchFamily="34" charset="-120"/>
              </a:rPr>
              <a:t>🎬 ① 請負（うけおい）</a:t>
            </a:r>
            <a:endParaRPr lang="en-US" sz="2200" dirty="0"/>
          </a:p>
        </p:txBody>
      </p:sp>
      <p:sp>
        <p:nvSpPr>
          <p:cNvPr id="7" name="Text 5"/>
          <p:cNvSpPr/>
          <p:nvPr/>
        </p:nvSpPr>
        <p:spPr>
          <a:xfrm>
            <a:off x="1005840" y="1874520"/>
            <a:ext cx="3108960" cy="1280160"/>
          </a:xfrm>
          <a:prstGeom prst="rect">
            <a:avLst/>
          </a:prstGeom>
          <a:noFill/>
          <a:ln/>
        </p:spPr>
        <p:txBody>
          <a:bodyPr wrap="square" rtlCol="0" anchor="ctr"/>
          <a:lstStyle/>
          <a:p>
            <a:pPr indent="0" marL="0">
              <a:buNone/>
            </a:pPr>
            <a:r>
              <a:rPr lang="en-US" sz="1600" dirty="0">
                <a:solidFill>
                  <a:srgbClr val="1A202C"/>
                </a:solidFill>
                <a:latin typeface="Meiryo" pitchFamily="34" charset="0"/>
                <a:ea typeface="Meiryo" pitchFamily="34" charset="-122"/>
                <a:cs typeface="Meiryo" pitchFamily="34" charset="-120"/>
              </a:rPr>
              <a:t>成果物を完成させて納める契約</a:t>
            </a:r>
            <a:endParaRPr lang="en-US" sz="1600" dirty="0"/>
          </a:p>
          <a:p>
            <a:pPr indent="0" marL="0">
              <a:buNone/>
            </a:pPr>
            <a:endParaRPr lang="en-US" sz="1600" dirty="0"/>
          </a:p>
          <a:p>
            <a:pPr indent="0" marL="0">
              <a:buNone/>
            </a:pPr>
            <a:r>
              <a:rPr lang="en-US" sz="1600" dirty="0">
                <a:solidFill>
                  <a:srgbClr val="1A202C"/>
                </a:solidFill>
                <a:latin typeface="Meiryo" pitchFamily="34" charset="0"/>
                <a:ea typeface="Meiryo" pitchFamily="34" charset="-122"/>
                <a:cs typeface="Meiryo" pitchFamily="34" charset="-120"/>
              </a:rPr>
              <a:t>・「完成」が支払いの条件！</a:t>
            </a:r>
            <a:endParaRPr lang="en-US" sz="1600" dirty="0"/>
          </a:p>
          <a:p>
            <a:pPr indent="0" marL="0">
              <a:buNone/>
            </a:pPr>
            <a:r>
              <a:rPr lang="en-US" sz="1600" dirty="0">
                <a:solidFill>
                  <a:srgbClr val="1A202C"/>
                </a:solidFill>
                <a:latin typeface="Meiryo" pitchFamily="34" charset="0"/>
                <a:ea typeface="Meiryo" pitchFamily="34" charset="-122"/>
                <a:cs typeface="Meiryo" pitchFamily="34" charset="-120"/>
              </a:rPr>
              <a:t>・画像や動画などの作品を納品する</a:t>
            </a:r>
            <a:endParaRPr lang="en-US" sz="1600" dirty="0"/>
          </a:p>
          <a:p>
            <a:pPr indent="0" marL="0">
              <a:buNone/>
            </a:pPr>
            <a:r>
              <a:rPr lang="en-US" sz="1600" dirty="0">
                <a:solidFill>
                  <a:srgbClr val="1A202C"/>
                </a:solidFill>
                <a:latin typeface="Meiryo" pitchFamily="34" charset="0"/>
                <a:ea typeface="Meiryo" pitchFamily="34" charset="-122"/>
                <a:cs typeface="Meiryo" pitchFamily="34" charset="-120"/>
              </a:rPr>
              <a:t>★ 事業所が受けるのはコレ！</a:t>
            </a:r>
            <a:endParaRPr lang="en-US" sz="1600" dirty="0"/>
          </a:p>
          <a:p>
            <a:pPr indent="0" marL="0">
              <a:buNone/>
            </a:pPr>
            <a:r>
              <a:rPr lang="en-US" sz="1600" dirty="0">
                <a:solidFill>
                  <a:srgbClr val="1A202C"/>
                </a:solidFill>
                <a:latin typeface="Meiryo" pitchFamily="34" charset="0"/>
                <a:ea typeface="Meiryo" pitchFamily="34" charset="-122"/>
                <a:cs typeface="Meiryo" pitchFamily="34" charset="-120"/>
              </a:rPr>
              <a:t>　皆さんはその履行を担っています。</a:t>
            </a:r>
            <a:endParaRPr lang="en-US" sz="1600" dirty="0"/>
          </a:p>
        </p:txBody>
      </p:sp>
      <p:sp>
        <p:nvSpPr>
          <p:cNvPr id="8" name="Shape 6"/>
          <p:cNvSpPr/>
          <p:nvPr/>
        </p:nvSpPr>
        <p:spPr>
          <a:xfrm>
            <a:off x="4754880" y="1188720"/>
            <a:ext cx="3657600" cy="2103120"/>
          </a:xfrm>
          <a:prstGeom prst="roundRect">
            <a:avLst/>
          </a:prstGeom>
          <a:solidFill>
            <a:srgbClr val="F8FAFC"/>
          </a:solidFill>
          <a:ln w="25400">
            <a:solidFill>
              <a:srgbClr val="E2E8F0"/>
            </a:solidFill>
            <a:prstDash val="solid"/>
          </a:ln>
        </p:spPr>
      </p:sp>
      <p:sp>
        <p:nvSpPr>
          <p:cNvPr id="9" name="Text 7"/>
          <p:cNvSpPr/>
          <p:nvPr/>
        </p:nvSpPr>
        <p:spPr>
          <a:xfrm>
            <a:off x="4937760" y="1371600"/>
            <a:ext cx="3291840" cy="411480"/>
          </a:xfrm>
          <a:prstGeom prst="rect">
            <a:avLst/>
          </a:prstGeom>
          <a:noFill/>
          <a:ln/>
        </p:spPr>
        <p:txBody>
          <a:bodyPr wrap="square" rtlCol="0" anchor="ctr"/>
          <a:lstStyle/>
          <a:p>
            <a:pPr algn="ctr" indent="0" marL="0">
              <a:buNone/>
            </a:pPr>
            <a:r>
              <a:rPr lang="en-US" sz="2200" b="1" dirty="0">
                <a:solidFill>
                  <a:srgbClr val="1A202C"/>
                </a:solidFill>
                <a:latin typeface="Meiryo" pitchFamily="34" charset="0"/>
                <a:ea typeface="Meiryo" pitchFamily="34" charset="-122"/>
                <a:cs typeface="Meiryo" pitchFamily="34" charset="-120"/>
              </a:rPr>
              <a:t>📋 ② 準委任（じゅんいにん）</a:t>
            </a:r>
            <a:endParaRPr lang="en-US" sz="2200" dirty="0"/>
          </a:p>
        </p:txBody>
      </p:sp>
      <p:sp>
        <p:nvSpPr>
          <p:cNvPr id="10" name="Text 8"/>
          <p:cNvSpPr/>
          <p:nvPr/>
        </p:nvSpPr>
        <p:spPr>
          <a:xfrm>
            <a:off x="5029200" y="1874520"/>
            <a:ext cx="3108960" cy="1280160"/>
          </a:xfrm>
          <a:prstGeom prst="rect">
            <a:avLst/>
          </a:prstGeom>
          <a:noFill/>
          <a:ln/>
        </p:spPr>
        <p:txBody>
          <a:bodyPr wrap="square" rtlCol="0" anchor="ctr"/>
          <a:lstStyle/>
          <a:p>
            <a:pPr indent="0" marL="0">
              <a:buNone/>
            </a:pPr>
            <a:r>
              <a:rPr lang="en-US" sz="1600" dirty="0">
                <a:solidFill>
                  <a:srgbClr val="1A202C"/>
                </a:solidFill>
                <a:latin typeface="Meiryo" pitchFamily="34" charset="0"/>
                <a:ea typeface="Meiryo" pitchFamily="34" charset="-122"/>
                <a:cs typeface="Meiryo" pitchFamily="34" charset="-120"/>
              </a:rPr>
              <a:t>作業そのものを提供する契約</a:t>
            </a:r>
            <a:endParaRPr lang="en-US" sz="1600" dirty="0"/>
          </a:p>
          <a:p>
            <a:pPr indent="0" marL="0">
              <a:buNone/>
            </a:pPr>
            <a:endParaRPr lang="en-US" sz="1600" dirty="0"/>
          </a:p>
          <a:p>
            <a:pPr indent="0" marL="0">
              <a:buNone/>
            </a:pPr>
            <a:r>
              <a:rPr lang="en-US" sz="1600" dirty="0">
                <a:solidFill>
                  <a:srgbClr val="1A202C"/>
                </a:solidFill>
                <a:latin typeface="Meiryo" pitchFamily="34" charset="0"/>
                <a:ea typeface="Meiryo" pitchFamily="34" charset="-122"/>
                <a:cs typeface="Meiryo" pitchFamily="34" charset="-120"/>
              </a:rPr>
              <a:t>・「完成」は条件ではない</a:t>
            </a:r>
            <a:endParaRPr lang="en-US" sz="1600" dirty="0"/>
          </a:p>
          <a:p>
            <a:pPr indent="0" marL="0">
              <a:buNone/>
            </a:pPr>
            <a:r>
              <a:rPr lang="en-US" sz="1600" dirty="0">
                <a:solidFill>
                  <a:srgbClr val="1A202C"/>
                </a:solidFill>
                <a:latin typeface="Meiryo" pitchFamily="34" charset="0"/>
                <a:ea typeface="Meiryo" pitchFamily="34" charset="-122"/>
                <a:cs typeface="Meiryo" pitchFamily="34" charset="-120"/>
              </a:rPr>
              <a:t>・事務処理や相談などを行う</a:t>
            </a:r>
            <a:endParaRPr lang="en-US" sz="1600" dirty="0"/>
          </a:p>
          <a:p>
            <a:pPr indent="0" marL="0">
              <a:buNone/>
            </a:pPr>
            <a:r>
              <a:rPr lang="en-US" sz="1600" dirty="0">
                <a:solidFill>
                  <a:srgbClr val="1A202C"/>
                </a:solidFill>
                <a:latin typeface="Meiryo" pitchFamily="34" charset="0"/>
                <a:ea typeface="Meiryo" pitchFamily="34" charset="-122"/>
                <a:cs typeface="Meiryo" pitchFamily="34" charset="-120"/>
              </a:rPr>
              <a:t>・作業した時間や労力への対価</a:t>
            </a:r>
            <a:endParaRPr lang="en-US" sz="1600" dirty="0"/>
          </a:p>
        </p:txBody>
      </p:sp>
      <p:sp>
        <p:nvSpPr>
          <p:cNvPr id="11" name="Shape 9"/>
          <p:cNvSpPr/>
          <p:nvPr/>
        </p:nvSpPr>
        <p:spPr>
          <a:xfrm>
            <a:off x="731520" y="3474720"/>
            <a:ext cx="7680960" cy="914400"/>
          </a:xfrm>
          <a:prstGeom prst="roundRect">
            <a:avLst/>
          </a:prstGeom>
          <a:solidFill>
            <a:srgbClr val="F8FAFC"/>
          </a:solidFill>
          <a:ln w="25400">
            <a:solidFill>
              <a:srgbClr val="1A73E8"/>
            </a:solidFill>
            <a:prstDash val="solid"/>
          </a:ln>
        </p:spPr>
      </p:sp>
      <p:sp>
        <p:nvSpPr>
          <p:cNvPr id="12" name="Text 10"/>
          <p:cNvSpPr/>
          <p:nvPr/>
        </p:nvSpPr>
        <p:spPr>
          <a:xfrm>
            <a:off x="914400" y="3611880"/>
            <a:ext cx="7315200" cy="640080"/>
          </a:xfrm>
          <a:prstGeom prst="rect">
            <a:avLst/>
          </a:prstGeom>
          <a:noFill/>
          <a:ln/>
        </p:spPr>
        <p:txBody>
          <a:bodyPr wrap="square" rtlCol="0" anchor="ctr"/>
          <a:lstStyle/>
          <a:p>
            <a:pPr algn="ctr" indent="0" marL="0">
              <a:buNone/>
            </a:pPr>
            <a:r>
              <a:rPr lang="en-US" sz="1700" b="1" dirty="0">
                <a:solidFill>
                  <a:srgbClr val="1A73E8"/>
                </a:solidFill>
                <a:latin typeface="Meiryo" pitchFamily="34" charset="0"/>
                <a:ea typeface="Meiryo" pitchFamily="34" charset="-122"/>
                <a:cs typeface="Meiryo" pitchFamily="34" charset="-120"/>
              </a:rPr>
              <a:t>🌟 皆さんの日々の画像・動画制作は、企業の「請負契約」を立派に完遂させています！</a:t>
            </a:r>
            <a:endParaRPr lang="en-US" sz="1700" dirty="0"/>
          </a:p>
          <a:p>
            <a:pPr algn="ctr" indent="0" marL="0">
              <a:buNone/>
            </a:pPr>
            <a:r>
              <a:rPr lang="en-US" sz="1700" b="1" dirty="0">
                <a:solidFill>
                  <a:srgbClr val="1A73E8"/>
                </a:solidFill>
                <a:latin typeface="Meiryo" pitchFamily="34" charset="0"/>
                <a:ea typeface="Meiryo" pitchFamily="34" charset="-122"/>
                <a:cs typeface="Meiryo" pitchFamily="34" charset="-120"/>
              </a:rPr>
              <a:t>　プロのデザイナーやエンジニアと全く同じ仕事のサイクルを、すでにここで実践中！</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709160"/>
            <a:ext cx="5486400" cy="320040"/>
          </a:xfrm>
          <a:prstGeom prst="rect">
            <a:avLst/>
          </a:prstGeom>
          <a:noFill/>
          <a:ln/>
        </p:spPr>
        <p:txBody>
          <a:bodyPr wrap="square" rtlCol="0" anchor="ctr"/>
          <a:lstStyle/>
          <a:p>
            <a:pPr indent="0" marL="0">
              <a:buNone/>
            </a:pPr>
            <a:r>
              <a:rPr lang="en-US" sz="1200" dirty="0">
                <a:solidFill>
                  <a:srgbClr val="718096"/>
                </a:solidFill>
                <a:latin typeface="Meiryo" pitchFamily="34" charset="0"/>
                <a:ea typeface="Meiryo" pitchFamily="34" charset="-122"/>
                <a:cs typeface="Meiryo" pitchFamily="34" charset="-120"/>
              </a:rPr>
              <a:t>第3部 委託契約 ― 作品を納めるときの契約</a:t>
            </a:r>
            <a:endParaRPr lang="en-US" sz="1200" dirty="0"/>
          </a:p>
        </p:txBody>
      </p:sp>
      <p:sp>
        <p:nvSpPr>
          <p:cNvPr id="3" name="Text 1"/>
          <p:cNvSpPr/>
          <p:nvPr/>
        </p:nvSpPr>
        <p:spPr>
          <a:xfrm>
            <a:off x="7315200" y="4709160"/>
            <a:ext cx="1097280" cy="320040"/>
          </a:xfrm>
          <a:prstGeom prst="rect">
            <a:avLst/>
          </a:prstGeom>
          <a:noFill/>
          <a:ln/>
        </p:spPr>
        <p:txBody>
          <a:bodyPr wrap="square" rtlCol="0" anchor="ctr"/>
          <a:lstStyle/>
          <a:p>
            <a:pPr algn="r" indent="0" marL="0">
              <a:buNone/>
            </a:pPr>
            <a:r>
              <a:rPr lang="en-US" sz="1200" dirty="0">
                <a:solidFill>
                  <a:srgbClr val="718096"/>
                </a:solidFill>
                <a:latin typeface="Meiryo" pitchFamily="34" charset="0"/>
                <a:ea typeface="Meiryo" pitchFamily="34" charset="-122"/>
                <a:cs typeface="Meiryo" pitchFamily="34" charset="-120"/>
              </a:rPr>
              <a:t>18 / 30</a:t>
            </a:r>
            <a:endParaRPr lang="en-US" sz="1200" dirty="0"/>
          </a:p>
        </p:txBody>
      </p:sp>
      <p:sp>
        <p:nvSpPr>
          <p:cNvPr id="4" name="Text 2"/>
          <p:cNvSpPr/>
          <p:nvPr/>
        </p:nvSpPr>
        <p:spPr>
          <a:xfrm>
            <a:off x="731520" y="365760"/>
            <a:ext cx="7680960" cy="457200"/>
          </a:xfrm>
          <a:prstGeom prst="rect">
            <a:avLst/>
          </a:prstGeom>
          <a:noFill/>
          <a:ln/>
        </p:spPr>
        <p:txBody>
          <a:bodyPr wrap="square" rtlCol="0" anchor="ctr"/>
          <a:lstStyle/>
          <a:p>
            <a:pPr indent="0" marL="0">
              <a:buNone/>
            </a:pPr>
            <a:r>
              <a:rPr lang="en-US" sz="2400" b="1" dirty="0">
                <a:solidFill>
                  <a:srgbClr val="1A202C"/>
                </a:solidFill>
                <a:latin typeface="Meiryo" pitchFamily="34" charset="0"/>
                <a:ea typeface="Meiryo" pitchFamily="34" charset="-122"/>
                <a:cs typeface="Meiryo" pitchFamily="34" charset="-120"/>
              </a:rPr>
              <a:t>【図3】委託契約（請負）の構造マップ</a:t>
            </a:r>
            <a:endParaRPr lang="en-US" sz="2400" dirty="0"/>
          </a:p>
        </p:txBody>
      </p:sp>
      <p:pic>
        <p:nvPicPr>
          <p:cNvPr id="5" name="Image 0" descr="c:\Users\sugiy\.antigravity\練習用\fig3_itaku.png">    </p:cNvPr>
          <p:cNvPicPr>
            <a:picLocks noChangeAspect="1"/>
          </p:cNvPicPr>
          <p:nvPr/>
        </p:nvPicPr>
        <p:blipFill>
          <a:blip r:embed="rId1"/>
          <a:stretch>
            <a:fillRect/>
          </a:stretch>
        </p:blipFill>
        <p:spPr>
          <a:xfrm>
            <a:off x="731520" y="914400"/>
            <a:ext cx="7680960" cy="374904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709160"/>
            <a:ext cx="5486400" cy="320040"/>
          </a:xfrm>
          <a:prstGeom prst="rect">
            <a:avLst/>
          </a:prstGeom>
          <a:noFill/>
          <a:ln/>
        </p:spPr>
        <p:txBody>
          <a:bodyPr wrap="square" rtlCol="0" anchor="ctr"/>
          <a:lstStyle/>
          <a:p>
            <a:pPr indent="0" marL="0">
              <a:buNone/>
            </a:pPr>
            <a:r>
              <a:rPr lang="en-US" sz="1200" dirty="0">
                <a:solidFill>
                  <a:srgbClr val="718096"/>
                </a:solidFill>
                <a:latin typeface="Meiryo" pitchFamily="34" charset="0"/>
                <a:ea typeface="Meiryo" pitchFamily="34" charset="-122"/>
                <a:cs typeface="Meiryo" pitchFamily="34" charset="-120"/>
              </a:rPr>
              <a:t>第3部 委託契約 ― 作品を納めるときの契約</a:t>
            </a:r>
            <a:endParaRPr lang="en-US" sz="1200" dirty="0"/>
          </a:p>
        </p:txBody>
      </p:sp>
      <p:sp>
        <p:nvSpPr>
          <p:cNvPr id="3" name="Text 1"/>
          <p:cNvSpPr/>
          <p:nvPr/>
        </p:nvSpPr>
        <p:spPr>
          <a:xfrm>
            <a:off x="7315200" y="4709160"/>
            <a:ext cx="1097280" cy="320040"/>
          </a:xfrm>
          <a:prstGeom prst="rect">
            <a:avLst/>
          </a:prstGeom>
          <a:noFill/>
          <a:ln/>
        </p:spPr>
        <p:txBody>
          <a:bodyPr wrap="square" rtlCol="0" anchor="ctr"/>
          <a:lstStyle/>
          <a:p>
            <a:pPr algn="r" indent="0" marL="0">
              <a:buNone/>
            </a:pPr>
            <a:r>
              <a:rPr lang="en-US" sz="1200" dirty="0">
                <a:solidFill>
                  <a:srgbClr val="718096"/>
                </a:solidFill>
                <a:latin typeface="Meiryo" pitchFamily="34" charset="0"/>
                <a:ea typeface="Meiryo" pitchFamily="34" charset="-122"/>
                <a:cs typeface="Meiryo" pitchFamily="34" charset="-120"/>
              </a:rPr>
              <a:t>19 / 30</a:t>
            </a:r>
            <a:endParaRPr lang="en-US" sz="1200" dirty="0"/>
          </a:p>
        </p:txBody>
      </p:sp>
      <p:sp>
        <p:nvSpPr>
          <p:cNvPr id="4" name="Text 2"/>
          <p:cNvSpPr/>
          <p:nvPr/>
        </p:nvSpPr>
        <p:spPr>
          <a:xfrm>
            <a:off x="731520" y="457200"/>
            <a:ext cx="7680960" cy="548640"/>
          </a:xfrm>
          <a:prstGeom prst="rect">
            <a:avLst/>
          </a:prstGeom>
          <a:noFill/>
          <a:ln/>
        </p:spPr>
        <p:txBody>
          <a:bodyPr wrap="square" rtlCol="0" anchor="ctr"/>
          <a:lstStyle/>
          <a:p>
            <a:pPr indent="0" marL="0">
              <a:buNone/>
            </a:pPr>
            <a:r>
              <a:rPr lang="en-US" sz="2600" b="1" dirty="0">
                <a:solidFill>
                  <a:srgbClr val="1A202C"/>
                </a:solidFill>
                <a:latin typeface="Meiryo" pitchFamily="34" charset="0"/>
                <a:ea typeface="Meiryo" pitchFamily="34" charset="-122"/>
                <a:cs typeface="Meiryo" pitchFamily="34" charset="-120"/>
              </a:rPr>
              <a:t>契約書で決められている内容 ― 6つのチェックリスト</a:t>
            </a:r>
            <a:endParaRPr lang="en-US" sz="2600" dirty="0"/>
          </a:p>
        </p:txBody>
      </p:sp>
      <p:sp>
        <p:nvSpPr>
          <p:cNvPr id="5" name="Shape 3"/>
          <p:cNvSpPr/>
          <p:nvPr/>
        </p:nvSpPr>
        <p:spPr>
          <a:xfrm>
            <a:off x="731520" y="1188720"/>
            <a:ext cx="3657600" cy="777240"/>
          </a:xfrm>
          <a:prstGeom prst="roundRect">
            <a:avLst/>
          </a:prstGeom>
          <a:solidFill>
            <a:srgbClr val="F8FAFC"/>
          </a:solidFill>
          <a:ln w="25400">
            <a:solidFill>
              <a:srgbClr val="E2E8F0"/>
            </a:solidFill>
            <a:prstDash val="solid"/>
          </a:ln>
        </p:spPr>
      </p:sp>
      <p:sp>
        <p:nvSpPr>
          <p:cNvPr id="6" name="Text 4"/>
          <p:cNvSpPr/>
          <p:nvPr/>
        </p:nvSpPr>
        <p:spPr>
          <a:xfrm>
            <a:off x="914400" y="1371600"/>
            <a:ext cx="3291840" cy="411480"/>
          </a:xfrm>
          <a:prstGeom prst="rect">
            <a:avLst/>
          </a:prstGeom>
          <a:noFill/>
          <a:ln/>
        </p:spPr>
        <p:txBody>
          <a:bodyPr wrap="square" rtlCol="0" anchor="ctr"/>
          <a:lstStyle/>
          <a:p>
            <a:pPr indent="0" marL="0">
              <a:buNone/>
            </a:pPr>
            <a:r>
              <a:rPr lang="en-US" sz="1800" b="1" dirty="0">
                <a:solidFill>
                  <a:srgbClr val="1A202C"/>
                </a:solidFill>
                <a:latin typeface="Meiryo" pitchFamily="34" charset="0"/>
                <a:ea typeface="Meiryo" pitchFamily="34" charset="-122"/>
                <a:cs typeface="Meiryo" pitchFamily="34" charset="-120"/>
              </a:rPr>
              <a:t>☑ 仕様（サイズ・尺・用途）</a:t>
            </a:r>
            <a:endParaRPr lang="en-US" sz="1800" dirty="0"/>
          </a:p>
        </p:txBody>
      </p:sp>
      <p:sp>
        <p:nvSpPr>
          <p:cNvPr id="7" name="Shape 5"/>
          <p:cNvSpPr/>
          <p:nvPr/>
        </p:nvSpPr>
        <p:spPr>
          <a:xfrm>
            <a:off x="4754880" y="1188720"/>
            <a:ext cx="3657600" cy="777240"/>
          </a:xfrm>
          <a:prstGeom prst="roundRect">
            <a:avLst/>
          </a:prstGeom>
          <a:solidFill>
            <a:srgbClr val="F8FAFC"/>
          </a:solidFill>
          <a:ln w="25400">
            <a:solidFill>
              <a:srgbClr val="E2E8F0"/>
            </a:solidFill>
            <a:prstDash val="solid"/>
          </a:ln>
        </p:spPr>
      </p:sp>
      <p:sp>
        <p:nvSpPr>
          <p:cNvPr id="8" name="Text 6"/>
          <p:cNvSpPr/>
          <p:nvPr/>
        </p:nvSpPr>
        <p:spPr>
          <a:xfrm>
            <a:off x="4937760" y="1371600"/>
            <a:ext cx="3291840" cy="411480"/>
          </a:xfrm>
          <a:prstGeom prst="rect">
            <a:avLst/>
          </a:prstGeom>
          <a:noFill/>
          <a:ln/>
        </p:spPr>
        <p:txBody>
          <a:bodyPr wrap="square" rtlCol="0" anchor="ctr"/>
          <a:lstStyle/>
          <a:p>
            <a:pPr indent="0" marL="0">
              <a:buNone/>
            </a:pPr>
            <a:r>
              <a:rPr lang="en-US" sz="1800" b="1" dirty="0">
                <a:solidFill>
                  <a:srgbClr val="1A202C"/>
                </a:solidFill>
                <a:latin typeface="Meiryo" pitchFamily="34" charset="0"/>
                <a:ea typeface="Meiryo" pitchFamily="34" charset="-122"/>
                <a:cs typeface="Meiryo" pitchFamily="34" charset="-120"/>
              </a:rPr>
              <a:t>☑ 納期（いつまでに納めるか）</a:t>
            </a:r>
            <a:endParaRPr lang="en-US" sz="1800" dirty="0"/>
          </a:p>
        </p:txBody>
      </p:sp>
      <p:sp>
        <p:nvSpPr>
          <p:cNvPr id="9" name="Shape 7"/>
          <p:cNvSpPr/>
          <p:nvPr/>
        </p:nvSpPr>
        <p:spPr>
          <a:xfrm>
            <a:off x="731520" y="2103120"/>
            <a:ext cx="3657600" cy="777240"/>
          </a:xfrm>
          <a:prstGeom prst="roundRect">
            <a:avLst/>
          </a:prstGeom>
          <a:solidFill>
            <a:srgbClr val="F8FAFC"/>
          </a:solidFill>
          <a:ln w="25400">
            <a:solidFill>
              <a:srgbClr val="E2E8F0"/>
            </a:solidFill>
            <a:prstDash val="solid"/>
          </a:ln>
        </p:spPr>
      </p:sp>
      <p:sp>
        <p:nvSpPr>
          <p:cNvPr id="10" name="Text 8"/>
          <p:cNvSpPr/>
          <p:nvPr/>
        </p:nvSpPr>
        <p:spPr>
          <a:xfrm>
            <a:off x="914400" y="2286000"/>
            <a:ext cx="3291840" cy="411480"/>
          </a:xfrm>
          <a:prstGeom prst="rect">
            <a:avLst/>
          </a:prstGeom>
          <a:noFill/>
          <a:ln/>
        </p:spPr>
        <p:txBody>
          <a:bodyPr wrap="square" rtlCol="0" anchor="ctr"/>
          <a:lstStyle/>
          <a:p>
            <a:pPr indent="0" marL="0">
              <a:buNone/>
            </a:pPr>
            <a:r>
              <a:rPr lang="en-US" sz="1800" b="1" dirty="0">
                <a:solidFill>
                  <a:srgbClr val="1A202C"/>
                </a:solidFill>
                <a:latin typeface="Meiryo" pitchFamily="34" charset="0"/>
                <a:ea typeface="Meiryo" pitchFamily="34" charset="-122"/>
                <a:cs typeface="Meiryo" pitchFamily="34" charset="-120"/>
              </a:rPr>
              <a:t>☑ 修正は何回まで無料か</a:t>
            </a:r>
            <a:endParaRPr lang="en-US" sz="1800" dirty="0"/>
          </a:p>
        </p:txBody>
      </p:sp>
      <p:sp>
        <p:nvSpPr>
          <p:cNvPr id="11" name="Shape 9"/>
          <p:cNvSpPr/>
          <p:nvPr/>
        </p:nvSpPr>
        <p:spPr>
          <a:xfrm>
            <a:off x="4754880" y="2103120"/>
            <a:ext cx="3657600" cy="777240"/>
          </a:xfrm>
          <a:prstGeom prst="roundRect">
            <a:avLst/>
          </a:prstGeom>
          <a:solidFill>
            <a:srgbClr val="F8FAFC"/>
          </a:solidFill>
          <a:ln w="25400">
            <a:solidFill>
              <a:srgbClr val="E2E8F0"/>
            </a:solidFill>
            <a:prstDash val="solid"/>
          </a:ln>
        </p:spPr>
      </p:sp>
      <p:sp>
        <p:nvSpPr>
          <p:cNvPr id="12" name="Text 10"/>
          <p:cNvSpPr/>
          <p:nvPr/>
        </p:nvSpPr>
        <p:spPr>
          <a:xfrm>
            <a:off x="4937760" y="2286000"/>
            <a:ext cx="3291840" cy="411480"/>
          </a:xfrm>
          <a:prstGeom prst="rect">
            <a:avLst/>
          </a:prstGeom>
          <a:noFill/>
          <a:ln/>
        </p:spPr>
        <p:txBody>
          <a:bodyPr wrap="square" rtlCol="0" anchor="ctr"/>
          <a:lstStyle/>
          <a:p>
            <a:pPr indent="0" marL="0">
              <a:buNone/>
            </a:pPr>
            <a:r>
              <a:rPr lang="en-US" sz="1800" b="1" dirty="0">
                <a:solidFill>
                  <a:srgbClr val="1A202C"/>
                </a:solidFill>
                <a:latin typeface="Meiryo" pitchFamily="34" charset="0"/>
                <a:ea typeface="Meiryo" pitchFamily="34" charset="-122"/>
                <a:cs typeface="Meiryo" pitchFamily="34" charset="-120"/>
              </a:rPr>
              <a:t>☑ 権利の帰属（著作権は誰へ）</a:t>
            </a:r>
            <a:endParaRPr lang="en-US" sz="1800" dirty="0"/>
          </a:p>
        </p:txBody>
      </p:sp>
      <p:sp>
        <p:nvSpPr>
          <p:cNvPr id="13" name="Shape 11"/>
          <p:cNvSpPr/>
          <p:nvPr/>
        </p:nvSpPr>
        <p:spPr>
          <a:xfrm>
            <a:off x="731520" y="3017520"/>
            <a:ext cx="3657600" cy="777240"/>
          </a:xfrm>
          <a:prstGeom prst="roundRect">
            <a:avLst/>
          </a:prstGeom>
          <a:solidFill>
            <a:srgbClr val="F8FAFC"/>
          </a:solidFill>
          <a:ln w="25400">
            <a:solidFill>
              <a:srgbClr val="E2E8F0"/>
            </a:solidFill>
            <a:prstDash val="solid"/>
          </a:ln>
        </p:spPr>
      </p:sp>
      <p:sp>
        <p:nvSpPr>
          <p:cNvPr id="14" name="Text 12"/>
          <p:cNvSpPr/>
          <p:nvPr/>
        </p:nvSpPr>
        <p:spPr>
          <a:xfrm>
            <a:off x="914400" y="3200400"/>
            <a:ext cx="3291840" cy="411480"/>
          </a:xfrm>
          <a:prstGeom prst="rect">
            <a:avLst/>
          </a:prstGeom>
          <a:noFill/>
          <a:ln/>
        </p:spPr>
        <p:txBody>
          <a:bodyPr wrap="square" rtlCol="0" anchor="ctr"/>
          <a:lstStyle/>
          <a:p>
            <a:pPr indent="0" marL="0">
              <a:buNone/>
            </a:pPr>
            <a:r>
              <a:rPr lang="en-US" sz="1800" b="1" dirty="0">
                <a:solidFill>
                  <a:srgbClr val="1A202C"/>
                </a:solidFill>
                <a:latin typeface="Meiryo" pitchFamily="34" charset="0"/>
                <a:ea typeface="Meiryo" pitchFamily="34" charset="-122"/>
                <a:cs typeface="Meiryo" pitchFamily="34" charset="-120"/>
              </a:rPr>
              <a:t>☑ AI使用の開示（隠さず伝える）</a:t>
            </a:r>
            <a:endParaRPr lang="en-US" sz="1800" dirty="0"/>
          </a:p>
        </p:txBody>
      </p:sp>
      <p:sp>
        <p:nvSpPr>
          <p:cNvPr id="15" name="Shape 13"/>
          <p:cNvSpPr/>
          <p:nvPr/>
        </p:nvSpPr>
        <p:spPr>
          <a:xfrm>
            <a:off x="4754880" y="3017520"/>
            <a:ext cx="3657600" cy="777240"/>
          </a:xfrm>
          <a:prstGeom prst="roundRect">
            <a:avLst/>
          </a:prstGeom>
          <a:solidFill>
            <a:srgbClr val="F8FAFC"/>
          </a:solidFill>
          <a:ln w="25400">
            <a:solidFill>
              <a:srgbClr val="E2E8F0"/>
            </a:solidFill>
            <a:prstDash val="solid"/>
          </a:ln>
        </p:spPr>
      </p:sp>
      <p:sp>
        <p:nvSpPr>
          <p:cNvPr id="16" name="Text 14"/>
          <p:cNvSpPr/>
          <p:nvPr/>
        </p:nvSpPr>
        <p:spPr>
          <a:xfrm>
            <a:off x="4937760" y="3200400"/>
            <a:ext cx="3291840" cy="411480"/>
          </a:xfrm>
          <a:prstGeom prst="rect">
            <a:avLst/>
          </a:prstGeom>
          <a:noFill/>
          <a:ln/>
        </p:spPr>
        <p:txBody>
          <a:bodyPr wrap="square" rtlCol="0" anchor="ctr"/>
          <a:lstStyle/>
          <a:p>
            <a:pPr indent="0" marL="0">
              <a:buNone/>
            </a:pPr>
            <a:r>
              <a:rPr lang="en-US" sz="1800" b="1" dirty="0">
                <a:solidFill>
                  <a:srgbClr val="1A202C"/>
                </a:solidFill>
                <a:latin typeface="Meiryo" pitchFamily="34" charset="0"/>
                <a:ea typeface="Meiryo" pitchFamily="34" charset="-122"/>
                <a:cs typeface="Meiryo" pitchFamily="34" charset="-120"/>
              </a:rPr>
              <a:t>☑ 権利を侵害しない保証</a:t>
            </a:r>
            <a:endParaRPr lang="en-US" sz="1800" dirty="0"/>
          </a:p>
        </p:txBody>
      </p:sp>
      <p:sp>
        <p:nvSpPr>
          <p:cNvPr id="17" name="Shape 15"/>
          <p:cNvSpPr/>
          <p:nvPr/>
        </p:nvSpPr>
        <p:spPr>
          <a:xfrm>
            <a:off x="731520" y="3977640"/>
            <a:ext cx="7680960" cy="594360"/>
          </a:xfrm>
          <a:prstGeom prst="roundRect">
            <a:avLst/>
          </a:prstGeom>
          <a:solidFill>
            <a:srgbClr val="EBF8FF"/>
          </a:solidFill>
          <a:ln w="19050">
            <a:solidFill>
              <a:srgbClr val="1A73E8"/>
            </a:solidFill>
            <a:prstDash val="solid"/>
          </a:ln>
        </p:spPr>
      </p:sp>
      <p:sp>
        <p:nvSpPr>
          <p:cNvPr id="18" name="Text 16"/>
          <p:cNvSpPr/>
          <p:nvPr/>
        </p:nvSpPr>
        <p:spPr>
          <a:xfrm>
            <a:off x="914400" y="4069080"/>
            <a:ext cx="7315200" cy="411480"/>
          </a:xfrm>
          <a:prstGeom prst="rect">
            <a:avLst/>
          </a:prstGeom>
          <a:noFill/>
          <a:ln/>
        </p:spPr>
        <p:txBody>
          <a:bodyPr wrap="square" rtlCol="0" anchor="ctr"/>
          <a:lstStyle/>
          <a:p>
            <a:pPr algn="ctr" indent="0" marL="0">
              <a:buNone/>
            </a:pPr>
            <a:r>
              <a:rPr lang="en-US" sz="1700" b="1" dirty="0">
                <a:solidFill>
                  <a:srgbClr val="1A73E8"/>
                </a:solidFill>
                <a:latin typeface="Meiryo" pitchFamily="34" charset="0"/>
                <a:ea typeface="Meiryo" pitchFamily="34" charset="-122"/>
                <a:cs typeface="Meiryo" pitchFamily="34" charset="-120"/>
              </a:rPr>
              <a:t>🛡️ 契約書は自分たちを縛るものではなく、無理な要求から身を守る「防具（盾）」です！</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709160"/>
            <a:ext cx="5486400" cy="320040"/>
          </a:xfrm>
          <a:prstGeom prst="rect">
            <a:avLst/>
          </a:prstGeom>
          <a:noFill/>
          <a:ln/>
        </p:spPr>
        <p:txBody>
          <a:bodyPr wrap="square" rtlCol="0" anchor="ctr"/>
          <a:lstStyle/>
          <a:p>
            <a:pPr indent="0" marL="0">
              <a:buNone/>
            </a:pPr>
            <a:r>
              <a:rPr lang="en-US" sz="1200" dirty="0">
                <a:solidFill>
                  <a:srgbClr val="718096"/>
                </a:solidFill>
                <a:latin typeface="Meiryo" pitchFamily="34" charset="0"/>
                <a:ea typeface="Meiryo" pitchFamily="34" charset="-122"/>
                <a:cs typeface="Meiryo" pitchFamily="34" charset="-120"/>
              </a:rPr>
              <a:t>第3部 委託契約 ― 作品を納めるときの契約</a:t>
            </a:r>
            <a:endParaRPr lang="en-US" sz="1200" dirty="0"/>
          </a:p>
        </p:txBody>
      </p:sp>
      <p:sp>
        <p:nvSpPr>
          <p:cNvPr id="3" name="Text 1"/>
          <p:cNvSpPr/>
          <p:nvPr/>
        </p:nvSpPr>
        <p:spPr>
          <a:xfrm>
            <a:off x="7315200" y="4709160"/>
            <a:ext cx="1097280" cy="320040"/>
          </a:xfrm>
          <a:prstGeom prst="rect">
            <a:avLst/>
          </a:prstGeom>
          <a:noFill/>
          <a:ln/>
        </p:spPr>
        <p:txBody>
          <a:bodyPr wrap="square" rtlCol="0" anchor="ctr"/>
          <a:lstStyle/>
          <a:p>
            <a:pPr algn="r" indent="0" marL="0">
              <a:buNone/>
            </a:pPr>
            <a:r>
              <a:rPr lang="en-US" sz="1200" dirty="0">
                <a:solidFill>
                  <a:srgbClr val="718096"/>
                </a:solidFill>
                <a:latin typeface="Meiryo" pitchFamily="34" charset="0"/>
                <a:ea typeface="Meiryo" pitchFamily="34" charset="-122"/>
                <a:cs typeface="Meiryo" pitchFamily="34" charset="-120"/>
              </a:rPr>
              <a:t>20 / 30</a:t>
            </a:r>
            <a:endParaRPr lang="en-US" sz="1200" dirty="0"/>
          </a:p>
        </p:txBody>
      </p:sp>
      <p:sp>
        <p:nvSpPr>
          <p:cNvPr id="4" name="Text 2"/>
          <p:cNvSpPr/>
          <p:nvPr/>
        </p:nvSpPr>
        <p:spPr>
          <a:xfrm>
            <a:off x="731520" y="457200"/>
            <a:ext cx="7680960" cy="548640"/>
          </a:xfrm>
          <a:prstGeom prst="rect">
            <a:avLst/>
          </a:prstGeom>
          <a:noFill/>
          <a:ln/>
        </p:spPr>
        <p:txBody>
          <a:bodyPr wrap="square" rtlCol="0" anchor="ctr"/>
          <a:lstStyle/>
          <a:p>
            <a:pPr indent="0" marL="0">
              <a:buNone/>
            </a:pPr>
            <a:r>
              <a:rPr lang="en-US" sz="2600" b="1" dirty="0">
                <a:solidFill>
                  <a:srgbClr val="1A202C"/>
                </a:solidFill>
                <a:latin typeface="Meiryo" pitchFamily="34" charset="0"/>
                <a:ea typeface="Meiryo" pitchFamily="34" charset="-122"/>
                <a:cs typeface="Meiryo" pitchFamily="34" charset="-120"/>
              </a:rPr>
              <a:t>達成できなかったら？ ― 役割分担と安心のチーム</a:t>
            </a:r>
            <a:endParaRPr lang="en-US" sz="2600" dirty="0"/>
          </a:p>
        </p:txBody>
      </p:sp>
      <p:sp>
        <p:nvSpPr>
          <p:cNvPr id="5" name="Shape 3"/>
          <p:cNvSpPr/>
          <p:nvPr/>
        </p:nvSpPr>
        <p:spPr>
          <a:xfrm>
            <a:off x="731520" y="1188720"/>
            <a:ext cx="3657600" cy="3108960"/>
          </a:xfrm>
          <a:prstGeom prst="roundRect">
            <a:avLst/>
          </a:prstGeom>
          <a:solidFill>
            <a:srgbClr val="FFF5F5"/>
          </a:solidFill>
          <a:ln w="31750">
            <a:solidFill>
              <a:srgbClr val="D9383A"/>
            </a:solidFill>
            <a:prstDash val="solid"/>
          </a:ln>
        </p:spPr>
      </p:sp>
      <p:sp>
        <p:nvSpPr>
          <p:cNvPr id="6" name="Text 4"/>
          <p:cNvSpPr/>
          <p:nvPr/>
        </p:nvSpPr>
        <p:spPr>
          <a:xfrm>
            <a:off x="914400" y="1371600"/>
            <a:ext cx="3291840" cy="457200"/>
          </a:xfrm>
          <a:prstGeom prst="rect">
            <a:avLst/>
          </a:prstGeom>
          <a:noFill/>
          <a:ln/>
        </p:spPr>
        <p:txBody>
          <a:bodyPr wrap="square" rtlCol="0" anchor="ctr"/>
          <a:lstStyle/>
          <a:p>
            <a:pPr algn="ctr" indent="0" marL="0">
              <a:buNone/>
            </a:pPr>
            <a:r>
              <a:rPr lang="en-US" sz="2200" b="1" dirty="0">
                <a:solidFill>
                  <a:srgbClr val="D9383A"/>
                </a:solidFill>
                <a:latin typeface="Meiryo" pitchFamily="34" charset="0"/>
                <a:ea typeface="Meiryo" pitchFamily="34" charset="-122"/>
                <a:cs typeface="Meiryo" pitchFamily="34" charset="-120"/>
              </a:rPr>
              <a:t>⚠️ 債務不履行のリスク</a:t>
            </a:r>
            <a:endParaRPr lang="en-US" sz="2200" dirty="0"/>
          </a:p>
        </p:txBody>
      </p:sp>
      <p:sp>
        <p:nvSpPr>
          <p:cNvPr id="7" name="Text 5"/>
          <p:cNvSpPr/>
          <p:nvPr/>
        </p:nvSpPr>
        <p:spPr>
          <a:xfrm>
            <a:off x="1005840" y="2011680"/>
            <a:ext cx="3108960" cy="2103120"/>
          </a:xfrm>
          <a:prstGeom prst="rect">
            <a:avLst/>
          </a:prstGeom>
          <a:noFill/>
          <a:ln/>
        </p:spPr>
        <p:txBody>
          <a:bodyPr wrap="square" rtlCol="0" anchor="ctr"/>
          <a:lstStyle/>
          <a:p>
            <a:pPr indent="0" marL="0">
              <a:buNone/>
            </a:pPr>
            <a:r>
              <a:rPr lang="en-US" sz="1700" dirty="0">
                <a:solidFill>
                  <a:srgbClr val="1A202C"/>
                </a:solidFill>
                <a:latin typeface="Meiryo" pitchFamily="34" charset="0"/>
                <a:ea typeface="Meiryo" pitchFamily="34" charset="-122"/>
                <a:cs typeface="Meiryo" pitchFamily="34" charset="-120"/>
              </a:rPr>
              <a:t>・納期遅れ／仕様違い／修正超過</a:t>
            </a:r>
            <a:endParaRPr lang="en-US" sz="1700" dirty="0"/>
          </a:p>
          <a:p>
            <a:pPr indent="0" marL="0">
              <a:buNone/>
            </a:pPr>
            <a:r>
              <a:rPr lang="en-US" sz="1700" dirty="0">
                <a:solidFill>
                  <a:srgbClr val="1A202C"/>
                </a:solidFill>
                <a:latin typeface="Meiryo" pitchFamily="34" charset="0"/>
                <a:ea typeface="Meiryo" pitchFamily="34" charset="-122"/>
                <a:cs typeface="Meiryo" pitchFamily="34" charset="-120"/>
              </a:rPr>
              <a:t>　➔「債務不履行」</a:t>
            </a:r>
            <a:endParaRPr lang="en-US" sz="1700" dirty="0"/>
          </a:p>
          <a:p>
            <a:pPr indent="0" marL="0">
              <a:buNone/>
            </a:pPr>
            <a:endParaRPr lang="en-US" sz="1700" dirty="0"/>
          </a:p>
          <a:p>
            <a:pPr indent="0" marL="0">
              <a:buNone/>
            </a:pPr>
            <a:r>
              <a:rPr lang="en-US" sz="1700" dirty="0">
                <a:solidFill>
                  <a:srgbClr val="1A202C"/>
                </a:solidFill>
                <a:latin typeface="Meiryo" pitchFamily="34" charset="0"/>
                <a:ea typeface="Meiryo" pitchFamily="34" charset="-122"/>
                <a:cs typeface="Meiryo" pitchFamily="34" charset="-120"/>
              </a:rPr>
              <a:t>・損害賠償請求や契約解除のリスク</a:t>
            </a:r>
            <a:endParaRPr lang="en-US" sz="1700" dirty="0"/>
          </a:p>
          <a:p>
            <a:pPr indent="0" marL="0">
              <a:buNone/>
            </a:pPr>
            <a:endParaRPr lang="en-US" sz="1700" dirty="0"/>
          </a:p>
          <a:p>
            <a:pPr indent="0" marL="0">
              <a:buNone/>
            </a:pPr>
            <a:r>
              <a:rPr lang="en-US" sz="1700" dirty="0">
                <a:solidFill>
                  <a:srgbClr val="1A202C"/>
                </a:solidFill>
                <a:latin typeface="Meiryo" pitchFamily="34" charset="0"/>
                <a:ea typeface="Meiryo" pitchFamily="34" charset="-122"/>
                <a:cs typeface="Meiryo" pitchFamily="34" charset="-120"/>
              </a:rPr>
              <a:t>❌「AIで作ったから」は理由にならない</a:t>
            </a:r>
            <a:endParaRPr lang="en-US" sz="1700" dirty="0"/>
          </a:p>
          <a:p>
            <a:pPr indent="0" marL="0">
              <a:buNone/>
            </a:pPr>
            <a:r>
              <a:rPr lang="en-US" sz="1700" dirty="0">
                <a:solidFill>
                  <a:srgbClr val="1A202C"/>
                </a:solidFill>
                <a:latin typeface="Meiryo" pitchFamily="34" charset="0"/>
                <a:ea typeface="Meiryo" pitchFamily="34" charset="-122"/>
                <a:cs typeface="Meiryo" pitchFamily="34" charset="-120"/>
              </a:rPr>
              <a:t>　約束は人間が守るもの！</a:t>
            </a:r>
            <a:endParaRPr lang="en-US" sz="1700" dirty="0"/>
          </a:p>
        </p:txBody>
      </p:sp>
      <p:sp>
        <p:nvSpPr>
          <p:cNvPr id="8" name="Shape 6"/>
          <p:cNvSpPr/>
          <p:nvPr/>
        </p:nvSpPr>
        <p:spPr>
          <a:xfrm>
            <a:off x="4754880" y="1188720"/>
            <a:ext cx="3657600" cy="3108960"/>
          </a:xfrm>
          <a:prstGeom prst="roundRect">
            <a:avLst/>
          </a:prstGeom>
          <a:solidFill>
            <a:srgbClr val="EBF8FF"/>
          </a:solidFill>
          <a:ln w="31750">
            <a:solidFill>
              <a:srgbClr val="1A73E8"/>
            </a:solidFill>
            <a:prstDash val="solid"/>
          </a:ln>
        </p:spPr>
      </p:sp>
      <p:sp>
        <p:nvSpPr>
          <p:cNvPr id="9" name="Text 7"/>
          <p:cNvSpPr/>
          <p:nvPr/>
        </p:nvSpPr>
        <p:spPr>
          <a:xfrm>
            <a:off x="4937760" y="1371600"/>
            <a:ext cx="3291840" cy="457200"/>
          </a:xfrm>
          <a:prstGeom prst="rect">
            <a:avLst/>
          </a:prstGeom>
          <a:noFill/>
          <a:ln/>
        </p:spPr>
        <p:txBody>
          <a:bodyPr wrap="square" rtlCol="0" anchor="ctr"/>
          <a:lstStyle/>
          <a:p>
            <a:pPr algn="ctr" indent="0" marL="0">
              <a:buNone/>
            </a:pPr>
            <a:r>
              <a:rPr lang="en-US" sz="2200" b="1" dirty="0">
                <a:solidFill>
                  <a:srgbClr val="1A73E8"/>
                </a:solidFill>
                <a:latin typeface="Meiryo" pitchFamily="34" charset="0"/>
                <a:ea typeface="Meiryo" pitchFamily="34" charset="-122"/>
                <a:cs typeface="Meiryo" pitchFamily="34" charset="-120"/>
              </a:rPr>
              <a:t>🛡️ だから事業所がある！</a:t>
            </a:r>
            <a:endParaRPr lang="en-US" sz="2200" dirty="0"/>
          </a:p>
        </p:txBody>
      </p:sp>
      <p:sp>
        <p:nvSpPr>
          <p:cNvPr id="10" name="Text 8"/>
          <p:cNvSpPr/>
          <p:nvPr/>
        </p:nvSpPr>
        <p:spPr>
          <a:xfrm>
            <a:off x="5029200" y="2011680"/>
            <a:ext cx="3108960" cy="2103120"/>
          </a:xfrm>
          <a:prstGeom prst="rect">
            <a:avLst/>
          </a:prstGeom>
          <a:noFill/>
          <a:ln/>
        </p:spPr>
        <p:txBody>
          <a:bodyPr wrap="square" rtlCol="0" anchor="ctr"/>
          <a:lstStyle/>
          <a:p>
            <a:pPr indent="0" marL="0">
              <a:buNone/>
            </a:pPr>
            <a:r>
              <a:rPr lang="en-US" sz="1700" dirty="0">
                <a:solidFill>
                  <a:srgbClr val="1A202C"/>
                </a:solidFill>
                <a:latin typeface="Meiryo" pitchFamily="34" charset="0"/>
                <a:ea typeface="Meiryo" pitchFamily="34" charset="-122"/>
                <a:cs typeface="Meiryo" pitchFamily="34" charset="-120"/>
              </a:rPr>
              <a:t>・利用者が一人で法的責任を負わない</a:t>
            </a:r>
            <a:endParaRPr lang="en-US" sz="1700" dirty="0"/>
          </a:p>
          <a:p>
            <a:pPr indent="0" marL="0">
              <a:buNone/>
            </a:pPr>
            <a:endParaRPr lang="en-US" sz="1700" dirty="0"/>
          </a:p>
          <a:p>
            <a:pPr indent="0" marL="0">
              <a:buNone/>
            </a:pPr>
            <a:r>
              <a:rPr lang="en-US" sz="1700" dirty="0">
                <a:solidFill>
                  <a:srgbClr val="1A202C"/>
                </a:solidFill>
                <a:latin typeface="Meiryo" pitchFamily="34" charset="0"/>
                <a:ea typeface="Meiryo" pitchFamily="34" charset="-122"/>
                <a:cs typeface="Meiryo" pitchFamily="34" charset="-120"/>
              </a:rPr>
              <a:t>・事業所が企業としっかり契約書を結び、</a:t>
            </a:r>
            <a:endParaRPr lang="en-US" sz="1700" dirty="0"/>
          </a:p>
          <a:p>
            <a:pPr indent="0" marL="0">
              <a:buNone/>
            </a:pPr>
            <a:r>
              <a:rPr lang="en-US" sz="1700" dirty="0">
                <a:solidFill>
                  <a:srgbClr val="1A202C"/>
                </a:solidFill>
                <a:latin typeface="Meiryo" pitchFamily="34" charset="0"/>
                <a:ea typeface="Meiryo" pitchFamily="34" charset="-122"/>
                <a:cs typeface="Meiryo" pitchFamily="34" charset="-120"/>
              </a:rPr>
              <a:t>　納期や仕様を管理・調整している</a:t>
            </a:r>
            <a:endParaRPr lang="en-US" sz="1700" dirty="0"/>
          </a:p>
          <a:p>
            <a:pPr indent="0" marL="0">
              <a:buNone/>
            </a:pPr>
            <a:endParaRPr lang="en-US" sz="1700" dirty="0"/>
          </a:p>
          <a:p>
            <a:pPr indent="0" marL="0">
              <a:buNone/>
            </a:pPr>
            <a:r>
              <a:rPr lang="en-US" sz="1700" dirty="0">
                <a:solidFill>
                  <a:srgbClr val="1A202C"/>
                </a:solidFill>
                <a:latin typeface="Meiryo" pitchFamily="34" charset="0"/>
                <a:ea typeface="Meiryo" pitchFamily="34" charset="-122"/>
                <a:cs typeface="Meiryo" pitchFamily="34" charset="-120"/>
              </a:rPr>
              <a:t>👉 皆さんは守られた環境の中で、</a:t>
            </a:r>
            <a:endParaRPr lang="en-US" sz="1700" dirty="0"/>
          </a:p>
          <a:p>
            <a:pPr indent="0" marL="0">
              <a:buNone/>
            </a:pPr>
            <a:r>
              <a:rPr lang="en-US" sz="1700" dirty="0">
                <a:solidFill>
                  <a:srgbClr val="1A202C"/>
                </a:solidFill>
                <a:latin typeface="Meiryo" pitchFamily="34" charset="0"/>
                <a:ea typeface="Meiryo" pitchFamily="34" charset="-122"/>
                <a:cs typeface="Meiryo" pitchFamily="34" charset="-120"/>
              </a:rPr>
              <a:t>　安心して制作に集中できます！</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709160"/>
            <a:ext cx="5486400" cy="320040"/>
          </a:xfrm>
          <a:prstGeom prst="rect">
            <a:avLst/>
          </a:prstGeom>
          <a:noFill/>
          <a:ln/>
        </p:spPr>
        <p:txBody>
          <a:bodyPr wrap="square" rtlCol="0" anchor="ctr"/>
          <a:lstStyle/>
          <a:p>
            <a:pPr indent="0" marL="0">
              <a:buNone/>
            </a:pPr>
            <a:r>
              <a:rPr lang="en-US" sz="1200" dirty="0">
                <a:solidFill>
                  <a:srgbClr val="718096"/>
                </a:solidFill>
                <a:latin typeface="Meiryo" pitchFamily="34" charset="0"/>
                <a:ea typeface="Meiryo" pitchFamily="34" charset="-122"/>
                <a:cs typeface="Meiryo" pitchFamily="34" charset="-120"/>
              </a:rPr>
              <a:t>第3部 委託契約 ― 作品を納めるときの契約</a:t>
            </a:r>
            <a:endParaRPr lang="en-US" sz="1200" dirty="0"/>
          </a:p>
        </p:txBody>
      </p:sp>
      <p:sp>
        <p:nvSpPr>
          <p:cNvPr id="3" name="Text 1"/>
          <p:cNvSpPr/>
          <p:nvPr/>
        </p:nvSpPr>
        <p:spPr>
          <a:xfrm>
            <a:off x="7315200" y="4709160"/>
            <a:ext cx="1097280" cy="320040"/>
          </a:xfrm>
          <a:prstGeom prst="rect">
            <a:avLst/>
          </a:prstGeom>
          <a:noFill/>
          <a:ln/>
        </p:spPr>
        <p:txBody>
          <a:bodyPr wrap="square" rtlCol="0" anchor="ctr"/>
          <a:lstStyle/>
          <a:p>
            <a:pPr algn="r" indent="0" marL="0">
              <a:buNone/>
            </a:pPr>
            <a:r>
              <a:rPr lang="en-US" sz="1200" dirty="0">
                <a:solidFill>
                  <a:srgbClr val="718096"/>
                </a:solidFill>
                <a:latin typeface="Meiryo" pitchFamily="34" charset="0"/>
                <a:ea typeface="Meiryo" pitchFamily="34" charset="-122"/>
                <a:cs typeface="Meiryo" pitchFamily="34" charset="-120"/>
              </a:rPr>
              <a:t>21 / 30</a:t>
            </a:r>
            <a:endParaRPr lang="en-US" sz="1200" dirty="0"/>
          </a:p>
        </p:txBody>
      </p:sp>
      <p:sp>
        <p:nvSpPr>
          <p:cNvPr id="4" name="Text 2"/>
          <p:cNvSpPr/>
          <p:nvPr/>
        </p:nvSpPr>
        <p:spPr>
          <a:xfrm>
            <a:off x="731520" y="457200"/>
            <a:ext cx="7680960" cy="548640"/>
          </a:xfrm>
          <a:prstGeom prst="rect">
            <a:avLst/>
          </a:prstGeom>
          <a:noFill/>
          <a:ln/>
        </p:spPr>
        <p:txBody>
          <a:bodyPr wrap="square" rtlCol="0" anchor="ctr"/>
          <a:lstStyle/>
          <a:p>
            <a:pPr indent="0" marL="0">
              <a:buNone/>
            </a:pPr>
            <a:r>
              <a:rPr lang="en-US" sz="2600" b="1" dirty="0">
                <a:solidFill>
                  <a:srgbClr val="1A202C"/>
                </a:solidFill>
                <a:latin typeface="Meiryo" pitchFamily="34" charset="0"/>
                <a:ea typeface="Meiryo" pitchFamily="34" charset="-122"/>
                <a:cs typeface="Meiryo" pitchFamily="34" charset="-120"/>
              </a:rPr>
              <a:t>仕事の流れ（履行フロー）と知っておきたい「偽装請負」</a:t>
            </a:r>
            <a:endParaRPr lang="en-US" sz="2600" dirty="0"/>
          </a:p>
        </p:txBody>
      </p:sp>
      <p:sp>
        <p:nvSpPr>
          <p:cNvPr id="5" name="Shape 3"/>
          <p:cNvSpPr/>
          <p:nvPr/>
        </p:nvSpPr>
        <p:spPr>
          <a:xfrm>
            <a:off x="731520" y="1188720"/>
            <a:ext cx="7680960" cy="1188720"/>
          </a:xfrm>
          <a:prstGeom prst="roundRect">
            <a:avLst/>
          </a:prstGeom>
          <a:solidFill>
            <a:srgbClr val="EBF8FF"/>
          </a:solidFill>
          <a:ln w="25400">
            <a:solidFill>
              <a:srgbClr val="1A73E8"/>
            </a:solidFill>
            <a:prstDash val="solid"/>
          </a:ln>
        </p:spPr>
      </p:sp>
      <p:sp>
        <p:nvSpPr>
          <p:cNvPr id="6" name="Text 4"/>
          <p:cNvSpPr/>
          <p:nvPr/>
        </p:nvSpPr>
        <p:spPr>
          <a:xfrm>
            <a:off x="914400" y="1325880"/>
            <a:ext cx="7315200" cy="365760"/>
          </a:xfrm>
          <a:prstGeom prst="rect">
            <a:avLst/>
          </a:prstGeom>
          <a:noFill/>
          <a:ln/>
        </p:spPr>
        <p:txBody>
          <a:bodyPr wrap="square" rtlCol="0" anchor="ctr"/>
          <a:lstStyle/>
          <a:p>
            <a:pPr algn="ctr" indent="0" marL="0">
              <a:buNone/>
            </a:pPr>
            <a:r>
              <a:rPr lang="en-US" sz="2000" b="1" dirty="0">
                <a:solidFill>
                  <a:srgbClr val="1A73E8"/>
                </a:solidFill>
                <a:latin typeface="Meiryo" pitchFamily="34" charset="0"/>
                <a:ea typeface="Meiryo" pitchFamily="34" charset="-122"/>
                <a:cs typeface="Meiryo" pitchFamily="34" charset="-120"/>
              </a:rPr>
              <a:t>🏁 履行の流れ（ビジネスの一連のサイクル）</a:t>
            </a:r>
            <a:endParaRPr lang="en-US" sz="2000" dirty="0"/>
          </a:p>
        </p:txBody>
      </p:sp>
      <p:sp>
        <p:nvSpPr>
          <p:cNvPr id="7" name="Text 5"/>
          <p:cNvSpPr/>
          <p:nvPr/>
        </p:nvSpPr>
        <p:spPr>
          <a:xfrm>
            <a:off x="914400" y="1783080"/>
            <a:ext cx="7315200" cy="457200"/>
          </a:xfrm>
          <a:prstGeom prst="rect">
            <a:avLst/>
          </a:prstGeom>
          <a:noFill/>
          <a:ln/>
        </p:spPr>
        <p:txBody>
          <a:bodyPr wrap="square" rtlCol="0" anchor="ctr"/>
          <a:lstStyle/>
          <a:p>
            <a:pPr algn="ctr" indent="0" marL="0">
              <a:buNone/>
            </a:pPr>
            <a:r>
              <a:rPr lang="en-US" sz="1800" b="1" dirty="0">
                <a:solidFill>
                  <a:srgbClr val="1A202C"/>
                </a:solidFill>
                <a:latin typeface="Meiryo" pitchFamily="34" charset="0"/>
                <a:ea typeface="Meiryo" pitchFamily="34" charset="-122"/>
                <a:cs typeface="Meiryo" pitchFamily="34" charset="-120"/>
              </a:rPr>
              <a:t>①契約書確認 ➔ ②制作 ➔ ③納品 ➔ ④検収（チェック） ➔ ⑤報酬支払 ➔ 完遂！</a:t>
            </a:r>
            <a:endParaRPr lang="en-US" sz="1800" dirty="0"/>
          </a:p>
        </p:txBody>
      </p:sp>
      <p:sp>
        <p:nvSpPr>
          <p:cNvPr id="8" name="Shape 6"/>
          <p:cNvSpPr/>
          <p:nvPr/>
        </p:nvSpPr>
        <p:spPr>
          <a:xfrm>
            <a:off x="731520" y="2560320"/>
            <a:ext cx="7680960" cy="1828800"/>
          </a:xfrm>
          <a:prstGeom prst="roundRect">
            <a:avLst/>
          </a:prstGeom>
          <a:solidFill>
            <a:srgbClr val="FFF5F5"/>
          </a:solidFill>
          <a:ln w="25400">
            <a:solidFill>
              <a:srgbClr val="D9383A"/>
            </a:solidFill>
            <a:prstDash val="solid"/>
          </a:ln>
        </p:spPr>
      </p:sp>
      <p:sp>
        <p:nvSpPr>
          <p:cNvPr id="9" name="Text 7"/>
          <p:cNvSpPr/>
          <p:nvPr/>
        </p:nvSpPr>
        <p:spPr>
          <a:xfrm>
            <a:off x="914400" y="2743200"/>
            <a:ext cx="7315200" cy="411480"/>
          </a:xfrm>
          <a:prstGeom prst="rect">
            <a:avLst/>
          </a:prstGeom>
          <a:noFill/>
          <a:ln/>
        </p:spPr>
        <p:txBody>
          <a:bodyPr wrap="square" rtlCol="0" anchor="ctr"/>
          <a:lstStyle/>
          <a:p>
            <a:pPr algn="ctr" indent="0" marL="0">
              <a:buNone/>
            </a:pPr>
            <a:r>
              <a:rPr lang="en-US" sz="2200" b="1" dirty="0">
                <a:solidFill>
                  <a:srgbClr val="D9383A"/>
                </a:solidFill>
                <a:latin typeface="Meiryo" pitchFamily="34" charset="0"/>
                <a:ea typeface="Meiryo" pitchFamily="34" charset="-122"/>
                <a:cs typeface="Meiryo" pitchFamily="34" charset="-120"/>
              </a:rPr>
              <a:t>⚠️ 知っておきたい知恵：偽装請負（ぎそううけおい）</a:t>
            </a:r>
            <a:endParaRPr lang="en-US" sz="2200" dirty="0"/>
          </a:p>
        </p:txBody>
      </p:sp>
      <p:sp>
        <p:nvSpPr>
          <p:cNvPr id="10" name="Text 8"/>
          <p:cNvSpPr/>
          <p:nvPr/>
        </p:nvSpPr>
        <p:spPr>
          <a:xfrm>
            <a:off x="914400" y="3200400"/>
            <a:ext cx="7315200" cy="1005840"/>
          </a:xfrm>
          <a:prstGeom prst="rect">
            <a:avLst/>
          </a:prstGeom>
          <a:noFill/>
          <a:ln/>
        </p:spPr>
        <p:txBody>
          <a:bodyPr wrap="square" rtlCol="0" anchor="ctr"/>
          <a:lstStyle/>
          <a:p>
            <a:pPr algn="ctr" indent="0" marL="0">
              <a:buNone/>
            </a:pPr>
            <a:r>
              <a:rPr lang="en-US" sz="1600" dirty="0">
                <a:solidFill>
                  <a:srgbClr val="1A202C"/>
                </a:solidFill>
                <a:latin typeface="Meiryo" pitchFamily="34" charset="0"/>
                <a:ea typeface="Meiryo" pitchFamily="34" charset="-122"/>
                <a:cs typeface="Meiryo" pitchFamily="34" charset="-120"/>
              </a:rPr>
              <a:t>・契約書は「委託」なのに、発注元の会社が現場で直接あれこれ指図すること！</a:t>
            </a:r>
            <a:endParaRPr lang="en-US" sz="1600" dirty="0"/>
          </a:p>
          <a:p>
            <a:pPr algn="ctr" indent="0" marL="0">
              <a:buNone/>
            </a:pPr>
            <a:r>
              <a:rPr lang="en-US" sz="1600" dirty="0">
                <a:solidFill>
                  <a:srgbClr val="1A202C"/>
                </a:solidFill>
                <a:latin typeface="Meiryo" pitchFamily="34" charset="0"/>
                <a:ea typeface="Meiryo" pitchFamily="34" charset="-122"/>
                <a:cs typeface="Meiryo" pitchFamily="34" charset="-120"/>
              </a:rPr>
              <a:t>・法律は、契約の「名前」ではなく「働かせ方の実態」で判断します。</a:t>
            </a:r>
            <a:endParaRPr lang="en-US" sz="1600" dirty="0"/>
          </a:p>
          <a:p>
            <a:pPr algn="ctr" indent="0" marL="0">
              <a:buNone/>
            </a:pPr>
            <a:r>
              <a:rPr lang="en-US" sz="1600" dirty="0">
                <a:solidFill>
                  <a:srgbClr val="1A202C"/>
                </a:solidFill>
                <a:latin typeface="Meiryo" pitchFamily="34" charset="0"/>
                <a:ea typeface="Meiryo" pitchFamily="34" charset="-122"/>
                <a:cs typeface="Meiryo" pitchFamily="34" charset="-120"/>
              </a:rPr>
              <a:t>・実態が労働者なら、労働基準法で守られなければなりません。</a:t>
            </a:r>
            <a:endParaRPr lang="en-US" sz="1600" dirty="0"/>
          </a:p>
          <a:p>
            <a:pPr algn="ctr" indent="0" marL="0">
              <a:buNone/>
            </a:pPr>
            <a:r>
              <a:rPr lang="en-US" sz="1600" dirty="0">
                <a:solidFill>
                  <a:srgbClr val="1A202C"/>
                </a:solidFill>
                <a:latin typeface="Meiryo" pitchFamily="34" charset="0"/>
                <a:ea typeface="Meiryo" pitchFamily="34" charset="-122"/>
                <a:cs typeface="Meiryo" pitchFamily="34" charset="-120"/>
              </a:rPr>
              <a:t>👉 将来フリーランスや職場で不当な扱いを受けないための、大切な知識です。</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709160"/>
            <a:ext cx="5486400" cy="320040"/>
          </a:xfrm>
          <a:prstGeom prst="rect">
            <a:avLst/>
          </a:prstGeom>
          <a:noFill/>
          <a:ln/>
        </p:spPr>
        <p:txBody>
          <a:bodyPr wrap="square" rtlCol="0" anchor="ctr"/>
          <a:lstStyle/>
          <a:p>
            <a:pPr indent="0" marL="0">
              <a:buNone/>
            </a:pPr>
            <a:r>
              <a:rPr lang="en-US" sz="1200" dirty="0">
                <a:solidFill>
                  <a:srgbClr val="718096"/>
                </a:solidFill>
                <a:latin typeface="Meiryo" pitchFamily="34" charset="0"/>
                <a:ea typeface="Meiryo" pitchFamily="34" charset="-122"/>
                <a:cs typeface="Meiryo" pitchFamily="34" charset="-120"/>
              </a:rPr>
              <a:t>第4部 AI生成物ならではの法律問題</a:t>
            </a:r>
            <a:endParaRPr lang="en-US" sz="1200" dirty="0"/>
          </a:p>
        </p:txBody>
      </p:sp>
      <p:sp>
        <p:nvSpPr>
          <p:cNvPr id="3" name="Text 1"/>
          <p:cNvSpPr/>
          <p:nvPr/>
        </p:nvSpPr>
        <p:spPr>
          <a:xfrm>
            <a:off x="7315200" y="4709160"/>
            <a:ext cx="1097280" cy="320040"/>
          </a:xfrm>
          <a:prstGeom prst="rect">
            <a:avLst/>
          </a:prstGeom>
          <a:noFill/>
          <a:ln/>
        </p:spPr>
        <p:txBody>
          <a:bodyPr wrap="square" rtlCol="0" anchor="ctr"/>
          <a:lstStyle/>
          <a:p>
            <a:pPr algn="r" indent="0" marL="0">
              <a:buNone/>
            </a:pPr>
            <a:r>
              <a:rPr lang="en-US" sz="1200" dirty="0">
                <a:solidFill>
                  <a:srgbClr val="718096"/>
                </a:solidFill>
                <a:latin typeface="Meiryo" pitchFamily="34" charset="0"/>
                <a:ea typeface="Meiryo" pitchFamily="34" charset="-122"/>
                <a:cs typeface="Meiryo" pitchFamily="34" charset="-120"/>
              </a:rPr>
              <a:t>22 / 30</a:t>
            </a:r>
            <a:endParaRPr lang="en-US" sz="1200" dirty="0"/>
          </a:p>
        </p:txBody>
      </p:sp>
      <p:sp>
        <p:nvSpPr>
          <p:cNvPr id="4" name="Text 2"/>
          <p:cNvSpPr/>
          <p:nvPr/>
        </p:nvSpPr>
        <p:spPr>
          <a:xfrm>
            <a:off x="731520" y="457200"/>
            <a:ext cx="7680960" cy="548640"/>
          </a:xfrm>
          <a:prstGeom prst="rect">
            <a:avLst/>
          </a:prstGeom>
          <a:noFill/>
          <a:ln/>
        </p:spPr>
        <p:txBody>
          <a:bodyPr wrap="square" rtlCol="0" anchor="ctr"/>
          <a:lstStyle/>
          <a:p>
            <a:pPr indent="0" marL="0">
              <a:buNone/>
            </a:pPr>
            <a:r>
              <a:rPr lang="en-US" sz="2600" b="1" dirty="0">
                <a:solidFill>
                  <a:srgbClr val="1A202C"/>
                </a:solidFill>
                <a:latin typeface="Meiryo" pitchFamily="34" charset="0"/>
                <a:ea typeface="Meiryo" pitchFamily="34" charset="-122"/>
                <a:cs typeface="Meiryo" pitchFamily="34" charset="-120"/>
              </a:rPr>
              <a:t>第4部 AI生成物ならではの法律問題【クイズ】</a:t>
            </a:r>
            <a:endParaRPr lang="en-US" sz="2600" dirty="0"/>
          </a:p>
        </p:txBody>
      </p:sp>
      <p:sp>
        <p:nvSpPr>
          <p:cNvPr id="5" name="Shape 3"/>
          <p:cNvSpPr/>
          <p:nvPr/>
        </p:nvSpPr>
        <p:spPr>
          <a:xfrm>
            <a:off x="731520" y="1188720"/>
            <a:ext cx="7680960" cy="914400"/>
          </a:xfrm>
          <a:prstGeom prst="roundRect">
            <a:avLst/>
          </a:prstGeom>
          <a:solidFill>
            <a:srgbClr val="F8FAFC"/>
          </a:solidFill>
          <a:ln w="25400">
            <a:solidFill>
              <a:srgbClr val="E2E8F0"/>
            </a:solidFill>
            <a:prstDash val="solid"/>
          </a:ln>
        </p:spPr>
      </p:sp>
      <p:sp>
        <p:nvSpPr>
          <p:cNvPr id="6" name="Text 4"/>
          <p:cNvSpPr/>
          <p:nvPr/>
        </p:nvSpPr>
        <p:spPr>
          <a:xfrm>
            <a:off x="914400" y="1417320"/>
            <a:ext cx="7315200" cy="457200"/>
          </a:xfrm>
          <a:prstGeom prst="rect">
            <a:avLst/>
          </a:prstGeom>
          <a:noFill/>
          <a:ln/>
        </p:spPr>
        <p:txBody>
          <a:bodyPr wrap="square" rtlCol="0" anchor="ctr"/>
          <a:lstStyle/>
          <a:p>
            <a:pPr algn="ctr" indent="0" marL="0">
              <a:buNone/>
            </a:pPr>
            <a:r>
              <a:rPr lang="en-US" sz="2200" b="1" dirty="0">
                <a:solidFill>
                  <a:srgbClr val="1A202C"/>
                </a:solidFill>
                <a:latin typeface="Meiryo" pitchFamily="34" charset="0"/>
                <a:ea typeface="Meiryo" pitchFamily="34" charset="-122"/>
                <a:cs typeface="Meiryo" pitchFamily="34" charset="-120"/>
              </a:rPr>
              <a:t>❓ 問い：AIが自動でパッと出したイラストは、誰のものでしょう？</a:t>
            </a:r>
            <a:endParaRPr lang="en-US" sz="2200" dirty="0"/>
          </a:p>
        </p:txBody>
      </p:sp>
      <p:sp>
        <p:nvSpPr>
          <p:cNvPr id="7" name="Shape 5"/>
          <p:cNvSpPr/>
          <p:nvPr/>
        </p:nvSpPr>
        <p:spPr>
          <a:xfrm>
            <a:off x="731520" y="2286000"/>
            <a:ext cx="3657600" cy="2011680"/>
          </a:xfrm>
          <a:prstGeom prst="roundRect">
            <a:avLst/>
          </a:prstGeom>
          <a:solidFill>
            <a:srgbClr val="F8FAFC"/>
          </a:solidFill>
          <a:ln w="25400">
            <a:solidFill>
              <a:srgbClr val="E2E8F0"/>
            </a:solidFill>
            <a:prstDash val="solid"/>
          </a:ln>
        </p:spPr>
      </p:sp>
      <p:sp>
        <p:nvSpPr>
          <p:cNvPr id="8" name="Text 6"/>
          <p:cNvSpPr/>
          <p:nvPr/>
        </p:nvSpPr>
        <p:spPr>
          <a:xfrm>
            <a:off x="914400" y="2560320"/>
            <a:ext cx="3291840" cy="457200"/>
          </a:xfrm>
          <a:prstGeom prst="rect">
            <a:avLst/>
          </a:prstGeom>
          <a:noFill/>
          <a:ln/>
        </p:spPr>
        <p:txBody>
          <a:bodyPr wrap="square" rtlCol="0" anchor="ctr"/>
          <a:lstStyle/>
          <a:p>
            <a:pPr algn="ctr" indent="0" marL="0">
              <a:buNone/>
            </a:pPr>
            <a:r>
              <a:rPr lang="en-US" sz="2200" b="1" dirty="0">
                <a:solidFill>
                  <a:srgbClr val="718096"/>
                </a:solidFill>
                <a:latin typeface="Meiryo" pitchFamily="34" charset="0"/>
                <a:ea typeface="Meiryo" pitchFamily="34" charset="-122"/>
                <a:cs typeface="Meiryo" pitchFamily="34" charset="-120"/>
              </a:rPr>
              <a:t>🤖 AI全自動出力</a:t>
            </a:r>
            <a:endParaRPr lang="en-US" sz="2200" dirty="0"/>
          </a:p>
        </p:txBody>
      </p:sp>
      <p:sp>
        <p:nvSpPr>
          <p:cNvPr id="9" name="Text 7"/>
          <p:cNvSpPr/>
          <p:nvPr/>
        </p:nvSpPr>
        <p:spPr>
          <a:xfrm>
            <a:off x="914400" y="3108960"/>
            <a:ext cx="3291840" cy="1005840"/>
          </a:xfrm>
          <a:prstGeom prst="rect">
            <a:avLst/>
          </a:prstGeom>
          <a:noFill/>
          <a:ln/>
        </p:spPr>
        <p:txBody>
          <a:bodyPr wrap="square" rtlCol="0" anchor="ctr"/>
          <a:lstStyle/>
          <a:p>
            <a:pPr algn="ctr" indent="0" marL="0">
              <a:buNone/>
            </a:pPr>
            <a:r>
              <a:rPr lang="en-US" sz="1700" dirty="0">
                <a:solidFill>
                  <a:srgbClr val="1A202C"/>
                </a:solidFill>
                <a:latin typeface="Meiryo" pitchFamily="34" charset="0"/>
                <a:ea typeface="Meiryo" pitchFamily="34" charset="-122"/>
                <a:cs typeface="Meiryo" pitchFamily="34" charset="-120"/>
              </a:rPr>
              <a:t>❌ 原則として「著作権なし」！</a:t>
            </a:r>
            <a:endParaRPr lang="en-US" sz="1700" dirty="0"/>
          </a:p>
          <a:p>
            <a:pPr algn="ctr" indent="0" marL="0">
              <a:buNone/>
            </a:pPr>
            <a:endParaRPr lang="en-US" sz="1700" dirty="0"/>
          </a:p>
          <a:p>
            <a:pPr algn="ctr" indent="0" marL="0">
              <a:buNone/>
            </a:pPr>
            <a:r>
              <a:rPr lang="en-US" sz="1700" dirty="0">
                <a:solidFill>
                  <a:srgbClr val="1A202C"/>
                </a:solidFill>
                <a:latin typeface="Meiryo" pitchFamily="34" charset="0"/>
                <a:ea typeface="Meiryo" pitchFamily="34" charset="-122"/>
                <a:cs typeface="Meiryo" pitchFamily="34" charset="-120"/>
              </a:rPr>
              <a:t>著作権は「人間が創作したもの」にしか</a:t>
            </a:r>
            <a:endParaRPr lang="en-US" sz="1700" dirty="0"/>
          </a:p>
          <a:p>
            <a:pPr algn="ctr" indent="0" marL="0">
              <a:buNone/>
            </a:pPr>
            <a:r>
              <a:rPr lang="en-US" sz="1700" dirty="0">
                <a:solidFill>
                  <a:srgbClr val="1A202C"/>
                </a:solidFill>
                <a:latin typeface="Meiryo" pitchFamily="34" charset="0"/>
                <a:ea typeface="Meiryo" pitchFamily="34" charset="-122"/>
                <a:cs typeface="Meiryo" pitchFamily="34" charset="-120"/>
              </a:rPr>
              <a:t>発生しないルールだから！</a:t>
            </a:r>
            <a:endParaRPr lang="en-US" sz="1700" dirty="0"/>
          </a:p>
        </p:txBody>
      </p:sp>
      <p:sp>
        <p:nvSpPr>
          <p:cNvPr id="10" name="Shape 8"/>
          <p:cNvSpPr/>
          <p:nvPr/>
        </p:nvSpPr>
        <p:spPr>
          <a:xfrm>
            <a:off x="4754880" y="2286000"/>
            <a:ext cx="3657600" cy="2011680"/>
          </a:xfrm>
          <a:prstGeom prst="roundRect">
            <a:avLst/>
          </a:prstGeom>
          <a:solidFill>
            <a:srgbClr val="EBF8FF"/>
          </a:solidFill>
          <a:ln w="31750">
            <a:solidFill>
              <a:srgbClr val="1A73E8"/>
            </a:solidFill>
            <a:prstDash val="solid"/>
          </a:ln>
        </p:spPr>
      </p:sp>
      <p:sp>
        <p:nvSpPr>
          <p:cNvPr id="11" name="Text 9"/>
          <p:cNvSpPr/>
          <p:nvPr/>
        </p:nvSpPr>
        <p:spPr>
          <a:xfrm>
            <a:off x="4937760" y="2560320"/>
            <a:ext cx="3291840" cy="457200"/>
          </a:xfrm>
          <a:prstGeom prst="rect">
            <a:avLst/>
          </a:prstGeom>
          <a:noFill/>
          <a:ln/>
        </p:spPr>
        <p:txBody>
          <a:bodyPr wrap="square" rtlCol="0" anchor="ctr"/>
          <a:lstStyle/>
          <a:p>
            <a:pPr algn="ctr" indent="0" marL="0">
              <a:buNone/>
            </a:pPr>
            <a:r>
              <a:rPr lang="en-US" sz="2200" b="1" dirty="0">
                <a:solidFill>
                  <a:srgbClr val="1A73E8"/>
                </a:solidFill>
                <a:latin typeface="Meiryo" pitchFamily="34" charset="0"/>
                <a:ea typeface="Meiryo" pitchFamily="34" charset="-122"/>
                <a:cs typeface="Meiryo" pitchFamily="34" charset="-120"/>
              </a:rPr>
              <a:t>✍️ 人の創作的工夫</a:t>
            </a:r>
            <a:endParaRPr lang="en-US" sz="2200" dirty="0"/>
          </a:p>
        </p:txBody>
      </p:sp>
      <p:sp>
        <p:nvSpPr>
          <p:cNvPr id="12" name="Text 10"/>
          <p:cNvSpPr/>
          <p:nvPr/>
        </p:nvSpPr>
        <p:spPr>
          <a:xfrm>
            <a:off x="4937760" y="3108960"/>
            <a:ext cx="3291840" cy="1005840"/>
          </a:xfrm>
          <a:prstGeom prst="rect">
            <a:avLst/>
          </a:prstGeom>
          <a:noFill/>
          <a:ln/>
        </p:spPr>
        <p:txBody>
          <a:bodyPr wrap="square" rtlCol="0" anchor="ctr"/>
          <a:lstStyle/>
          <a:p>
            <a:pPr algn="ctr" indent="0" marL="0">
              <a:buNone/>
            </a:pPr>
            <a:r>
              <a:rPr lang="en-US" sz="1700" dirty="0">
                <a:solidFill>
                  <a:srgbClr val="1A202C"/>
                </a:solidFill>
                <a:latin typeface="Meiryo" pitchFamily="34" charset="0"/>
                <a:ea typeface="Meiryo" pitchFamily="34" charset="-122"/>
                <a:cs typeface="Meiryo" pitchFamily="34" charset="-120"/>
              </a:rPr>
              <a:t>⭕ 著作権が生まれる可能性！</a:t>
            </a:r>
            <a:endParaRPr lang="en-US" sz="1700" dirty="0"/>
          </a:p>
          <a:p>
            <a:pPr algn="ctr" indent="0" marL="0">
              <a:buNone/>
            </a:pPr>
            <a:endParaRPr lang="en-US" sz="1700" dirty="0"/>
          </a:p>
          <a:p>
            <a:pPr algn="ctr" indent="0" marL="0">
              <a:buNone/>
            </a:pPr>
            <a:r>
              <a:rPr lang="en-US" sz="1700" dirty="0">
                <a:solidFill>
                  <a:srgbClr val="1A202C"/>
                </a:solidFill>
                <a:latin typeface="Meiryo" pitchFamily="34" charset="0"/>
                <a:ea typeface="Meiryo" pitchFamily="34" charset="-122"/>
                <a:cs typeface="Meiryo" pitchFamily="34" charset="-120"/>
              </a:rPr>
              <a:t>プロンプトの工夫、構図指定、</a:t>
            </a:r>
            <a:endParaRPr lang="en-US" sz="1700" dirty="0"/>
          </a:p>
          <a:p>
            <a:pPr algn="ctr" indent="0" marL="0">
              <a:buNone/>
            </a:pPr>
            <a:r>
              <a:rPr lang="en-US" sz="1700" dirty="0">
                <a:solidFill>
                  <a:srgbClr val="1A202C"/>
                </a:solidFill>
                <a:latin typeface="Meiryo" pitchFamily="34" charset="0"/>
                <a:ea typeface="Meiryo" pitchFamily="34" charset="-122"/>
                <a:cs typeface="Meiryo" pitchFamily="34" charset="-120"/>
              </a:rPr>
              <a:t>加筆・レタッチ、編集合成！</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709160"/>
            <a:ext cx="5486400" cy="320040"/>
          </a:xfrm>
          <a:prstGeom prst="rect">
            <a:avLst/>
          </a:prstGeom>
          <a:noFill/>
          <a:ln/>
        </p:spPr>
        <p:txBody>
          <a:bodyPr wrap="square" rtlCol="0" anchor="ctr"/>
          <a:lstStyle/>
          <a:p>
            <a:pPr indent="0" marL="0">
              <a:buNone/>
            </a:pPr>
            <a:r>
              <a:rPr lang="en-US" sz="1200" dirty="0">
                <a:solidFill>
                  <a:srgbClr val="718096"/>
                </a:solidFill>
                <a:latin typeface="Meiryo" pitchFamily="34" charset="0"/>
                <a:ea typeface="Meiryo" pitchFamily="34" charset="-122"/>
                <a:cs typeface="Meiryo" pitchFamily="34" charset="-120"/>
              </a:rPr>
              <a:t>第4部 AI生成物ならではの法律問題</a:t>
            </a:r>
            <a:endParaRPr lang="en-US" sz="1200" dirty="0"/>
          </a:p>
        </p:txBody>
      </p:sp>
      <p:sp>
        <p:nvSpPr>
          <p:cNvPr id="3" name="Text 1"/>
          <p:cNvSpPr/>
          <p:nvPr/>
        </p:nvSpPr>
        <p:spPr>
          <a:xfrm>
            <a:off x="7315200" y="4709160"/>
            <a:ext cx="1097280" cy="320040"/>
          </a:xfrm>
          <a:prstGeom prst="rect">
            <a:avLst/>
          </a:prstGeom>
          <a:noFill/>
          <a:ln/>
        </p:spPr>
        <p:txBody>
          <a:bodyPr wrap="square" rtlCol="0" anchor="ctr"/>
          <a:lstStyle/>
          <a:p>
            <a:pPr algn="r" indent="0" marL="0">
              <a:buNone/>
            </a:pPr>
            <a:r>
              <a:rPr lang="en-US" sz="1200" dirty="0">
                <a:solidFill>
                  <a:srgbClr val="718096"/>
                </a:solidFill>
                <a:latin typeface="Meiryo" pitchFamily="34" charset="0"/>
                <a:ea typeface="Meiryo" pitchFamily="34" charset="-122"/>
                <a:cs typeface="Meiryo" pitchFamily="34" charset="-120"/>
              </a:rPr>
              <a:t>23 / 30</a:t>
            </a:r>
            <a:endParaRPr lang="en-US" sz="1200" dirty="0"/>
          </a:p>
        </p:txBody>
      </p:sp>
      <p:sp>
        <p:nvSpPr>
          <p:cNvPr id="4" name="Text 2"/>
          <p:cNvSpPr/>
          <p:nvPr/>
        </p:nvSpPr>
        <p:spPr>
          <a:xfrm>
            <a:off x="731520" y="457200"/>
            <a:ext cx="7680960" cy="548640"/>
          </a:xfrm>
          <a:prstGeom prst="rect">
            <a:avLst/>
          </a:prstGeom>
          <a:noFill/>
          <a:ln/>
        </p:spPr>
        <p:txBody>
          <a:bodyPr wrap="square" rtlCol="0" anchor="ctr"/>
          <a:lstStyle/>
          <a:p>
            <a:pPr indent="0" marL="0">
              <a:buNone/>
            </a:pPr>
            <a:r>
              <a:rPr lang="en-US" sz="2600" b="1" dirty="0">
                <a:solidFill>
                  <a:srgbClr val="1A202C"/>
                </a:solidFill>
                <a:latin typeface="Meiryo" pitchFamily="34" charset="0"/>
                <a:ea typeface="Meiryo" pitchFamily="34" charset="-122"/>
                <a:cs typeface="Meiryo" pitchFamily="34" charset="-120"/>
              </a:rPr>
              <a:t>著作権のルール ― 人の創作的関与と契約条項</a:t>
            </a:r>
            <a:endParaRPr lang="en-US" sz="2600" dirty="0"/>
          </a:p>
        </p:txBody>
      </p:sp>
      <p:sp>
        <p:nvSpPr>
          <p:cNvPr id="5" name="Shape 3"/>
          <p:cNvSpPr/>
          <p:nvPr/>
        </p:nvSpPr>
        <p:spPr>
          <a:xfrm>
            <a:off x="731520" y="1188720"/>
            <a:ext cx="3657600" cy="3108960"/>
          </a:xfrm>
          <a:prstGeom prst="roundRect">
            <a:avLst/>
          </a:prstGeom>
          <a:solidFill>
            <a:srgbClr val="EBF8FF"/>
          </a:solidFill>
          <a:ln w="31750">
            <a:solidFill>
              <a:srgbClr val="1A73E8"/>
            </a:solidFill>
            <a:prstDash val="solid"/>
          </a:ln>
        </p:spPr>
      </p:sp>
      <p:sp>
        <p:nvSpPr>
          <p:cNvPr id="6" name="Text 4"/>
          <p:cNvSpPr/>
          <p:nvPr/>
        </p:nvSpPr>
        <p:spPr>
          <a:xfrm>
            <a:off x="914400" y="1463040"/>
            <a:ext cx="3291840" cy="457200"/>
          </a:xfrm>
          <a:prstGeom prst="rect">
            <a:avLst/>
          </a:prstGeom>
          <a:noFill/>
          <a:ln/>
        </p:spPr>
        <p:txBody>
          <a:bodyPr wrap="square" rtlCol="0" anchor="ctr"/>
          <a:lstStyle/>
          <a:p>
            <a:pPr algn="ctr" indent="0" marL="0">
              <a:buNone/>
            </a:pPr>
            <a:r>
              <a:rPr lang="en-US" sz="2400" b="1" dirty="0">
                <a:solidFill>
                  <a:srgbClr val="1A73E8"/>
                </a:solidFill>
                <a:latin typeface="Meiryo" pitchFamily="34" charset="0"/>
                <a:ea typeface="Meiryo" pitchFamily="34" charset="-122"/>
                <a:cs typeface="Meiryo" pitchFamily="34" charset="-120"/>
              </a:rPr>
              <a:t>🎨 人の創作的関与</a:t>
            </a:r>
            <a:endParaRPr lang="en-US" sz="2400" dirty="0"/>
          </a:p>
        </p:txBody>
      </p:sp>
      <p:sp>
        <p:nvSpPr>
          <p:cNvPr id="7" name="Text 5"/>
          <p:cNvSpPr/>
          <p:nvPr/>
        </p:nvSpPr>
        <p:spPr>
          <a:xfrm>
            <a:off x="1005840" y="2011680"/>
            <a:ext cx="3108960" cy="2103120"/>
          </a:xfrm>
          <a:prstGeom prst="rect">
            <a:avLst/>
          </a:prstGeom>
          <a:noFill/>
          <a:ln/>
        </p:spPr>
        <p:txBody>
          <a:bodyPr wrap="square" rtlCol="0" anchor="ctr"/>
          <a:lstStyle/>
          <a:p>
            <a:pPr indent="0" marL="0">
              <a:buNone/>
            </a:pPr>
            <a:r>
              <a:rPr lang="en-US" sz="1700" dirty="0">
                <a:solidFill>
                  <a:srgbClr val="1A202C"/>
                </a:solidFill>
                <a:latin typeface="Meiryo" pitchFamily="34" charset="0"/>
                <a:ea typeface="Meiryo" pitchFamily="34" charset="-122"/>
                <a:cs typeface="Meiryo" pitchFamily="34" charset="-120"/>
              </a:rPr>
              <a:t>・詳細なプロンプトの工夫</a:t>
            </a:r>
            <a:endParaRPr lang="en-US" sz="1700" dirty="0"/>
          </a:p>
          <a:p>
            <a:pPr indent="0" marL="0">
              <a:buNone/>
            </a:pPr>
            <a:r>
              <a:rPr lang="en-US" sz="1700" dirty="0">
                <a:solidFill>
                  <a:srgbClr val="1A202C"/>
                </a:solidFill>
                <a:latin typeface="Meiryo" pitchFamily="34" charset="0"/>
                <a:ea typeface="Meiryo" pitchFamily="34" charset="-122"/>
                <a:cs typeface="Meiryo" pitchFamily="34" charset="-120"/>
              </a:rPr>
              <a:t>・多数の生成物からの厳選</a:t>
            </a:r>
            <a:endParaRPr lang="en-US" sz="1700" dirty="0"/>
          </a:p>
          <a:p>
            <a:pPr indent="0" marL="0">
              <a:buNone/>
            </a:pPr>
            <a:r>
              <a:rPr lang="en-US" sz="1700" dirty="0">
                <a:solidFill>
                  <a:srgbClr val="1A202C"/>
                </a:solidFill>
                <a:latin typeface="Meiryo" pitchFamily="34" charset="0"/>
                <a:ea typeface="Meiryo" pitchFamily="34" charset="-122"/>
                <a:cs typeface="Meiryo" pitchFamily="34" charset="-120"/>
              </a:rPr>
              <a:t>・加筆・レタッチ（修正作業）</a:t>
            </a:r>
            <a:endParaRPr lang="en-US" sz="1700" dirty="0"/>
          </a:p>
          <a:p>
            <a:pPr indent="0" marL="0">
              <a:buNone/>
            </a:pPr>
            <a:r>
              <a:rPr lang="en-US" sz="1700" dirty="0">
                <a:solidFill>
                  <a:srgbClr val="1A202C"/>
                </a:solidFill>
                <a:latin typeface="Meiryo" pitchFamily="34" charset="0"/>
                <a:ea typeface="Meiryo" pitchFamily="34" charset="-122"/>
                <a:cs typeface="Meiryo" pitchFamily="34" charset="-120"/>
              </a:rPr>
              <a:t>・動画のカット割り・音楽同期</a:t>
            </a:r>
            <a:endParaRPr lang="en-US" sz="1700" dirty="0"/>
          </a:p>
          <a:p>
            <a:pPr indent="0" marL="0">
              <a:buNone/>
            </a:pPr>
            <a:endParaRPr lang="en-US" sz="1700" dirty="0"/>
          </a:p>
          <a:p>
            <a:pPr indent="0" marL="0">
              <a:buNone/>
            </a:pPr>
            <a:r>
              <a:rPr lang="en-US" sz="1700" dirty="0">
                <a:solidFill>
                  <a:srgbClr val="1A202C"/>
                </a:solidFill>
                <a:latin typeface="Meiryo" pitchFamily="34" charset="0"/>
                <a:ea typeface="Meiryo" pitchFamily="34" charset="-122"/>
                <a:cs typeface="Meiryo" pitchFamily="34" charset="-120"/>
              </a:rPr>
              <a:t>👉 あなたの「工夫」が加わることで</a:t>
            </a:r>
            <a:endParaRPr lang="en-US" sz="1700" dirty="0"/>
          </a:p>
          <a:p>
            <a:pPr indent="0" marL="0">
              <a:buNone/>
            </a:pPr>
            <a:r>
              <a:rPr lang="en-US" sz="1700" dirty="0">
                <a:solidFill>
                  <a:srgbClr val="1A202C"/>
                </a:solidFill>
                <a:latin typeface="Meiryo" pitchFamily="34" charset="0"/>
                <a:ea typeface="Meiryo" pitchFamily="34" charset="-122"/>
                <a:cs typeface="Meiryo" pitchFamily="34" charset="-120"/>
              </a:rPr>
              <a:t>　作品に著作権が宿ります！</a:t>
            </a:r>
            <a:endParaRPr lang="en-US" sz="1700" dirty="0"/>
          </a:p>
        </p:txBody>
      </p:sp>
      <p:sp>
        <p:nvSpPr>
          <p:cNvPr id="8" name="Shape 6"/>
          <p:cNvSpPr/>
          <p:nvPr/>
        </p:nvSpPr>
        <p:spPr>
          <a:xfrm>
            <a:off x="4754880" y="1188720"/>
            <a:ext cx="3657600" cy="3108960"/>
          </a:xfrm>
          <a:prstGeom prst="roundRect">
            <a:avLst/>
          </a:prstGeom>
          <a:solidFill>
            <a:srgbClr val="F8FAFC"/>
          </a:solidFill>
          <a:ln w="25400">
            <a:solidFill>
              <a:srgbClr val="E2E8F0"/>
            </a:solidFill>
            <a:prstDash val="solid"/>
          </a:ln>
        </p:spPr>
      </p:sp>
      <p:sp>
        <p:nvSpPr>
          <p:cNvPr id="9" name="Text 7"/>
          <p:cNvSpPr/>
          <p:nvPr/>
        </p:nvSpPr>
        <p:spPr>
          <a:xfrm>
            <a:off x="4937760" y="1463040"/>
            <a:ext cx="3291840" cy="457200"/>
          </a:xfrm>
          <a:prstGeom prst="rect">
            <a:avLst/>
          </a:prstGeom>
          <a:noFill/>
          <a:ln/>
        </p:spPr>
        <p:txBody>
          <a:bodyPr wrap="square" rtlCol="0" anchor="ctr"/>
          <a:lstStyle/>
          <a:p>
            <a:pPr algn="ctr" indent="0" marL="0">
              <a:buNone/>
            </a:pPr>
            <a:r>
              <a:rPr lang="en-US" sz="2400" b="1" dirty="0">
                <a:solidFill>
                  <a:srgbClr val="1A202C"/>
                </a:solidFill>
                <a:latin typeface="Meiryo" pitchFamily="34" charset="0"/>
                <a:ea typeface="Meiryo" pitchFamily="34" charset="-122"/>
                <a:cs typeface="Meiryo" pitchFamily="34" charset="-120"/>
              </a:rPr>
              <a:t>📜 契約書の「権利条項」</a:t>
            </a:r>
            <a:endParaRPr lang="en-US" sz="2400" dirty="0"/>
          </a:p>
        </p:txBody>
      </p:sp>
      <p:sp>
        <p:nvSpPr>
          <p:cNvPr id="10" name="Text 8"/>
          <p:cNvSpPr/>
          <p:nvPr/>
        </p:nvSpPr>
        <p:spPr>
          <a:xfrm>
            <a:off x="5029200" y="2011680"/>
            <a:ext cx="3108960" cy="2103120"/>
          </a:xfrm>
          <a:prstGeom prst="rect">
            <a:avLst/>
          </a:prstGeom>
          <a:noFill/>
          <a:ln/>
        </p:spPr>
        <p:txBody>
          <a:bodyPr wrap="square" rtlCol="0" anchor="ctr"/>
          <a:lstStyle/>
          <a:p>
            <a:pPr indent="0" marL="0">
              <a:buNone/>
            </a:pPr>
            <a:r>
              <a:rPr lang="en-US" sz="1700" dirty="0">
                <a:solidFill>
                  <a:srgbClr val="1A202C"/>
                </a:solidFill>
                <a:latin typeface="Meiryo" pitchFamily="34" charset="0"/>
                <a:ea typeface="Meiryo" pitchFamily="34" charset="-122"/>
                <a:cs typeface="Meiryo" pitchFamily="34" charset="-120"/>
              </a:rPr>
              <a:t>・AI生成物の法律はまだ過渡期</a:t>
            </a:r>
            <a:endParaRPr lang="en-US" sz="1700" dirty="0"/>
          </a:p>
          <a:p>
            <a:pPr indent="0" marL="0">
              <a:buNone/>
            </a:pPr>
            <a:endParaRPr lang="en-US" sz="1700" dirty="0"/>
          </a:p>
          <a:p>
            <a:pPr indent="0" marL="0">
              <a:buNone/>
            </a:pPr>
            <a:r>
              <a:rPr lang="en-US" sz="1700" dirty="0">
                <a:solidFill>
                  <a:srgbClr val="1A202C"/>
                </a:solidFill>
                <a:latin typeface="Meiryo" pitchFamily="34" charset="0"/>
                <a:ea typeface="Meiryo" pitchFamily="34" charset="-122"/>
                <a:cs typeface="Meiryo" pitchFamily="34" charset="-120"/>
              </a:rPr>
              <a:t>・「納品した作品の権利はどちらに帰属するか」を契約で決めておく！</a:t>
            </a:r>
            <a:endParaRPr lang="en-US" sz="1700" dirty="0"/>
          </a:p>
          <a:p>
            <a:pPr indent="0" marL="0">
              <a:buNone/>
            </a:pPr>
            <a:endParaRPr lang="en-US" sz="1700" dirty="0"/>
          </a:p>
          <a:p>
            <a:pPr indent="0" marL="0">
              <a:buNone/>
            </a:pPr>
            <a:r>
              <a:rPr lang="en-US" sz="1700" dirty="0">
                <a:solidFill>
                  <a:srgbClr val="1A202C"/>
                </a:solidFill>
                <a:latin typeface="Meiryo" pitchFamily="34" charset="0"/>
                <a:ea typeface="Meiryo" pitchFamily="34" charset="-122"/>
                <a:cs typeface="Meiryo" pitchFamily="34" charset="-120"/>
              </a:rPr>
              <a:t>👉 事前に決めておくことで、</a:t>
            </a:r>
            <a:endParaRPr lang="en-US" sz="1700" dirty="0"/>
          </a:p>
          <a:p>
            <a:pPr indent="0" marL="0">
              <a:buNone/>
            </a:pPr>
            <a:r>
              <a:rPr lang="en-US" sz="1700" dirty="0">
                <a:solidFill>
                  <a:srgbClr val="1A202C"/>
                </a:solidFill>
                <a:latin typeface="Meiryo" pitchFamily="34" charset="0"/>
                <a:ea typeface="Meiryo" pitchFamily="34" charset="-122"/>
                <a:cs typeface="Meiryo" pitchFamily="34" charset="-120"/>
              </a:rPr>
              <a:t>　お互い安心して作品を使えます！</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709160"/>
            <a:ext cx="5486400" cy="320040"/>
          </a:xfrm>
          <a:prstGeom prst="rect">
            <a:avLst/>
          </a:prstGeom>
          <a:noFill/>
          <a:ln/>
        </p:spPr>
        <p:txBody>
          <a:bodyPr wrap="square" rtlCol="0" anchor="ctr"/>
          <a:lstStyle/>
          <a:p>
            <a:pPr indent="0" marL="0">
              <a:buNone/>
            </a:pPr>
            <a:r>
              <a:rPr lang="en-US" sz="1200" dirty="0">
                <a:solidFill>
                  <a:srgbClr val="718096"/>
                </a:solidFill>
                <a:latin typeface="Meiryo" pitchFamily="34" charset="0"/>
                <a:ea typeface="Meiryo" pitchFamily="34" charset="-122"/>
                <a:cs typeface="Meiryo" pitchFamily="34" charset="-120"/>
              </a:rPr>
              <a:t>第4部 AI生成物ならではの法律問題</a:t>
            </a:r>
            <a:endParaRPr lang="en-US" sz="1200" dirty="0"/>
          </a:p>
        </p:txBody>
      </p:sp>
      <p:sp>
        <p:nvSpPr>
          <p:cNvPr id="3" name="Text 1"/>
          <p:cNvSpPr/>
          <p:nvPr/>
        </p:nvSpPr>
        <p:spPr>
          <a:xfrm>
            <a:off x="7315200" y="4709160"/>
            <a:ext cx="1097280" cy="320040"/>
          </a:xfrm>
          <a:prstGeom prst="rect">
            <a:avLst/>
          </a:prstGeom>
          <a:noFill/>
          <a:ln/>
        </p:spPr>
        <p:txBody>
          <a:bodyPr wrap="square" rtlCol="0" anchor="ctr"/>
          <a:lstStyle/>
          <a:p>
            <a:pPr algn="r" indent="0" marL="0">
              <a:buNone/>
            </a:pPr>
            <a:r>
              <a:rPr lang="en-US" sz="1200" dirty="0">
                <a:solidFill>
                  <a:srgbClr val="718096"/>
                </a:solidFill>
                <a:latin typeface="Meiryo" pitchFamily="34" charset="0"/>
                <a:ea typeface="Meiryo" pitchFamily="34" charset="-122"/>
                <a:cs typeface="Meiryo" pitchFamily="34" charset="-120"/>
              </a:rPr>
              <a:t>24 / 30</a:t>
            </a:r>
            <a:endParaRPr lang="en-US" sz="1200" dirty="0"/>
          </a:p>
        </p:txBody>
      </p:sp>
      <p:sp>
        <p:nvSpPr>
          <p:cNvPr id="4" name="Text 2"/>
          <p:cNvSpPr/>
          <p:nvPr/>
        </p:nvSpPr>
        <p:spPr>
          <a:xfrm>
            <a:off x="731520" y="457200"/>
            <a:ext cx="7680960" cy="548640"/>
          </a:xfrm>
          <a:prstGeom prst="rect">
            <a:avLst/>
          </a:prstGeom>
          <a:noFill/>
          <a:ln/>
        </p:spPr>
        <p:txBody>
          <a:bodyPr wrap="square" rtlCol="0" anchor="ctr"/>
          <a:lstStyle/>
          <a:p>
            <a:pPr indent="0" marL="0">
              <a:buNone/>
            </a:pPr>
            <a:r>
              <a:rPr lang="en-US" sz="2600" b="1" dirty="0">
                <a:solidFill>
                  <a:srgbClr val="1A202C"/>
                </a:solidFill>
                <a:latin typeface="Meiryo" pitchFamily="34" charset="0"/>
                <a:ea typeface="Meiryo" pitchFamily="34" charset="-122"/>
                <a:cs typeface="Meiryo" pitchFamily="34" charset="-120"/>
              </a:rPr>
              <a:t>他人の権利を傷つけないためのルール（4大NG）</a:t>
            </a:r>
            <a:endParaRPr lang="en-US" sz="2600" dirty="0"/>
          </a:p>
        </p:txBody>
      </p:sp>
      <p:sp>
        <p:nvSpPr>
          <p:cNvPr id="5" name="Shape 3"/>
          <p:cNvSpPr/>
          <p:nvPr/>
        </p:nvSpPr>
        <p:spPr>
          <a:xfrm>
            <a:off x="731520" y="1188720"/>
            <a:ext cx="3657600" cy="1143000"/>
          </a:xfrm>
          <a:prstGeom prst="roundRect">
            <a:avLst/>
          </a:prstGeom>
          <a:solidFill>
            <a:srgbClr val="FFF5F5"/>
          </a:solidFill>
          <a:ln w="25400">
            <a:solidFill>
              <a:srgbClr val="FEB2B2"/>
            </a:solidFill>
            <a:prstDash val="solid"/>
          </a:ln>
        </p:spPr>
      </p:sp>
      <p:sp>
        <p:nvSpPr>
          <p:cNvPr id="6" name="Text 4"/>
          <p:cNvSpPr/>
          <p:nvPr/>
        </p:nvSpPr>
        <p:spPr>
          <a:xfrm>
            <a:off x="914400" y="1325880"/>
            <a:ext cx="3291840" cy="365760"/>
          </a:xfrm>
          <a:prstGeom prst="rect">
            <a:avLst/>
          </a:prstGeom>
          <a:noFill/>
          <a:ln/>
        </p:spPr>
        <p:txBody>
          <a:bodyPr wrap="square" rtlCol="0" anchor="ctr"/>
          <a:lstStyle/>
          <a:p>
            <a:pPr indent="0" marL="0">
              <a:buNone/>
            </a:pPr>
            <a:r>
              <a:rPr lang="en-US" sz="1900" b="1" dirty="0">
                <a:solidFill>
                  <a:srgbClr val="D9383A"/>
                </a:solidFill>
                <a:latin typeface="Meiryo" pitchFamily="34" charset="0"/>
                <a:ea typeface="Meiryo" pitchFamily="34" charset="-122"/>
                <a:cs typeface="Meiryo" pitchFamily="34" charset="-120"/>
              </a:rPr>
              <a:t>❌ 有名キャラの模倣</a:t>
            </a:r>
            <a:endParaRPr lang="en-US" sz="1900" dirty="0"/>
          </a:p>
        </p:txBody>
      </p:sp>
      <p:sp>
        <p:nvSpPr>
          <p:cNvPr id="7" name="Text 5"/>
          <p:cNvSpPr/>
          <p:nvPr/>
        </p:nvSpPr>
        <p:spPr>
          <a:xfrm>
            <a:off x="914400" y="1691640"/>
            <a:ext cx="3291840" cy="548640"/>
          </a:xfrm>
          <a:prstGeom prst="rect">
            <a:avLst/>
          </a:prstGeom>
          <a:noFill/>
          <a:ln/>
        </p:spPr>
        <p:txBody>
          <a:bodyPr wrap="square" rtlCol="0" anchor="ctr"/>
          <a:lstStyle/>
          <a:p>
            <a:pPr indent="0" marL="0">
              <a:buNone/>
            </a:pPr>
            <a:r>
              <a:rPr lang="en-US" sz="1500" dirty="0">
                <a:solidFill>
                  <a:srgbClr val="1A202C"/>
                </a:solidFill>
                <a:latin typeface="Meiryo" pitchFamily="34" charset="0"/>
                <a:ea typeface="Meiryo" pitchFamily="34" charset="-122"/>
                <a:cs typeface="Meiryo" pitchFamily="34" charset="-120"/>
              </a:rPr>
              <a:t>アニメやゲームのキャラそっくりに出すのはNG（著作権侵害）</a:t>
            </a:r>
            <a:endParaRPr lang="en-US" sz="1500" dirty="0"/>
          </a:p>
        </p:txBody>
      </p:sp>
      <p:sp>
        <p:nvSpPr>
          <p:cNvPr id="8" name="Shape 6"/>
          <p:cNvSpPr/>
          <p:nvPr/>
        </p:nvSpPr>
        <p:spPr>
          <a:xfrm>
            <a:off x="4754880" y="1188720"/>
            <a:ext cx="3657600" cy="1143000"/>
          </a:xfrm>
          <a:prstGeom prst="roundRect">
            <a:avLst/>
          </a:prstGeom>
          <a:solidFill>
            <a:srgbClr val="FFF5F5"/>
          </a:solidFill>
          <a:ln w="25400">
            <a:solidFill>
              <a:srgbClr val="FEB2B2"/>
            </a:solidFill>
            <a:prstDash val="solid"/>
          </a:ln>
        </p:spPr>
      </p:sp>
      <p:sp>
        <p:nvSpPr>
          <p:cNvPr id="9" name="Text 7"/>
          <p:cNvSpPr/>
          <p:nvPr/>
        </p:nvSpPr>
        <p:spPr>
          <a:xfrm>
            <a:off x="4937760" y="1325880"/>
            <a:ext cx="3291840" cy="365760"/>
          </a:xfrm>
          <a:prstGeom prst="rect">
            <a:avLst/>
          </a:prstGeom>
          <a:noFill/>
          <a:ln/>
        </p:spPr>
        <p:txBody>
          <a:bodyPr wrap="square" rtlCol="0" anchor="ctr"/>
          <a:lstStyle/>
          <a:p>
            <a:pPr indent="0" marL="0">
              <a:buNone/>
            </a:pPr>
            <a:r>
              <a:rPr lang="en-US" sz="1900" b="1" dirty="0">
                <a:solidFill>
                  <a:srgbClr val="D9383A"/>
                </a:solidFill>
                <a:latin typeface="Meiryo" pitchFamily="34" charset="0"/>
                <a:ea typeface="Meiryo" pitchFamily="34" charset="-122"/>
                <a:cs typeface="Meiryo" pitchFamily="34" charset="-120"/>
              </a:rPr>
              <a:t>❌ 有名人の顔・肖像</a:t>
            </a:r>
            <a:endParaRPr lang="en-US" sz="1900" dirty="0"/>
          </a:p>
        </p:txBody>
      </p:sp>
      <p:sp>
        <p:nvSpPr>
          <p:cNvPr id="10" name="Text 8"/>
          <p:cNvSpPr/>
          <p:nvPr/>
        </p:nvSpPr>
        <p:spPr>
          <a:xfrm>
            <a:off x="4937760" y="1691640"/>
            <a:ext cx="3291840" cy="548640"/>
          </a:xfrm>
          <a:prstGeom prst="rect">
            <a:avLst/>
          </a:prstGeom>
          <a:noFill/>
          <a:ln/>
        </p:spPr>
        <p:txBody>
          <a:bodyPr wrap="square" rtlCol="0" anchor="ctr"/>
          <a:lstStyle/>
          <a:p>
            <a:pPr indent="0" marL="0">
              <a:buNone/>
            </a:pPr>
            <a:r>
              <a:rPr lang="en-US" sz="1500" dirty="0">
                <a:solidFill>
                  <a:srgbClr val="1A202C"/>
                </a:solidFill>
                <a:latin typeface="Meiryo" pitchFamily="34" charset="0"/>
                <a:ea typeface="Meiryo" pitchFamily="34" charset="-122"/>
                <a:cs typeface="Meiryo" pitchFamily="34" charset="-120"/>
              </a:rPr>
              <a:t>芸能人やアイドルの顔を勝手にAIで作るのはNG（肖像権侵害）</a:t>
            </a:r>
            <a:endParaRPr lang="en-US" sz="1500" dirty="0"/>
          </a:p>
        </p:txBody>
      </p:sp>
      <p:sp>
        <p:nvSpPr>
          <p:cNvPr id="11" name="Shape 9"/>
          <p:cNvSpPr/>
          <p:nvPr/>
        </p:nvSpPr>
        <p:spPr>
          <a:xfrm>
            <a:off x="731520" y="2468880"/>
            <a:ext cx="3657600" cy="1143000"/>
          </a:xfrm>
          <a:prstGeom prst="roundRect">
            <a:avLst/>
          </a:prstGeom>
          <a:solidFill>
            <a:srgbClr val="FFF5F5"/>
          </a:solidFill>
          <a:ln w="25400">
            <a:solidFill>
              <a:srgbClr val="FEB2B2"/>
            </a:solidFill>
            <a:prstDash val="solid"/>
          </a:ln>
        </p:spPr>
      </p:sp>
      <p:sp>
        <p:nvSpPr>
          <p:cNvPr id="12" name="Text 10"/>
          <p:cNvSpPr/>
          <p:nvPr/>
        </p:nvSpPr>
        <p:spPr>
          <a:xfrm>
            <a:off x="914400" y="2606040"/>
            <a:ext cx="3291840" cy="365760"/>
          </a:xfrm>
          <a:prstGeom prst="rect">
            <a:avLst/>
          </a:prstGeom>
          <a:noFill/>
          <a:ln/>
        </p:spPr>
        <p:txBody>
          <a:bodyPr wrap="square" rtlCol="0" anchor="ctr"/>
          <a:lstStyle/>
          <a:p>
            <a:pPr indent="0" marL="0">
              <a:buNone/>
            </a:pPr>
            <a:r>
              <a:rPr lang="en-US" sz="1900" b="1" dirty="0">
                <a:solidFill>
                  <a:srgbClr val="D9383A"/>
                </a:solidFill>
                <a:latin typeface="Meiryo" pitchFamily="34" charset="0"/>
                <a:ea typeface="Meiryo" pitchFamily="34" charset="-122"/>
                <a:cs typeface="Meiryo" pitchFamily="34" charset="-120"/>
              </a:rPr>
              <a:t>❌ 特定作家の画風丸パクリ</a:t>
            </a:r>
            <a:endParaRPr lang="en-US" sz="1900" dirty="0"/>
          </a:p>
        </p:txBody>
      </p:sp>
      <p:sp>
        <p:nvSpPr>
          <p:cNvPr id="13" name="Text 11"/>
          <p:cNvSpPr/>
          <p:nvPr/>
        </p:nvSpPr>
        <p:spPr>
          <a:xfrm>
            <a:off x="914400" y="2971800"/>
            <a:ext cx="3291840" cy="548640"/>
          </a:xfrm>
          <a:prstGeom prst="rect">
            <a:avLst/>
          </a:prstGeom>
          <a:noFill/>
          <a:ln/>
        </p:spPr>
        <p:txBody>
          <a:bodyPr wrap="square" rtlCol="0" anchor="ctr"/>
          <a:lstStyle/>
          <a:p>
            <a:pPr indent="0" marL="0">
              <a:buNone/>
            </a:pPr>
            <a:r>
              <a:rPr lang="en-US" sz="1500" dirty="0">
                <a:solidFill>
                  <a:srgbClr val="1A202C"/>
                </a:solidFill>
                <a:latin typeface="Meiryo" pitchFamily="34" charset="0"/>
                <a:ea typeface="Meiryo" pitchFamily="34" charset="-122"/>
                <a:cs typeface="Meiryo" pitchFamily="34" charset="-120"/>
              </a:rPr>
              <a:t>特定クリエイターの作風をそっくり模倣するのはトラブルの元</a:t>
            </a:r>
            <a:endParaRPr lang="en-US" sz="1500" dirty="0"/>
          </a:p>
        </p:txBody>
      </p:sp>
      <p:sp>
        <p:nvSpPr>
          <p:cNvPr id="14" name="Shape 12"/>
          <p:cNvSpPr/>
          <p:nvPr/>
        </p:nvSpPr>
        <p:spPr>
          <a:xfrm>
            <a:off x="4754880" y="2468880"/>
            <a:ext cx="3657600" cy="1143000"/>
          </a:xfrm>
          <a:prstGeom prst="roundRect">
            <a:avLst/>
          </a:prstGeom>
          <a:solidFill>
            <a:srgbClr val="FFF5F5"/>
          </a:solidFill>
          <a:ln w="25400">
            <a:solidFill>
              <a:srgbClr val="FEB2B2"/>
            </a:solidFill>
            <a:prstDash val="solid"/>
          </a:ln>
        </p:spPr>
      </p:sp>
      <p:sp>
        <p:nvSpPr>
          <p:cNvPr id="15" name="Text 13"/>
          <p:cNvSpPr/>
          <p:nvPr/>
        </p:nvSpPr>
        <p:spPr>
          <a:xfrm>
            <a:off x="4937760" y="2606040"/>
            <a:ext cx="3291840" cy="365760"/>
          </a:xfrm>
          <a:prstGeom prst="rect">
            <a:avLst/>
          </a:prstGeom>
          <a:noFill/>
          <a:ln/>
        </p:spPr>
        <p:txBody>
          <a:bodyPr wrap="square" rtlCol="0" anchor="ctr"/>
          <a:lstStyle/>
          <a:p>
            <a:pPr indent="0" marL="0">
              <a:buNone/>
            </a:pPr>
            <a:r>
              <a:rPr lang="en-US" sz="1900" b="1" dirty="0">
                <a:solidFill>
                  <a:srgbClr val="D9383A"/>
                </a:solidFill>
                <a:latin typeface="Meiryo" pitchFamily="34" charset="0"/>
                <a:ea typeface="Meiryo" pitchFamily="34" charset="-122"/>
                <a:cs typeface="Meiryo" pitchFamily="34" charset="-120"/>
              </a:rPr>
              <a:t>❌ 仲間や職員の写真利用</a:t>
            </a:r>
            <a:endParaRPr lang="en-US" sz="1900" dirty="0"/>
          </a:p>
        </p:txBody>
      </p:sp>
      <p:sp>
        <p:nvSpPr>
          <p:cNvPr id="16" name="Text 14"/>
          <p:cNvSpPr/>
          <p:nvPr/>
        </p:nvSpPr>
        <p:spPr>
          <a:xfrm>
            <a:off x="4937760" y="2971800"/>
            <a:ext cx="3291840" cy="548640"/>
          </a:xfrm>
          <a:prstGeom prst="rect">
            <a:avLst/>
          </a:prstGeom>
          <a:noFill/>
          <a:ln/>
        </p:spPr>
        <p:txBody>
          <a:bodyPr wrap="square" rtlCol="0" anchor="ctr"/>
          <a:lstStyle/>
          <a:p>
            <a:pPr indent="0" marL="0">
              <a:buNone/>
            </a:pPr>
            <a:r>
              <a:rPr lang="en-US" sz="1500" dirty="0">
                <a:solidFill>
                  <a:srgbClr val="1A202C"/>
                </a:solidFill>
                <a:latin typeface="Meiryo" pitchFamily="34" charset="0"/>
                <a:ea typeface="Meiryo" pitchFamily="34" charset="-122"/>
                <a:cs typeface="Meiryo" pitchFamily="34" charset="-120"/>
              </a:rPr>
              <a:t>事業所の仲間や支援員の写真を勝手にAIに読み込ませてはダメ！</a:t>
            </a:r>
            <a:endParaRPr lang="en-US" sz="1500" dirty="0"/>
          </a:p>
        </p:txBody>
      </p:sp>
      <p:sp>
        <p:nvSpPr>
          <p:cNvPr id="17" name="Shape 15"/>
          <p:cNvSpPr/>
          <p:nvPr/>
        </p:nvSpPr>
        <p:spPr>
          <a:xfrm>
            <a:off x="731520" y="3840480"/>
            <a:ext cx="7680960" cy="640080"/>
          </a:xfrm>
          <a:prstGeom prst="roundRect">
            <a:avLst/>
          </a:prstGeom>
          <a:solidFill>
            <a:srgbClr val="EBF8FF"/>
          </a:solidFill>
          <a:ln w="19050">
            <a:solidFill>
              <a:srgbClr val="1A73E8"/>
            </a:solidFill>
            <a:prstDash val="solid"/>
          </a:ln>
        </p:spPr>
      </p:sp>
      <p:sp>
        <p:nvSpPr>
          <p:cNvPr id="18" name="Text 16"/>
          <p:cNvSpPr/>
          <p:nvPr/>
        </p:nvSpPr>
        <p:spPr>
          <a:xfrm>
            <a:off x="914400" y="3977640"/>
            <a:ext cx="7315200" cy="411480"/>
          </a:xfrm>
          <a:prstGeom prst="rect">
            <a:avLst/>
          </a:prstGeom>
          <a:noFill/>
          <a:ln/>
        </p:spPr>
        <p:txBody>
          <a:bodyPr wrap="square" rtlCol="0" anchor="ctr"/>
          <a:lstStyle/>
          <a:p>
            <a:pPr algn="ctr" indent="0" marL="0">
              <a:buNone/>
            </a:pPr>
            <a:r>
              <a:rPr lang="en-US" sz="1700" b="1" dirty="0">
                <a:solidFill>
                  <a:srgbClr val="1A73E8"/>
                </a:solidFill>
                <a:latin typeface="Meiryo" pitchFamily="34" charset="0"/>
                <a:ea typeface="Meiryo" pitchFamily="34" charset="-122"/>
                <a:cs typeface="Meiryo" pitchFamily="34" charset="-120"/>
              </a:rPr>
              <a:t>💡 他者の権利をリスペクトすることが、結果として自分の作品を守る道です！</a:t>
            </a:r>
            <a:endParaRPr lang="en-US" sz="1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709160"/>
            <a:ext cx="5486400" cy="320040"/>
          </a:xfrm>
          <a:prstGeom prst="rect">
            <a:avLst/>
          </a:prstGeom>
          <a:noFill/>
          <a:ln/>
        </p:spPr>
        <p:txBody>
          <a:bodyPr wrap="square" rtlCol="0" anchor="ctr"/>
          <a:lstStyle/>
          <a:p>
            <a:pPr indent="0" marL="0">
              <a:buNone/>
            </a:pPr>
            <a:r>
              <a:rPr lang="en-US" sz="1200" dirty="0">
                <a:solidFill>
                  <a:srgbClr val="718096"/>
                </a:solidFill>
                <a:latin typeface="Meiryo" pitchFamily="34" charset="0"/>
                <a:ea typeface="Meiryo" pitchFamily="34" charset="-122"/>
                <a:cs typeface="Meiryo" pitchFamily="34" charset="-120"/>
              </a:rPr>
              <a:t>第4部 AI生成物ならではの法律問題</a:t>
            </a:r>
            <a:endParaRPr lang="en-US" sz="1200" dirty="0"/>
          </a:p>
        </p:txBody>
      </p:sp>
      <p:sp>
        <p:nvSpPr>
          <p:cNvPr id="3" name="Text 1"/>
          <p:cNvSpPr/>
          <p:nvPr/>
        </p:nvSpPr>
        <p:spPr>
          <a:xfrm>
            <a:off x="7315200" y="4709160"/>
            <a:ext cx="1097280" cy="320040"/>
          </a:xfrm>
          <a:prstGeom prst="rect">
            <a:avLst/>
          </a:prstGeom>
          <a:noFill/>
          <a:ln/>
        </p:spPr>
        <p:txBody>
          <a:bodyPr wrap="square" rtlCol="0" anchor="ctr"/>
          <a:lstStyle/>
          <a:p>
            <a:pPr algn="r" indent="0" marL="0">
              <a:buNone/>
            </a:pPr>
            <a:r>
              <a:rPr lang="en-US" sz="1200" dirty="0">
                <a:solidFill>
                  <a:srgbClr val="718096"/>
                </a:solidFill>
                <a:latin typeface="Meiryo" pitchFamily="34" charset="0"/>
                <a:ea typeface="Meiryo" pitchFamily="34" charset="-122"/>
                <a:cs typeface="Meiryo" pitchFamily="34" charset="-120"/>
              </a:rPr>
              <a:t>25 / 30</a:t>
            </a:r>
            <a:endParaRPr lang="en-US" sz="1200" dirty="0"/>
          </a:p>
        </p:txBody>
      </p:sp>
      <p:sp>
        <p:nvSpPr>
          <p:cNvPr id="4" name="Text 2"/>
          <p:cNvSpPr/>
          <p:nvPr/>
        </p:nvSpPr>
        <p:spPr>
          <a:xfrm>
            <a:off x="731520" y="457200"/>
            <a:ext cx="7680960" cy="548640"/>
          </a:xfrm>
          <a:prstGeom prst="rect">
            <a:avLst/>
          </a:prstGeom>
          <a:noFill/>
          <a:ln/>
        </p:spPr>
        <p:txBody>
          <a:bodyPr wrap="square" rtlCol="0" anchor="ctr"/>
          <a:lstStyle/>
          <a:p>
            <a:pPr indent="0" marL="0">
              <a:buNone/>
            </a:pPr>
            <a:r>
              <a:rPr lang="en-US" sz="2600" b="1" dirty="0">
                <a:solidFill>
                  <a:srgbClr val="1A202C"/>
                </a:solidFill>
                <a:latin typeface="Meiryo" pitchFamily="34" charset="0"/>
                <a:ea typeface="Meiryo" pitchFamily="34" charset="-122"/>
                <a:cs typeface="Meiryo" pitchFamily="34" charset="-120"/>
              </a:rPr>
              <a:t>責任は誰にある？ ― 一人で背負わずチームで確認！</a:t>
            </a:r>
            <a:endParaRPr lang="en-US" sz="2600" dirty="0"/>
          </a:p>
        </p:txBody>
      </p:sp>
      <p:sp>
        <p:nvSpPr>
          <p:cNvPr id="5" name="Shape 3"/>
          <p:cNvSpPr/>
          <p:nvPr/>
        </p:nvSpPr>
        <p:spPr>
          <a:xfrm>
            <a:off x="731520" y="1188720"/>
            <a:ext cx="3657600" cy="3108960"/>
          </a:xfrm>
          <a:prstGeom prst="roundRect">
            <a:avLst/>
          </a:prstGeom>
          <a:solidFill>
            <a:srgbClr val="FFF5F5"/>
          </a:solidFill>
          <a:ln w="31750">
            <a:solidFill>
              <a:srgbClr val="D9383A"/>
            </a:solidFill>
            <a:prstDash val="solid"/>
          </a:ln>
        </p:spPr>
      </p:sp>
      <p:sp>
        <p:nvSpPr>
          <p:cNvPr id="6" name="Text 4"/>
          <p:cNvSpPr/>
          <p:nvPr/>
        </p:nvSpPr>
        <p:spPr>
          <a:xfrm>
            <a:off x="914400" y="1463040"/>
            <a:ext cx="3291840" cy="457200"/>
          </a:xfrm>
          <a:prstGeom prst="rect">
            <a:avLst/>
          </a:prstGeom>
          <a:noFill/>
          <a:ln/>
        </p:spPr>
        <p:txBody>
          <a:bodyPr wrap="square" rtlCol="0" anchor="ctr"/>
          <a:lstStyle/>
          <a:p>
            <a:pPr algn="ctr" indent="0" marL="0">
              <a:buNone/>
            </a:pPr>
            <a:r>
              <a:rPr lang="en-US" sz="2400" b="1" dirty="0">
                <a:solidFill>
                  <a:srgbClr val="D9383A"/>
                </a:solidFill>
                <a:latin typeface="Meiryo" pitchFamily="34" charset="0"/>
                <a:ea typeface="Meiryo" pitchFamily="34" charset="-122"/>
                <a:cs typeface="Meiryo" pitchFamily="34" charset="-120"/>
              </a:rPr>
              <a:t>⚠️ 責任の所在</a:t>
            </a:r>
            <a:endParaRPr lang="en-US" sz="2400" dirty="0"/>
          </a:p>
        </p:txBody>
      </p:sp>
      <p:sp>
        <p:nvSpPr>
          <p:cNvPr id="7" name="Text 5"/>
          <p:cNvSpPr/>
          <p:nvPr/>
        </p:nvSpPr>
        <p:spPr>
          <a:xfrm>
            <a:off x="1005840" y="2103120"/>
            <a:ext cx="3108960" cy="1828800"/>
          </a:xfrm>
          <a:prstGeom prst="rect">
            <a:avLst/>
          </a:prstGeom>
          <a:noFill/>
          <a:ln/>
        </p:spPr>
        <p:txBody>
          <a:bodyPr wrap="square" rtlCol="0" anchor="ctr"/>
          <a:lstStyle/>
          <a:p>
            <a:pPr algn="ctr" indent="0" marL="0">
              <a:buNone/>
            </a:pPr>
            <a:r>
              <a:rPr lang="en-US" sz="1800" dirty="0">
                <a:solidFill>
                  <a:srgbClr val="1A202C"/>
                </a:solidFill>
                <a:latin typeface="Meiryo" pitchFamily="34" charset="0"/>
                <a:ea typeface="Meiryo" pitchFamily="34" charset="-122"/>
                <a:cs typeface="Meiryo" pitchFamily="34" charset="-120"/>
              </a:rPr>
              <a:t>使った人・納品した人</a:t>
            </a:r>
            <a:endParaRPr lang="en-US" sz="1800" dirty="0"/>
          </a:p>
          <a:p>
            <a:pPr algn="ctr" indent="0" marL="0">
              <a:buNone/>
            </a:pPr>
            <a:endParaRPr lang="en-US" sz="1800" dirty="0"/>
          </a:p>
          <a:p>
            <a:pPr algn="ctr" indent="0" marL="0">
              <a:buNone/>
            </a:pPr>
            <a:r>
              <a:rPr lang="en-US" sz="1800" dirty="0">
                <a:solidFill>
                  <a:srgbClr val="1A202C"/>
                </a:solidFill>
                <a:latin typeface="Meiryo" pitchFamily="34" charset="0"/>
                <a:ea typeface="Meiryo" pitchFamily="34" charset="-122"/>
                <a:cs typeface="Meiryo" pitchFamily="34" charset="-120"/>
              </a:rPr>
              <a:t>・「AIが勝手に出した」は通用しない</a:t>
            </a:r>
            <a:endParaRPr lang="en-US" sz="1800" dirty="0"/>
          </a:p>
          <a:p>
            <a:pPr algn="ctr" indent="0" marL="0">
              <a:buNone/>
            </a:pPr>
            <a:r>
              <a:rPr lang="en-US" sz="1800" dirty="0">
                <a:solidFill>
                  <a:srgbClr val="1A202C"/>
                </a:solidFill>
                <a:latin typeface="Meiryo" pitchFamily="34" charset="0"/>
                <a:ea typeface="Meiryo" pitchFamily="34" charset="-122"/>
                <a:cs typeface="Meiryo" pitchFamily="34" charset="-120"/>
              </a:rPr>
              <a:t>・他人の権利を侵した責任は人間が負う</a:t>
            </a:r>
            <a:endParaRPr lang="en-US" sz="1800" dirty="0"/>
          </a:p>
          <a:p>
            <a:pPr algn="ctr" indent="0" marL="0">
              <a:buNone/>
            </a:pPr>
            <a:endParaRPr lang="en-US" sz="1800" dirty="0"/>
          </a:p>
          <a:p>
            <a:pPr algn="ctr" indent="0" marL="0">
              <a:buNone/>
            </a:pPr>
            <a:r>
              <a:rPr lang="en-US" sz="1800" dirty="0">
                <a:solidFill>
                  <a:srgbClr val="1A202C"/>
                </a:solidFill>
                <a:latin typeface="Meiryo" pitchFamily="34" charset="0"/>
                <a:ea typeface="Meiryo" pitchFamily="34" charset="-122"/>
                <a:cs typeface="Meiryo" pitchFamily="34" charset="-120"/>
              </a:rPr>
              <a:t>👉 だからこそ確認が大切！</a:t>
            </a:r>
            <a:endParaRPr lang="en-US" sz="1800" dirty="0"/>
          </a:p>
        </p:txBody>
      </p:sp>
      <p:sp>
        <p:nvSpPr>
          <p:cNvPr id="8" name="Shape 6"/>
          <p:cNvSpPr/>
          <p:nvPr/>
        </p:nvSpPr>
        <p:spPr>
          <a:xfrm>
            <a:off x="4754880" y="1188720"/>
            <a:ext cx="3657600" cy="3108960"/>
          </a:xfrm>
          <a:prstGeom prst="roundRect">
            <a:avLst/>
          </a:prstGeom>
          <a:solidFill>
            <a:srgbClr val="EBF8FF"/>
          </a:solidFill>
          <a:ln w="31750">
            <a:solidFill>
              <a:srgbClr val="1A73E8"/>
            </a:solidFill>
            <a:prstDash val="solid"/>
          </a:ln>
        </p:spPr>
      </p:sp>
      <p:sp>
        <p:nvSpPr>
          <p:cNvPr id="9" name="Text 7"/>
          <p:cNvSpPr/>
          <p:nvPr/>
        </p:nvSpPr>
        <p:spPr>
          <a:xfrm>
            <a:off x="4937760" y="1463040"/>
            <a:ext cx="3291840" cy="457200"/>
          </a:xfrm>
          <a:prstGeom prst="rect">
            <a:avLst/>
          </a:prstGeom>
          <a:noFill/>
          <a:ln/>
        </p:spPr>
        <p:txBody>
          <a:bodyPr wrap="square" rtlCol="0" anchor="ctr"/>
          <a:lstStyle/>
          <a:p>
            <a:pPr algn="ctr" indent="0" marL="0">
              <a:buNone/>
            </a:pPr>
            <a:r>
              <a:rPr lang="en-US" sz="2400" b="1" dirty="0">
                <a:solidFill>
                  <a:srgbClr val="1A73E8"/>
                </a:solidFill>
                <a:latin typeface="Meiryo" pitchFamily="34" charset="0"/>
                <a:ea typeface="Meiryo" pitchFamily="34" charset="-122"/>
                <a:cs typeface="Meiryo" pitchFamily="34" charset="-120"/>
              </a:rPr>
              <a:t>🤝 チームで確認！</a:t>
            </a:r>
            <a:endParaRPr lang="en-US" sz="2400" dirty="0"/>
          </a:p>
        </p:txBody>
      </p:sp>
      <p:sp>
        <p:nvSpPr>
          <p:cNvPr id="10" name="Text 8"/>
          <p:cNvSpPr/>
          <p:nvPr/>
        </p:nvSpPr>
        <p:spPr>
          <a:xfrm>
            <a:off x="5029200" y="2103120"/>
            <a:ext cx="3108960" cy="1828800"/>
          </a:xfrm>
          <a:prstGeom prst="rect">
            <a:avLst/>
          </a:prstGeom>
          <a:noFill/>
          <a:ln/>
        </p:spPr>
        <p:txBody>
          <a:bodyPr wrap="square" rtlCol="0" anchor="ctr"/>
          <a:lstStyle/>
          <a:p>
            <a:pPr algn="ctr" indent="0" marL="0">
              <a:buNone/>
            </a:pPr>
            <a:r>
              <a:rPr lang="en-US" sz="1800" dirty="0">
                <a:solidFill>
                  <a:srgbClr val="1A202C"/>
                </a:solidFill>
                <a:latin typeface="Meiryo" pitchFamily="34" charset="0"/>
                <a:ea typeface="Meiryo" pitchFamily="34" charset="-122"/>
                <a:cs typeface="Meiryo" pitchFamily="34" charset="-120"/>
              </a:rPr>
              <a:t>一人で抱え込まなくてOK！</a:t>
            </a:r>
            <a:endParaRPr lang="en-US" sz="1800" dirty="0"/>
          </a:p>
          <a:p>
            <a:pPr algn="ctr" indent="0" marL="0">
              <a:buNone/>
            </a:pPr>
            <a:endParaRPr lang="en-US" sz="1800" dirty="0"/>
          </a:p>
          <a:p>
            <a:pPr algn="ctr" indent="0" marL="0">
              <a:buNone/>
            </a:pPr>
            <a:r>
              <a:rPr lang="en-US" sz="1800" dirty="0">
                <a:solidFill>
                  <a:srgbClr val="1A202C"/>
                </a:solidFill>
                <a:latin typeface="Meiryo" pitchFamily="34" charset="0"/>
                <a:ea typeface="Meiryo" pitchFamily="34" charset="-122"/>
                <a:cs typeface="Meiryo" pitchFamily="34" charset="-120"/>
              </a:rPr>
              <a:t>・「これ似てないかな？」と相談する</a:t>
            </a:r>
            <a:endParaRPr lang="en-US" sz="1800" dirty="0"/>
          </a:p>
          <a:p>
            <a:pPr algn="ctr" indent="0" marL="0">
              <a:buNone/>
            </a:pPr>
            <a:r>
              <a:rPr lang="en-US" sz="1800" dirty="0">
                <a:solidFill>
                  <a:srgbClr val="1A202C"/>
                </a:solidFill>
                <a:latin typeface="Meiryo" pitchFamily="34" charset="0"/>
                <a:ea typeface="Meiryo" pitchFamily="34" charset="-122"/>
                <a:cs typeface="Meiryo" pitchFamily="34" charset="-120"/>
              </a:rPr>
              <a:t>・納品前のダブルチェック！</a:t>
            </a:r>
            <a:endParaRPr lang="en-US" sz="1800" dirty="0"/>
          </a:p>
          <a:p>
            <a:pPr algn="ctr" indent="0" marL="0">
              <a:buNone/>
            </a:pPr>
            <a:endParaRPr lang="en-US" sz="1800" dirty="0"/>
          </a:p>
          <a:p>
            <a:pPr algn="ctr" indent="0" marL="0">
              <a:buNone/>
            </a:pPr>
            <a:r>
              <a:rPr lang="en-US" sz="1800" dirty="0">
                <a:solidFill>
                  <a:srgbClr val="1A202C"/>
                </a:solidFill>
                <a:latin typeface="Meiryo" pitchFamily="34" charset="0"/>
                <a:ea typeface="Meiryo" pitchFamily="34" charset="-122"/>
                <a:cs typeface="Meiryo" pitchFamily="34" charset="-120"/>
              </a:rPr>
              <a:t>★「相談すること自体が、</a:t>
            </a:r>
            <a:endParaRPr lang="en-US" sz="1800" dirty="0"/>
          </a:p>
          <a:p>
            <a:pPr algn="ctr" indent="0" marL="0">
              <a:buNone/>
            </a:pPr>
            <a:r>
              <a:rPr lang="en-US" sz="1800" dirty="0">
                <a:solidFill>
                  <a:srgbClr val="1A202C"/>
                </a:solidFill>
                <a:latin typeface="Meiryo" pitchFamily="34" charset="0"/>
                <a:ea typeface="Meiryo" pitchFamily="34" charset="-122"/>
                <a:cs typeface="Meiryo" pitchFamily="34" charset="-120"/>
              </a:rPr>
              <a:t>　プロの最大のスキル」です！</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709160"/>
            <a:ext cx="5486400" cy="320040"/>
          </a:xfrm>
          <a:prstGeom prst="rect">
            <a:avLst/>
          </a:prstGeom>
          <a:noFill/>
          <a:ln/>
        </p:spPr>
        <p:txBody>
          <a:bodyPr wrap="square" rtlCol="0" anchor="ctr"/>
          <a:lstStyle/>
          <a:p>
            <a:pPr indent="0" marL="0">
              <a:buNone/>
            </a:pPr>
            <a:r>
              <a:rPr lang="en-US" sz="1200" dirty="0">
                <a:solidFill>
                  <a:srgbClr val="718096"/>
                </a:solidFill>
                <a:latin typeface="Meiryo" pitchFamily="34" charset="0"/>
                <a:ea typeface="Meiryo" pitchFamily="34" charset="-122"/>
                <a:cs typeface="Meiryo" pitchFamily="34" charset="-120"/>
              </a:rPr>
              <a:t>まとめ</a:t>
            </a:r>
            <a:endParaRPr lang="en-US" sz="1200" dirty="0"/>
          </a:p>
        </p:txBody>
      </p:sp>
      <p:sp>
        <p:nvSpPr>
          <p:cNvPr id="3" name="Text 1"/>
          <p:cNvSpPr/>
          <p:nvPr/>
        </p:nvSpPr>
        <p:spPr>
          <a:xfrm>
            <a:off x="7315200" y="4709160"/>
            <a:ext cx="1097280" cy="320040"/>
          </a:xfrm>
          <a:prstGeom prst="rect">
            <a:avLst/>
          </a:prstGeom>
          <a:noFill/>
          <a:ln/>
        </p:spPr>
        <p:txBody>
          <a:bodyPr wrap="square" rtlCol="0" anchor="ctr"/>
          <a:lstStyle/>
          <a:p>
            <a:pPr algn="r" indent="0" marL="0">
              <a:buNone/>
            </a:pPr>
            <a:r>
              <a:rPr lang="en-US" sz="1200" dirty="0">
                <a:solidFill>
                  <a:srgbClr val="718096"/>
                </a:solidFill>
                <a:latin typeface="Meiryo" pitchFamily="34" charset="0"/>
                <a:ea typeface="Meiryo" pitchFamily="34" charset="-122"/>
                <a:cs typeface="Meiryo" pitchFamily="34" charset="-120"/>
              </a:rPr>
              <a:t>26 / 30</a:t>
            </a:r>
            <a:endParaRPr lang="en-US" sz="1200" dirty="0"/>
          </a:p>
        </p:txBody>
      </p:sp>
      <p:sp>
        <p:nvSpPr>
          <p:cNvPr id="4" name="Text 2"/>
          <p:cNvSpPr/>
          <p:nvPr/>
        </p:nvSpPr>
        <p:spPr>
          <a:xfrm>
            <a:off x="731520" y="457200"/>
            <a:ext cx="7680960" cy="548640"/>
          </a:xfrm>
          <a:prstGeom prst="rect">
            <a:avLst/>
          </a:prstGeom>
          <a:noFill/>
          <a:ln/>
        </p:spPr>
        <p:txBody>
          <a:bodyPr wrap="square" rtlCol="0" anchor="ctr"/>
          <a:lstStyle/>
          <a:p>
            <a:pPr indent="0" marL="0">
              <a:buNone/>
            </a:pPr>
            <a:r>
              <a:rPr lang="en-US" sz="2600" b="1" dirty="0">
                <a:solidFill>
                  <a:srgbClr val="1A202C"/>
                </a:solidFill>
                <a:latin typeface="Meiryo" pitchFamily="34" charset="0"/>
                <a:ea typeface="Meiryo" pitchFamily="34" charset="-122"/>
                <a:cs typeface="Meiryo" pitchFamily="34" charset="-120"/>
              </a:rPr>
              <a:t>まとめ① 今日の話は「知っておくと安心」の話</a:t>
            </a:r>
            <a:endParaRPr lang="en-US" sz="2600" dirty="0"/>
          </a:p>
        </p:txBody>
      </p:sp>
      <p:sp>
        <p:nvSpPr>
          <p:cNvPr id="5" name="Shape 3"/>
          <p:cNvSpPr/>
          <p:nvPr/>
        </p:nvSpPr>
        <p:spPr>
          <a:xfrm>
            <a:off x="731520" y="1188720"/>
            <a:ext cx="7680960" cy="3200400"/>
          </a:xfrm>
          <a:prstGeom prst="roundRect">
            <a:avLst/>
          </a:prstGeom>
          <a:solidFill>
            <a:srgbClr val="EBF8FF"/>
          </a:solidFill>
          <a:ln w="31750">
            <a:solidFill>
              <a:srgbClr val="1A73E8"/>
            </a:solidFill>
            <a:prstDash val="solid"/>
          </a:ln>
        </p:spPr>
      </p:sp>
      <p:sp>
        <p:nvSpPr>
          <p:cNvPr id="6" name="Text 4"/>
          <p:cNvSpPr/>
          <p:nvPr/>
        </p:nvSpPr>
        <p:spPr>
          <a:xfrm>
            <a:off x="914400" y="1371600"/>
            <a:ext cx="7315200" cy="640080"/>
          </a:xfrm>
          <a:prstGeom prst="rect">
            <a:avLst/>
          </a:prstGeom>
          <a:noFill/>
          <a:ln/>
        </p:spPr>
        <p:txBody>
          <a:bodyPr wrap="square" rtlCol="0" anchor="ctr"/>
          <a:lstStyle/>
          <a:p>
            <a:pPr algn="ctr" indent="0" marL="0">
              <a:buNone/>
            </a:pPr>
            <a:r>
              <a:rPr lang="en-US" sz="4800" dirty="0">
                <a:solidFill>
                  <a:srgbClr val="000000"/>
                </a:solidFill>
              </a:rPr>
              <a:t>🛡️</a:t>
            </a:r>
            <a:endParaRPr lang="en-US" sz="4800" dirty="0"/>
          </a:p>
        </p:txBody>
      </p:sp>
      <p:sp>
        <p:nvSpPr>
          <p:cNvPr id="7" name="Text 5"/>
          <p:cNvSpPr/>
          <p:nvPr/>
        </p:nvSpPr>
        <p:spPr>
          <a:xfrm>
            <a:off x="914400" y="2103120"/>
            <a:ext cx="7315200" cy="457200"/>
          </a:xfrm>
          <a:prstGeom prst="rect">
            <a:avLst/>
          </a:prstGeom>
          <a:noFill/>
          <a:ln/>
        </p:spPr>
        <p:txBody>
          <a:bodyPr wrap="square" rtlCol="0" anchor="ctr"/>
          <a:lstStyle/>
          <a:p>
            <a:pPr algn="ctr" indent="0" marL="0">
              <a:buNone/>
            </a:pPr>
            <a:r>
              <a:rPr lang="en-US" sz="2600" b="1" dirty="0">
                <a:solidFill>
                  <a:srgbClr val="1A73E8"/>
                </a:solidFill>
                <a:latin typeface="Meiryo" pitchFamily="34" charset="0"/>
                <a:ea typeface="Meiryo" pitchFamily="34" charset="-122"/>
                <a:cs typeface="Meiryo" pitchFamily="34" charset="-120"/>
              </a:rPr>
              <a:t>「守れ！」ではなく「自分と作品を守るための盾」</a:t>
            </a:r>
            <a:endParaRPr lang="en-US" sz="2600" dirty="0"/>
          </a:p>
        </p:txBody>
      </p:sp>
      <p:sp>
        <p:nvSpPr>
          <p:cNvPr id="8" name="Text 6"/>
          <p:cNvSpPr/>
          <p:nvPr/>
        </p:nvSpPr>
        <p:spPr>
          <a:xfrm>
            <a:off x="914400" y="2651760"/>
            <a:ext cx="7315200" cy="1554480"/>
          </a:xfrm>
          <a:prstGeom prst="rect">
            <a:avLst/>
          </a:prstGeom>
          <a:noFill/>
          <a:ln/>
        </p:spPr>
        <p:txBody>
          <a:bodyPr wrap="square" rtlCol="0" anchor="ctr"/>
          <a:lstStyle/>
          <a:p>
            <a:pPr algn="ctr" indent="0" marL="0">
              <a:buNone/>
            </a:pPr>
            <a:r>
              <a:rPr lang="en-US" sz="2000" dirty="0">
                <a:solidFill>
                  <a:srgbClr val="1A202C"/>
                </a:solidFill>
                <a:latin typeface="Meiryo" pitchFamily="34" charset="0"/>
                <a:ea typeface="Meiryo" pitchFamily="34" charset="-122"/>
                <a:cs typeface="Meiryo" pitchFamily="34" charset="-120"/>
              </a:rPr>
              <a:t>・今日の話は、禁止事項を押し付けるものではありません。</a:t>
            </a:r>
            <a:endParaRPr lang="en-US" sz="2000" dirty="0"/>
          </a:p>
          <a:p>
            <a:pPr algn="ctr" indent="0" marL="0">
              <a:buNone/>
            </a:pPr>
            <a:r>
              <a:rPr lang="en-US" sz="2000" dirty="0">
                <a:solidFill>
                  <a:srgbClr val="1A202C"/>
                </a:solidFill>
                <a:latin typeface="Meiryo" pitchFamily="34" charset="0"/>
                <a:ea typeface="Meiryo" pitchFamily="34" charset="-122"/>
                <a:cs typeface="Meiryo" pitchFamily="34" charset="-120"/>
              </a:rPr>
              <a:t>・契約を知ることは、不当に損をせず自分と作品を守る「防具」を持つこと。</a:t>
            </a:r>
            <a:endParaRPr lang="en-US" sz="2000" dirty="0"/>
          </a:p>
          <a:p>
            <a:pPr algn="ctr" indent="0" marL="0">
              <a:buNone/>
            </a:pPr>
            <a:r>
              <a:rPr lang="en-US" sz="2000" dirty="0">
                <a:solidFill>
                  <a:srgbClr val="1A202C"/>
                </a:solidFill>
                <a:latin typeface="Meiryo" pitchFamily="34" charset="0"/>
                <a:ea typeface="Meiryo" pitchFamily="34" charset="-122"/>
                <a:cs typeface="Meiryo" pitchFamily="34" charset="-120"/>
              </a:rPr>
              <a:t>・難しい法律用語を丸暗記する必要はありません。</a:t>
            </a:r>
            <a:endParaRPr lang="en-US" sz="2000" dirty="0"/>
          </a:p>
          <a:p>
            <a:pPr algn="ctr" indent="0" marL="0">
              <a:buNone/>
            </a:pPr>
            <a:r>
              <a:rPr lang="en-US" sz="2000" dirty="0">
                <a:solidFill>
                  <a:srgbClr val="1A202C"/>
                </a:solidFill>
                <a:latin typeface="Meiryo" pitchFamily="34" charset="0"/>
                <a:ea typeface="Meiryo" pitchFamily="34" charset="-122"/>
                <a:cs typeface="Meiryo" pitchFamily="34" charset="-120"/>
              </a:rPr>
              <a:t>★「ひとつでも後で思い出せれば100点満点」です！</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709160"/>
            <a:ext cx="5486400" cy="320040"/>
          </a:xfrm>
          <a:prstGeom prst="rect">
            <a:avLst/>
          </a:prstGeom>
          <a:noFill/>
          <a:ln/>
        </p:spPr>
        <p:txBody>
          <a:bodyPr wrap="square" rtlCol="0" anchor="ctr"/>
          <a:lstStyle/>
          <a:p>
            <a:pPr indent="0" marL="0">
              <a:buNone/>
            </a:pPr>
            <a:r>
              <a:rPr lang="en-US" sz="1200" dirty="0">
                <a:solidFill>
                  <a:srgbClr val="718096"/>
                </a:solidFill>
                <a:latin typeface="Meiryo" pitchFamily="34" charset="0"/>
                <a:ea typeface="Meiryo" pitchFamily="34" charset="-122"/>
                <a:cs typeface="Meiryo" pitchFamily="34" charset="-120"/>
              </a:rPr>
              <a:t>まとめ</a:t>
            </a:r>
            <a:endParaRPr lang="en-US" sz="1200" dirty="0"/>
          </a:p>
        </p:txBody>
      </p:sp>
      <p:sp>
        <p:nvSpPr>
          <p:cNvPr id="3" name="Text 1"/>
          <p:cNvSpPr/>
          <p:nvPr/>
        </p:nvSpPr>
        <p:spPr>
          <a:xfrm>
            <a:off x="7315200" y="4709160"/>
            <a:ext cx="1097280" cy="320040"/>
          </a:xfrm>
          <a:prstGeom prst="rect">
            <a:avLst/>
          </a:prstGeom>
          <a:noFill/>
          <a:ln/>
        </p:spPr>
        <p:txBody>
          <a:bodyPr wrap="square" rtlCol="0" anchor="ctr"/>
          <a:lstStyle/>
          <a:p>
            <a:pPr algn="r" indent="0" marL="0">
              <a:buNone/>
            </a:pPr>
            <a:r>
              <a:rPr lang="en-US" sz="1200" dirty="0">
                <a:solidFill>
                  <a:srgbClr val="718096"/>
                </a:solidFill>
                <a:latin typeface="Meiryo" pitchFamily="34" charset="0"/>
                <a:ea typeface="Meiryo" pitchFamily="34" charset="-122"/>
                <a:cs typeface="Meiryo" pitchFamily="34" charset="-120"/>
              </a:rPr>
              <a:t>27 / 30</a:t>
            </a:r>
            <a:endParaRPr lang="en-US" sz="1200" dirty="0"/>
          </a:p>
        </p:txBody>
      </p:sp>
      <p:sp>
        <p:nvSpPr>
          <p:cNvPr id="4" name="Text 2"/>
          <p:cNvSpPr/>
          <p:nvPr/>
        </p:nvSpPr>
        <p:spPr>
          <a:xfrm>
            <a:off x="731520" y="457200"/>
            <a:ext cx="7680960" cy="548640"/>
          </a:xfrm>
          <a:prstGeom prst="rect">
            <a:avLst/>
          </a:prstGeom>
          <a:noFill/>
          <a:ln/>
        </p:spPr>
        <p:txBody>
          <a:bodyPr wrap="square" rtlCol="0" anchor="ctr"/>
          <a:lstStyle/>
          <a:p>
            <a:pPr indent="0" marL="0">
              <a:buNone/>
            </a:pPr>
            <a:r>
              <a:rPr lang="en-US" sz="2600" b="1" dirty="0">
                <a:solidFill>
                  <a:srgbClr val="1A202C"/>
                </a:solidFill>
                <a:latin typeface="Meiryo" pitchFamily="34" charset="0"/>
                <a:ea typeface="Meiryo" pitchFamily="34" charset="-122"/>
                <a:cs typeface="Meiryo" pitchFamily="34" charset="-120"/>
              </a:rPr>
              <a:t>まとめ② 皆さんは、すでに契約の世界で仕事をしている！</a:t>
            </a:r>
            <a:endParaRPr lang="en-US" sz="2600" dirty="0"/>
          </a:p>
        </p:txBody>
      </p:sp>
      <p:sp>
        <p:nvSpPr>
          <p:cNvPr id="5" name="Shape 3"/>
          <p:cNvSpPr/>
          <p:nvPr/>
        </p:nvSpPr>
        <p:spPr>
          <a:xfrm>
            <a:off x="731520" y="1188720"/>
            <a:ext cx="7680960" cy="3200400"/>
          </a:xfrm>
          <a:prstGeom prst="roundRect">
            <a:avLst/>
          </a:prstGeom>
          <a:solidFill>
            <a:srgbClr val="F8FAFC"/>
          </a:solidFill>
          <a:ln w="31750">
            <a:solidFill>
              <a:srgbClr val="1A73E8"/>
            </a:solidFill>
            <a:prstDash val="solid"/>
          </a:ln>
        </p:spPr>
      </p:sp>
      <p:sp>
        <p:nvSpPr>
          <p:cNvPr id="6" name="Text 4"/>
          <p:cNvSpPr/>
          <p:nvPr/>
        </p:nvSpPr>
        <p:spPr>
          <a:xfrm>
            <a:off x="914400" y="1371600"/>
            <a:ext cx="7315200" cy="640080"/>
          </a:xfrm>
          <a:prstGeom prst="rect">
            <a:avLst/>
          </a:prstGeom>
          <a:noFill/>
          <a:ln/>
        </p:spPr>
        <p:txBody>
          <a:bodyPr wrap="square" rtlCol="0" anchor="ctr"/>
          <a:lstStyle/>
          <a:p>
            <a:pPr algn="ctr" indent="0" marL="0">
              <a:buNone/>
            </a:pPr>
            <a:r>
              <a:rPr lang="en-US" sz="4800" dirty="0">
                <a:solidFill>
                  <a:srgbClr val="000000"/>
                </a:solidFill>
              </a:rPr>
              <a:t>💼</a:t>
            </a:r>
            <a:endParaRPr lang="en-US" sz="4800" dirty="0"/>
          </a:p>
        </p:txBody>
      </p:sp>
      <p:sp>
        <p:nvSpPr>
          <p:cNvPr id="7" name="Text 5"/>
          <p:cNvSpPr/>
          <p:nvPr/>
        </p:nvSpPr>
        <p:spPr>
          <a:xfrm>
            <a:off x="914400" y="2103120"/>
            <a:ext cx="7315200" cy="457200"/>
          </a:xfrm>
          <a:prstGeom prst="rect">
            <a:avLst/>
          </a:prstGeom>
          <a:noFill/>
          <a:ln/>
        </p:spPr>
        <p:txBody>
          <a:bodyPr wrap="square" rtlCol="0" anchor="ctr"/>
          <a:lstStyle/>
          <a:p>
            <a:pPr algn="ctr" indent="0" marL="0">
              <a:buNone/>
            </a:pPr>
            <a:r>
              <a:rPr lang="en-US" sz="2600" b="1" dirty="0">
                <a:solidFill>
                  <a:srgbClr val="1A73E8"/>
                </a:solidFill>
                <a:latin typeface="Meiryo" pitchFamily="34" charset="0"/>
                <a:ea typeface="Meiryo" pitchFamily="34" charset="-122"/>
                <a:cs typeface="Meiryo" pitchFamily="34" charset="-120"/>
              </a:rPr>
              <a:t>今の作業が、すでに「請負契約の履行」そのもの！</a:t>
            </a:r>
            <a:endParaRPr lang="en-US" sz="2600" dirty="0"/>
          </a:p>
        </p:txBody>
      </p:sp>
      <p:sp>
        <p:nvSpPr>
          <p:cNvPr id="8" name="Text 6"/>
          <p:cNvSpPr/>
          <p:nvPr/>
        </p:nvSpPr>
        <p:spPr>
          <a:xfrm>
            <a:off x="914400" y="2651760"/>
            <a:ext cx="7315200" cy="1554480"/>
          </a:xfrm>
          <a:prstGeom prst="rect">
            <a:avLst/>
          </a:prstGeom>
          <a:noFill/>
          <a:ln/>
        </p:spPr>
        <p:txBody>
          <a:bodyPr wrap="square" rtlCol="0" anchor="ctr"/>
          <a:lstStyle/>
          <a:p>
            <a:pPr algn="ctr" indent="0" marL="0">
              <a:buNone/>
            </a:pPr>
            <a:r>
              <a:rPr lang="en-US" sz="2000" dirty="0">
                <a:solidFill>
                  <a:srgbClr val="1A202C"/>
                </a:solidFill>
                <a:latin typeface="Meiryo" pitchFamily="34" charset="0"/>
                <a:ea typeface="Meiryo" pitchFamily="34" charset="-122"/>
                <a:cs typeface="Meiryo" pitchFamily="34" charset="-120"/>
              </a:rPr>
              <a:t>・AIで作った作品が誰かに届く ＝ 請負契約の立派な履行。</a:t>
            </a:r>
            <a:endParaRPr lang="en-US" sz="2000" dirty="0"/>
          </a:p>
          <a:p>
            <a:pPr algn="ctr" indent="0" marL="0">
              <a:buNone/>
            </a:pPr>
            <a:r>
              <a:rPr lang="en-US" sz="2000" dirty="0">
                <a:solidFill>
                  <a:srgbClr val="1A202C"/>
                </a:solidFill>
                <a:latin typeface="Meiryo" pitchFamily="34" charset="0"/>
                <a:ea typeface="Meiryo" pitchFamily="34" charset="-122"/>
                <a:cs typeface="Meiryo" pitchFamily="34" charset="-120"/>
              </a:rPr>
              <a:t>・「約束を受けて、形にして、納める」というビジネスの基本サイクル。</a:t>
            </a:r>
            <a:endParaRPr lang="en-US" sz="2000" dirty="0"/>
          </a:p>
          <a:p>
            <a:pPr algn="ctr" indent="0" marL="0">
              <a:buNone/>
            </a:pPr>
            <a:r>
              <a:rPr lang="en-US" sz="2000" dirty="0">
                <a:solidFill>
                  <a:srgbClr val="1A202C"/>
                </a:solidFill>
                <a:latin typeface="Meiryo" pitchFamily="34" charset="0"/>
                <a:ea typeface="Meiryo" pitchFamily="34" charset="-122"/>
                <a:cs typeface="Meiryo" pitchFamily="34" charset="-120"/>
              </a:rPr>
              <a:t>・皆さんは一般就労のプロと同じ仕事の流れをすでに経験しています。</a:t>
            </a:r>
            <a:endParaRPr lang="en-US" sz="2000" dirty="0"/>
          </a:p>
          <a:p>
            <a:pPr algn="ctr" indent="0" marL="0">
              <a:buNone/>
            </a:pPr>
            <a:r>
              <a:rPr lang="en-US" sz="2000" dirty="0">
                <a:solidFill>
                  <a:srgbClr val="1A202C"/>
                </a:solidFill>
                <a:latin typeface="Meiryo" pitchFamily="34" charset="0"/>
                <a:ea typeface="Meiryo" pitchFamily="34" charset="-122"/>
                <a:cs typeface="Meiryo" pitchFamily="34" charset="-120"/>
              </a:rPr>
              <a:t>★ この経験は、将来の大きな強み・自信になります！</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709160"/>
            <a:ext cx="5486400" cy="320040"/>
          </a:xfrm>
          <a:prstGeom prst="rect">
            <a:avLst/>
          </a:prstGeom>
          <a:noFill/>
          <a:ln/>
        </p:spPr>
        <p:txBody>
          <a:bodyPr wrap="square" rtlCol="0" anchor="ctr"/>
          <a:lstStyle/>
          <a:p>
            <a:pPr indent="0" marL="0">
              <a:buNone/>
            </a:pPr>
            <a:r>
              <a:rPr lang="en-US" sz="1200" dirty="0">
                <a:solidFill>
                  <a:srgbClr val="718096"/>
                </a:solidFill>
                <a:latin typeface="Meiryo" pitchFamily="34" charset="0"/>
                <a:ea typeface="Meiryo" pitchFamily="34" charset="-122"/>
                <a:cs typeface="Meiryo" pitchFamily="34" charset="-120"/>
              </a:rPr>
              <a:t>まとめ</a:t>
            </a:r>
            <a:endParaRPr lang="en-US" sz="1200" dirty="0"/>
          </a:p>
        </p:txBody>
      </p:sp>
      <p:sp>
        <p:nvSpPr>
          <p:cNvPr id="3" name="Text 1"/>
          <p:cNvSpPr/>
          <p:nvPr/>
        </p:nvSpPr>
        <p:spPr>
          <a:xfrm>
            <a:off x="7315200" y="4709160"/>
            <a:ext cx="1097280" cy="320040"/>
          </a:xfrm>
          <a:prstGeom prst="rect">
            <a:avLst/>
          </a:prstGeom>
          <a:noFill/>
          <a:ln/>
        </p:spPr>
        <p:txBody>
          <a:bodyPr wrap="square" rtlCol="0" anchor="ctr"/>
          <a:lstStyle/>
          <a:p>
            <a:pPr algn="r" indent="0" marL="0">
              <a:buNone/>
            </a:pPr>
            <a:r>
              <a:rPr lang="en-US" sz="1200" dirty="0">
                <a:solidFill>
                  <a:srgbClr val="718096"/>
                </a:solidFill>
                <a:latin typeface="Meiryo" pitchFamily="34" charset="0"/>
                <a:ea typeface="Meiryo" pitchFamily="34" charset="-122"/>
                <a:cs typeface="Meiryo" pitchFamily="34" charset="-120"/>
              </a:rPr>
              <a:t>28 / 30</a:t>
            </a:r>
            <a:endParaRPr lang="en-US" sz="1200" dirty="0"/>
          </a:p>
        </p:txBody>
      </p:sp>
      <p:sp>
        <p:nvSpPr>
          <p:cNvPr id="4" name="Text 2"/>
          <p:cNvSpPr/>
          <p:nvPr/>
        </p:nvSpPr>
        <p:spPr>
          <a:xfrm>
            <a:off x="731520" y="457200"/>
            <a:ext cx="7680960" cy="548640"/>
          </a:xfrm>
          <a:prstGeom prst="rect">
            <a:avLst/>
          </a:prstGeom>
          <a:noFill/>
          <a:ln/>
        </p:spPr>
        <p:txBody>
          <a:bodyPr wrap="square" rtlCol="0" anchor="ctr"/>
          <a:lstStyle/>
          <a:p>
            <a:pPr indent="0" marL="0">
              <a:buNone/>
            </a:pPr>
            <a:r>
              <a:rPr lang="en-US" sz="2600" b="1" dirty="0">
                <a:solidFill>
                  <a:srgbClr val="1A202C"/>
                </a:solidFill>
                <a:latin typeface="Meiryo" pitchFamily="34" charset="0"/>
                <a:ea typeface="Meiryo" pitchFamily="34" charset="-122"/>
                <a:cs typeface="Meiryo" pitchFamily="34" charset="-120"/>
              </a:rPr>
              <a:t>まとめ③ 一般就労に進むとき、今日の話が「自分の権利」になる</a:t>
            </a:r>
            <a:endParaRPr lang="en-US" sz="2600" dirty="0"/>
          </a:p>
        </p:txBody>
      </p:sp>
      <p:sp>
        <p:nvSpPr>
          <p:cNvPr id="5" name="Shape 3"/>
          <p:cNvSpPr/>
          <p:nvPr/>
        </p:nvSpPr>
        <p:spPr>
          <a:xfrm>
            <a:off x="731520" y="1188720"/>
            <a:ext cx="7680960" cy="3200400"/>
          </a:xfrm>
          <a:prstGeom prst="roundRect">
            <a:avLst/>
          </a:prstGeom>
          <a:solidFill>
            <a:srgbClr val="EBF8FF"/>
          </a:solidFill>
          <a:ln w="31750">
            <a:solidFill>
              <a:srgbClr val="1A73E8"/>
            </a:solidFill>
            <a:prstDash val="solid"/>
          </a:ln>
        </p:spPr>
      </p:sp>
      <p:sp>
        <p:nvSpPr>
          <p:cNvPr id="6" name="Text 4"/>
          <p:cNvSpPr/>
          <p:nvPr/>
        </p:nvSpPr>
        <p:spPr>
          <a:xfrm>
            <a:off x="914400" y="1371600"/>
            <a:ext cx="7315200" cy="640080"/>
          </a:xfrm>
          <a:prstGeom prst="rect">
            <a:avLst/>
          </a:prstGeom>
          <a:noFill/>
          <a:ln/>
        </p:spPr>
        <p:txBody>
          <a:bodyPr wrap="square" rtlCol="0" anchor="ctr"/>
          <a:lstStyle/>
          <a:p>
            <a:pPr algn="ctr" indent="0" marL="0">
              <a:buNone/>
            </a:pPr>
            <a:r>
              <a:rPr lang="en-US" sz="4800" dirty="0">
                <a:solidFill>
                  <a:srgbClr val="000000"/>
                </a:solidFill>
              </a:rPr>
              <a:t>🚀</a:t>
            </a:r>
            <a:endParaRPr lang="en-US" sz="4800" dirty="0"/>
          </a:p>
        </p:txBody>
      </p:sp>
      <p:sp>
        <p:nvSpPr>
          <p:cNvPr id="7" name="Text 5"/>
          <p:cNvSpPr/>
          <p:nvPr/>
        </p:nvSpPr>
        <p:spPr>
          <a:xfrm>
            <a:off x="914400" y="2103120"/>
            <a:ext cx="7315200" cy="457200"/>
          </a:xfrm>
          <a:prstGeom prst="rect">
            <a:avLst/>
          </a:prstGeom>
          <a:noFill/>
          <a:ln/>
        </p:spPr>
        <p:txBody>
          <a:bodyPr wrap="square" rtlCol="0" anchor="ctr"/>
          <a:lstStyle/>
          <a:p>
            <a:pPr algn="ctr" indent="0" marL="0">
              <a:buNone/>
            </a:pPr>
            <a:r>
              <a:rPr lang="en-US" sz="2600" b="1" dirty="0">
                <a:solidFill>
                  <a:srgbClr val="1A73E8"/>
                </a:solidFill>
                <a:latin typeface="Meiryo" pitchFamily="34" charset="0"/>
                <a:ea typeface="Meiryo" pitchFamily="34" charset="-122"/>
                <a:cs typeface="Meiryo" pitchFamily="34" charset="-120"/>
              </a:rPr>
              <a:t>労働契約を結んだ瞬間、手厚い「権利」が手に入る！</a:t>
            </a:r>
            <a:endParaRPr lang="en-US" sz="2600" dirty="0"/>
          </a:p>
        </p:txBody>
      </p:sp>
      <p:sp>
        <p:nvSpPr>
          <p:cNvPr id="8" name="Text 6"/>
          <p:cNvSpPr/>
          <p:nvPr/>
        </p:nvSpPr>
        <p:spPr>
          <a:xfrm>
            <a:off x="914400" y="2651760"/>
            <a:ext cx="7315200" cy="1554480"/>
          </a:xfrm>
          <a:prstGeom prst="rect">
            <a:avLst/>
          </a:prstGeom>
          <a:noFill/>
          <a:ln/>
        </p:spPr>
        <p:txBody>
          <a:bodyPr wrap="square" rtlCol="0" anchor="ctr"/>
          <a:lstStyle/>
          <a:p>
            <a:pPr algn="ctr" indent="0" marL="0">
              <a:buNone/>
            </a:pPr>
            <a:r>
              <a:rPr lang="en-US" sz="2000" dirty="0">
                <a:solidFill>
                  <a:srgbClr val="1A202C"/>
                </a:solidFill>
                <a:latin typeface="Meiryo" pitchFamily="34" charset="0"/>
                <a:ea typeface="Meiryo" pitchFamily="34" charset="-122"/>
                <a:cs typeface="Meiryo" pitchFamily="34" charset="-120"/>
              </a:rPr>
              <a:t>・給料を受け取る権利、安全に配慮してもらう権利が自分のものになる！</a:t>
            </a:r>
            <a:endParaRPr lang="en-US" sz="2000" dirty="0"/>
          </a:p>
          <a:p>
            <a:pPr algn="ctr" indent="0" marL="0">
              <a:buNone/>
            </a:pPr>
            <a:r>
              <a:rPr lang="en-US" sz="2000" dirty="0">
                <a:solidFill>
                  <a:srgbClr val="1A202C"/>
                </a:solidFill>
                <a:latin typeface="Meiryo" pitchFamily="34" charset="0"/>
                <a:ea typeface="Meiryo" pitchFamily="34" charset="-122"/>
                <a:cs typeface="Meiryo" pitchFamily="34" charset="-120"/>
              </a:rPr>
              <a:t>・指示に従い集中して働く責任とともに、法律で強く守られます。</a:t>
            </a:r>
            <a:endParaRPr lang="en-US" sz="2000" dirty="0"/>
          </a:p>
          <a:p>
            <a:pPr algn="ctr" indent="0" marL="0">
              <a:buNone/>
            </a:pPr>
            <a:r>
              <a:rPr lang="en-US" sz="2000" dirty="0">
                <a:solidFill>
                  <a:srgbClr val="1A202C"/>
                </a:solidFill>
                <a:latin typeface="Meiryo" pitchFamily="34" charset="0"/>
                <a:ea typeface="Meiryo" pitchFamily="34" charset="-122"/>
                <a:cs typeface="Meiryo" pitchFamily="34" charset="-120"/>
              </a:rPr>
              <a:t>・今日の話は、「知らなかった」で困らないための最高のお守り・予習！</a:t>
            </a:r>
            <a:endParaRPr lang="en-US" sz="2000" dirty="0"/>
          </a:p>
          <a:p>
            <a:pPr algn="ctr" indent="0" marL="0">
              <a:buNone/>
            </a:pPr>
            <a:r>
              <a:rPr lang="en-US" sz="2000" dirty="0">
                <a:solidFill>
                  <a:srgbClr val="1A202C"/>
                </a:solidFill>
                <a:latin typeface="Meiryo" pitchFamily="34" charset="0"/>
                <a:ea typeface="Meiryo" pitchFamily="34" charset="-122"/>
                <a:cs typeface="Meiryo" pitchFamily="34" charset="-120"/>
              </a:rPr>
              <a:t>★ 権利を味方につけて、堂々と一般就労へ進みましょう！</a:t>
            </a:r>
            <a:endParaRPr 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709160"/>
            <a:ext cx="5486400" cy="320040"/>
          </a:xfrm>
          <a:prstGeom prst="rect">
            <a:avLst/>
          </a:prstGeom>
          <a:noFill/>
          <a:ln/>
        </p:spPr>
        <p:txBody>
          <a:bodyPr wrap="square" rtlCol="0" anchor="ctr"/>
          <a:lstStyle/>
          <a:p>
            <a:pPr indent="0" marL="0">
              <a:buNone/>
            </a:pPr>
            <a:r>
              <a:rPr lang="en-US" sz="1200" dirty="0">
                <a:solidFill>
                  <a:srgbClr val="718096"/>
                </a:solidFill>
                <a:latin typeface="Meiryo" pitchFamily="34" charset="0"/>
                <a:ea typeface="Meiryo" pitchFamily="34" charset="-122"/>
                <a:cs typeface="Meiryo" pitchFamily="34" charset="-120"/>
              </a:rPr>
              <a:t>まとめ</a:t>
            </a:r>
            <a:endParaRPr lang="en-US" sz="1200" dirty="0"/>
          </a:p>
        </p:txBody>
      </p:sp>
      <p:sp>
        <p:nvSpPr>
          <p:cNvPr id="3" name="Text 1"/>
          <p:cNvSpPr/>
          <p:nvPr/>
        </p:nvSpPr>
        <p:spPr>
          <a:xfrm>
            <a:off x="7315200" y="4709160"/>
            <a:ext cx="1097280" cy="320040"/>
          </a:xfrm>
          <a:prstGeom prst="rect">
            <a:avLst/>
          </a:prstGeom>
          <a:noFill/>
          <a:ln/>
        </p:spPr>
        <p:txBody>
          <a:bodyPr wrap="square" rtlCol="0" anchor="ctr"/>
          <a:lstStyle/>
          <a:p>
            <a:pPr algn="r" indent="0" marL="0">
              <a:buNone/>
            </a:pPr>
            <a:r>
              <a:rPr lang="en-US" sz="1200" dirty="0">
                <a:solidFill>
                  <a:srgbClr val="718096"/>
                </a:solidFill>
                <a:latin typeface="Meiryo" pitchFamily="34" charset="0"/>
                <a:ea typeface="Meiryo" pitchFamily="34" charset="-122"/>
                <a:cs typeface="Meiryo" pitchFamily="34" charset="-120"/>
              </a:rPr>
              <a:t>29 / 30</a:t>
            </a:r>
            <a:endParaRPr lang="en-US" sz="1200" dirty="0"/>
          </a:p>
        </p:txBody>
      </p:sp>
      <p:sp>
        <p:nvSpPr>
          <p:cNvPr id="4" name="Text 2"/>
          <p:cNvSpPr/>
          <p:nvPr/>
        </p:nvSpPr>
        <p:spPr>
          <a:xfrm>
            <a:off x="731520" y="457200"/>
            <a:ext cx="7680960" cy="548640"/>
          </a:xfrm>
          <a:prstGeom prst="rect">
            <a:avLst/>
          </a:prstGeom>
          <a:noFill/>
          <a:ln/>
        </p:spPr>
        <p:txBody>
          <a:bodyPr wrap="square" rtlCol="0" anchor="ctr"/>
          <a:lstStyle/>
          <a:p>
            <a:pPr indent="0" marL="0">
              <a:buNone/>
            </a:pPr>
            <a:r>
              <a:rPr lang="en-US" sz="2600" b="1" dirty="0">
                <a:solidFill>
                  <a:srgbClr val="1A202C"/>
                </a:solidFill>
                <a:latin typeface="Meiryo" pitchFamily="34" charset="0"/>
                <a:ea typeface="Meiryo" pitchFamily="34" charset="-122"/>
                <a:cs typeface="Meiryo" pitchFamily="34" charset="-120"/>
              </a:rPr>
              <a:t>まとめ④ 迷ったときは、一人で抱えず「聞く」</a:t>
            </a:r>
            <a:endParaRPr lang="en-US" sz="2600" dirty="0"/>
          </a:p>
        </p:txBody>
      </p:sp>
      <p:sp>
        <p:nvSpPr>
          <p:cNvPr id="5" name="Shape 3"/>
          <p:cNvSpPr/>
          <p:nvPr/>
        </p:nvSpPr>
        <p:spPr>
          <a:xfrm>
            <a:off x="731520" y="1188720"/>
            <a:ext cx="7680960" cy="3200400"/>
          </a:xfrm>
          <a:prstGeom prst="roundRect">
            <a:avLst/>
          </a:prstGeom>
          <a:solidFill>
            <a:srgbClr val="F8FAFC"/>
          </a:solidFill>
          <a:ln w="31750">
            <a:solidFill>
              <a:srgbClr val="1A73E8"/>
            </a:solidFill>
            <a:prstDash val="solid"/>
          </a:ln>
        </p:spPr>
      </p:sp>
      <p:sp>
        <p:nvSpPr>
          <p:cNvPr id="6" name="Text 4"/>
          <p:cNvSpPr/>
          <p:nvPr/>
        </p:nvSpPr>
        <p:spPr>
          <a:xfrm>
            <a:off x="914400" y="1371600"/>
            <a:ext cx="7315200" cy="640080"/>
          </a:xfrm>
          <a:prstGeom prst="rect">
            <a:avLst/>
          </a:prstGeom>
          <a:noFill/>
          <a:ln/>
        </p:spPr>
        <p:txBody>
          <a:bodyPr wrap="square" rtlCol="0" anchor="ctr"/>
          <a:lstStyle/>
          <a:p>
            <a:pPr algn="ctr" indent="0" marL="0">
              <a:buNone/>
            </a:pPr>
            <a:r>
              <a:rPr lang="en-US" sz="4800" dirty="0">
                <a:solidFill>
                  <a:srgbClr val="000000"/>
                </a:solidFill>
              </a:rPr>
              <a:t>🤝</a:t>
            </a:r>
            <a:endParaRPr lang="en-US" sz="4800" dirty="0"/>
          </a:p>
        </p:txBody>
      </p:sp>
      <p:sp>
        <p:nvSpPr>
          <p:cNvPr id="7" name="Text 5"/>
          <p:cNvSpPr/>
          <p:nvPr/>
        </p:nvSpPr>
        <p:spPr>
          <a:xfrm>
            <a:off x="914400" y="2103120"/>
            <a:ext cx="7315200" cy="457200"/>
          </a:xfrm>
          <a:prstGeom prst="rect">
            <a:avLst/>
          </a:prstGeom>
          <a:noFill/>
          <a:ln/>
        </p:spPr>
        <p:txBody>
          <a:bodyPr wrap="square" rtlCol="0" anchor="ctr"/>
          <a:lstStyle/>
          <a:p>
            <a:pPr algn="ctr" indent="0" marL="0">
              <a:buNone/>
            </a:pPr>
            <a:r>
              <a:rPr lang="en-US" sz="2600" b="1" dirty="0">
                <a:solidFill>
                  <a:srgbClr val="1A73E8"/>
                </a:solidFill>
                <a:latin typeface="Meiryo" pitchFamily="34" charset="0"/>
                <a:ea typeface="Meiryo" pitchFamily="34" charset="-122"/>
                <a:cs typeface="Meiryo" pitchFamily="34" charset="-120"/>
              </a:rPr>
              <a:t>「相談すること自体が、契約を守る一番確実な方法」</a:t>
            </a:r>
            <a:endParaRPr lang="en-US" sz="2600" dirty="0"/>
          </a:p>
        </p:txBody>
      </p:sp>
      <p:sp>
        <p:nvSpPr>
          <p:cNvPr id="8" name="Text 6"/>
          <p:cNvSpPr/>
          <p:nvPr/>
        </p:nvSpPr>
        <p:spPr>
          <a:xfrm>
            <a:off x="914400" y="2651760"/>
            <a:ext cx="7315200" cy="1554480"/>
          </a:xfrm>
          <a:prstGeom prst="rect">
            <a:avLst/>
          </a:prstGeom>
          <a:noFill/>
          <a:ln/>
        </p:spPr>
        <p:txBody>
          <a:bodyPr wrap="square" rtlCol="0" anchor="ctr"/>
          <a:lstStyle/>
          <a:p>
            <a:pPr algn="ctr" indent="0" marL="0">
              <a:buNone/>
            </a:pPr>
            <a:r>
              <a:rPr lang="en-US" sz="2000" dirty="0">
                <a:solidFill>
                  <a:srgbClr val="1A202C"/>
                </a:solidFill>
                <a:latin typeface="Meiryo" pitchFamily="34" charset="0"/>
                <a:ea typeface="Meiryo" pitchFamily="34" charset="-122"/>
                <a:cs typeface="Meiryo" pitchFamily="34" charset="-120"/>
              </a:rPr>
              <a:t>・納期が厳しそう、権利侵害が不安…迷ったらすぐ職員や支援員に相談！</a:t>
            </a:r>
            <a:endParaRPr lang="en-US" sz="2000" dirty="0"/>
          </a:p>
          <a:p>
            <a:pPr algn="ctr" indent="0" marL="0">
              <a:buNone/>
            </a:pPr>
            <a:r>
              <a:rPr lang="en-US" sz="2000" dirty="0">
                <a:solidFill>
                  <a:srgbClr val="1A202C"/>
                </a:solidFill>
                <a:latin typeface="Meiryo" pitchFamily="34" charset="0"/>
                <a:ea typeface="Meiryo" pitchFamily="34" charset="-122"/>
                <a:cs typeface="Meiryo" pitchFamily="34" charset="-120"/>
              </a:rPr>
              <a:t>・AIは道具、責任は人。でも「人」は一人で背負う必要はありません！</a:t>
            </a:r>
            <a:endParaRPr lang="en-US" sz="2000" dirty="0"/>
          </a:p>
          <a:p>
            <a:pPr algn="ctr" indent="0" marL="0">
              <a:buNone/>
            </a:pPr>
            <a:r>
              <a:rPr lang="en-US" sz="2000" dirty="0">
                <a:solidFill>
                  <a:srgbClr val="1A202C"/>
                </a:solidFill>
                <a:latin typeface="Meiryo" pitchFamily="34" charset="0"/>
                <a:ea typeface="Meiryo" pitchFamily="34" charset="-122"/>
                <a:cs typeface="Meiryo" pitchFamily="34" charset="-120"/>
              </a:rPr>
              <a:t>・チームで助け合うことこそが、一番確実なプロの仕事の進め方です。</a:t>
            </a:r>
            <a:endParaRPr 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709160"/>
            <a:ext cx="5486400" cy="320040"/>
          </a:xfrm>
          <a:prstGeom prst="rect">
            <a:avLst/>
          </a:prstGeom>
          <a:noFill/>
          <a:ln/>
        </p:spPr>
        <p:txBody>
          <a:bodyPr wrap="square" rtlCol="0" anchor="ctr"/>
          <a:lstStyle/>
          <a:p>
            <a:pPr indent="0" marL="0">
              <a:buNone/>
            </a:pPr>
            <a:r>
              <a:rPr lang="en-US" sz="1200" dirty="0">
                <a:solidFill>
                  <a:srgbClr val="718096"/>
                </a:solidFill>
                <a:latin typeface="Meiryo" pitchFamily="34" charset="0"/>
                <a:ea typeface="Meiryo" pitchFamily="34" charset="-122"/>
                <a:cs typeface="Meiryo" pitchFamily="34" charset="-120"/>
              </a:rPr>
              <a:t>まとめ</a:t>
            </a:r>
            <a:endParaRPr lang="en-US" sz="1200" dirty="0"/>
          </a:p>
        </p:txBody>
      </p:sp>
      <p:sp>
        <p:nvSpPr>
          <p:cNvPr id="3" name="Text 1"/>
          <p:cNvSpPr/>
          <p:nvPr/>
        </p:nvSpPr>
        <p:spPr>
          <a:xfrm>
            <a:off x="7315200" y="4709160"/>
            <a:ext cx="1097280" cy="320040"/>
          </a:xfrm>
          <a:prstGeom prst="rect">
            <a:avLst/>
          </a:prstGeom>
          <a:noFill/>
          <a:ln/>
        </p:spPr>
        <p:txBody>
          <a:bodyPr wrap="square" rtlCol="0" anchor="ctr"/>
          <a:lstStyle/>
          <a:p>
            <a:pPr algn="r" indent="0" marL="0">
              <a:buNone/>
            </a:pPr>
            <a:r>
              <a:rPr lang="en-US" sz="1200" dirty="0">
                <a:solidFill>
                  <a:srgbClr val="718096"/>
                </a:solidFill>
                <a:latin typeface="Meiryo" pitchFamily="34" charset="0"/>
                <a:ea typeface="Meiryo" pitchFamily="34" charset="-122"/>
                <a:cs typeface="Meiryo" pitchFamily="34" charset="-120"/>
              </a:rPr>
              <a:t>30 / 30</a:t>
            </a:r>
            <a:endParaRPr lang="en-US" sz="1200" dirty="0"/>
          </a:p>
        </p:txBody>
      </p:sp>
      <p:sp>
        <p:nvSpPr>
          <p:cNvPr id="4" name="Text 2"/>
          <p:cNvSpPr/>
          <p:nvPr/>
        </p:nvSpPr>
        <p:spPr>
          <a:xfrm>
            <a:off x="731520" y="365760"/>
            <a:ext cx="7680960" cy="457200"/>
          </a:xfrm>
          <a:prstGeom prst="rect">
            <a:avLst/>
          </a:prstGeom>
          <a:noFill/>
          <a:ln/>
        </p:spPr>
        <p:txBody>
          <a:bodyPr wrap="square" rtlCol="0" anchor="ctr"/>
          <a:lstStyle/>
          <a:p>
            <a:pPr indent="0" marL="0">
              <a:buNone/>
            </a:pPr>
            <a:r>
              <a:rPr lang="en-US" sz="2500" b="1" dirty="0">
                <a:solidFill>
                  <a:srgbClr val="1A202C"/>
                </a:solidFill>
                <a:latin typeface="Meiryo" pitchFamily="34" charset="0"/>
                <a:ea typeface="Meiryo" pitchFamily="34" charset="-122"/>
                <a:cs typeface="Meiryo" pitchFamily="34" charset="-120"/>
              </a:rPr>
              <a:t>まとめ⑤ 結び ― 誇りを持って未来へ！ ＆ ご質問をどうぞ</a:t>
            </a:r>
            <a:endParaRPr lang="en-US" sz="2500" dirty="0"/>
          </a:p>
        </p:txBody>
      </p:sp>
      <p:sp>
        <p:nvSpPr>
          <p:cNvPr id="5" name="Shape 3"/>
          <p:cNvSpPr/>
          <p:nvPr/>
        </p:nvSpPr>
        <p:spPr>
          <a:xfrm>
            <a:off x="731520" y="1005840"/>
            <a:ext cx="7680960" cy="2286000"/>
          </a:xfrm>
          <a:prstGeom prst="roundRect">
            <a:avLst/>
          </a:prstGeom>
          <a:solidFill>
            <a:srgbClr val="EBF8FF"/>
          </a:solidFill>
          <a:ln w="31750">
            <a:solidFill>
              <a:srgbClr val="1A73E8"/>
            </a:solidFill>
            <a:prstDash val="solid"/>
          </a:ln>
        </p:spPr>
      </p:sp>
      <p:sp>
        <p:nvSpPr>
          <p:cNvPr id="6" name="Text 4"/>
          <p:cNvSpPr/>
          <p:nvPr/>
        </p:nvSpPr>
        <p:spPr>
          <a:xfrm>
            <a:off x="914400" y="1188720"/>
            <a:ext cx="7315200" cy="457200"/>
          </a:xfrm>
          <a:prstGeom prst="rect">
            <a:avLst/>
          </a:prstGeom>
          <a:noFill/>
          <a:ln/>
        </p:spPr>
        <p:txBody>
          <a:bodyPr wrap="square" rtlCol="0" anchor="ctr"/>
          <a:lstStyle/>
          <a:p>
            <a:pPr algn="ctr" indent="0" marL="0">
              <a:buNone/>
            </a:pPr>
            <a:r>
              <a:rPr lang="en-US" sz="2400" b="1" dirty="0">
                <a:solidFill>
                  <a:srgbClr val="1A73E8"/>
                </a:solidFill>
                <a:latin typeface="Meiryo" pitchFamily="34" charset="0"/>
                <a:ea typeface="Meiryo" pitchFamily="34" charset="-122"/>
                <a:cs typeface="Meiryo" pitchFamily="34" charset="-120"/>
              </a:rPr>
              <a:t>🌈 今日のセミナーはゴールではなく、未来への「きっかけ」</a:t>
            </a:r>
            <a:endParaRPr lang="en-US" sz="2400" dirty="0"/>
          </a:p>
        </p:txBody>
      </p:sp>
      <p:sp>
        <p:nvSpPr>
          <p:cNvPr id="7" name="Text 5"/>
          <p:cNvSpPr/>
          <p:nvPr/>
        </p:nvSpPr>
        <p:spPr>
          <a:xfrm>
            <a:off x="914400" y="1737360"/>
            <a:ext cx="7315200" cy="1280160"/>
          </a:xfrm>
          <a:prstGeom prst="rect">
            <a:avLst/>
          </a:prstGeom>
          <a:noFill/>
          <a:ln/>
        </p:spPr>
        <p:txBody>
          <a:bodyPr wrap="square" rtlCol="0" anchor="ctr"/>
          <a:lstStyle/>
          <a:p>
            <a:pPr algn="ctr" indent="0" marL="0">
              <a:buNone/>
            </a:pPr>
            <a:r>
              <a:rPr lang="en-US" sz="2000" dirty="0">
                <a:solidFill>
                  <a:srgbClr val="1A202C"/>
                </a:solidFill>
                <a:latin typeface="Meiryo" pitchFamily="34" charset="0"/>
                <a:ea typeface="Meiryo" pitchFamily="34" charset="-122"/>
                <a:cs typeface="Meiryo" pitchFamily="34" charset="-120"/>
              </a:rPr>
              <a:t>・法律やルールを味方につけてAIスキルを磨けば、一般就労の道がひらける！</a:t>
            </a:r>
            <a:endParaRPr lang="en-US" sz="2000" dirty="0"/>
          </a:p>
          <a:p>
            <a:pPr algn="ctr" indent="0" marL="0">
              <a:buNone/>
            </a:pPr>
            <a:r>
              <a:rPr lang="en-US" sz="2000" dirty="0">
                <a:solidFill>
                  <a:srgbClr val="1A202C"/>
                </a:solidFill>
                <a:latin typeface="Meiryo" pitchFamily="34" charset="0"/>
                <a:ea typeface="Meiryo" pitchFamily="34" charset="-122"/>
                <a:cs typeface="Meiryo" pitchFamily="34" charset="-120"/>
              </a:rPr>
              <a:t>・皆さんの作品が、契約という約束の上で誰かの役に立っていることを誇りに思ってください！</a:t>
            </a:r>
            <a:endParaRPr lang="en-US" sz="2000" dirty="0"/>
          </a:p>
        </p:txBody>
      </p:sp>
      <p:sp>
        <p:nvSpPr>
          <p:cNvPr id="8" name="Shape 6"/>
          <p:cNvSpPr/>
          <p:nvPr/>
        </p:nvSpPr>
        <p:spPr>
          <a:xfrm>
            <a:off x="731520" y="3474720"/>
            <a:ext cx="7680960" cy="1005840"/>
          </a:xfrm>
          <a:prstGeom prst="roundRect">
            <a:avLst/>
          </a:prstGeom>
          <a:solidFill>
            <a:srgbClr val="FFFAEE"/>
          </a:solidFill>
          <a:ln w="31750">
            <a:solidFill>
              <a:srgbClr val="DD6B20"/>
            </a:solidFill>
            <a:prstDash val="solid"/>
          </a:ln>
        </p:spPr>
      </p:sp>
      <p:sp>
        <p:nvSpPr>
          <p:cNvPr id="9" name="Text 7"/>
          <p:cNvSpPr/>
          <p:nvPr/>
        </p:nvSpPr>
        <p:spPr>
          <a:xfrm>
            <a:off x="914400" y="3611880"/>
            <a:ext cx="7315200" cy="731520"/>
          </a:xfrm>
          <a:prstGeom prst="rect">
            <a:avLst/>
          </a:prstGeom>
          <a:noFill/>
          <a:ln/>
        </p:spPr>
        <p:txBody>
          <a:bodyPr wrap="square" rtlCol="0" anchor="ctr"/>
          <a:lstStyle/>
          <a:p>
            <a:pPr algn="ctr" indent="0" marL="0">
              <a:buNone/>
            </a:pPr>
            <a:r>
              <a:rPr lang="en-US" sz="2200" b="1" dirty="0">
                <a:solidFill>
                  <a:srgbClr val="DD6B20"/>
                </a:solidFill>
                <a:latin typeface="Meiryo" pitchFamily="34" charset="0"/>
                <a:ea typeface="Meiryo" pitchFamily="34" charset="-122"/>
                <a:cs typeface="Meiryo" pitchFamily="34" charset="-120"/>
              </a:rPr>
              <a:t>🌸 ご清聴ありがとうございました！</a:t>
            </a:r>
            <a:endParaRPr lang="en-US" sz="2200" dirty="0"/>
          </a:p>
          <a:p>
            <a:pPr algn="ctr" indent="0" marL="0">
              <a:buNone/>
            </a:pPr>
            <a:r>
              <a:rPr lang="en-US" sz="2200" b="1" dirty="0">
                <a:solidFill>
                  <a:srgbClr val="DD6B20"/>
                </a:solidFill>
                <a:latin typeface="Meiryo" pitchFamily="34" charset="0"/>
                <a:ea typeface="Meiryo" pitchFamily="34" charset="-122"/>
                <a:cs typeface="Meiryo" pitchFamily="34" charset="-120"/>
              </a:rPr>
              <a:t>どんな些細なことでも、お気軽にご質問・ご感想をどうぞ！</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2026-09-13T10:14:29Z</dcterms:created>
  <dcterms:modified xsi:type="dcterms:W3CDTF">2026-09-13T10:14:29Z</dcterms:modified>
</cp:coreProperties>
</file>